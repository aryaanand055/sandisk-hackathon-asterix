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Verdict</c:v>
                </c:pt>
              </c:strCache>
            </c:strRef>
          </c:tx>
          <c:spPr>
            <a:solidFill>
              <a:schemeClr val="accent1"/>
            </a:solidFill>
            <a:ln w="9525" cap="flat">
              <a:solidFill>
                <a:srgbClr val="F9F9F9"/>
              </a:solidFill>
              <a:prstDash val="solid"/>
              <a:round/>
            </a:ln>
            <a:effectLst/>
          </c:spPr>
          <c:dPt>
            <c:idx val="0"/>
            <c:bubble3D val="0"/>
            <c:spPr>
              <a:solidFill>
                <a:srgbClr val="1FB6A6"/>
              </a:solidFill>
              <a:effectLst/>
            </c:spPr>
          </c:dPt>
          <c:dPt>
            <c:idx val="1"/>
            <c:bubble3D val="0"/>
            <c:spPr>
              <a:solidFill>
                <a:srgbClr val="E5484D"/>
              </a:solidFill>
              <a:effectLst/>
            </c:spPr>
          </c:dPt>
          <c:dLbls>
            <c:dLbl>
              <c:idx val="0"/>
              <c:numFmt formatCode="0.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1"/>
              <c:numFmt formatCode="0.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numFmt formatCode="0.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Pass</c:v>
                </c:pt>
                <c:pt idx="1">
                  <c:v>Fail</c:v>
                </c:pt>
              </c:strCache>
            </c:strRef>
          </c:cat>
          <c:val>
            <c:numRef>
              <c:f>Sheet1!$B$2:$B$3</c:f>
              <c:numCache>
                <c:ptCount val="2"/>
                <c:pt idx="0">
                  <c:v>75.96</c:v>
                </c:pt>
                <c:pt idx="1">
                  <c:v>24.04</c:v>
                </c:pt>
              </c:numCache>
            </c:numRef>
          </c:val>
        </c:ser>
        <c:firstSliceAng val="0"/>
        <c:holeSize val="58"/>
      </c:doughnutChart>
      <c:spPr>
        <a:noFill/>
        <a:ln>
          <a:noFill/>
        </a:ln>
        <a:effectLst/>
      </c:spPr>
    </c:plotArea>
    <c:legend>
      <c:legendPos val="b"/>
      <c:overlay val="0"/>
      <c:txPr>
        <a:bodyPr/>
        <a:lstStyle/>
        <a:p>
          <a:pPr>
            <a:defRPr sz="1000">
              <a:solidFill>
                <a:srgbClr val="3A4757"/>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Lift</c:v>
                </c:pt>
              </c:strCache>
            </c:strRef>
          </c:tx>
          <c:spPr>
            <a:solidFill>
              <a:srgbClr val="F5A524"/>
            </a:solidFill>
            <a:effectLst/>
          </c:spPr>
          <c:invertIfNegative val="0"/>
          <c:dLbls>
            <c:numFmt formatCode="0.00&quot;×&quot;" sourceLinked="0"/>
            <c:txPr>
              <a:bodyPr/>
              <a:lstStyle/>
              <a:p>
                <a:pPr>
                  <a:defRPr b="0" i="0" strike="noStrike" sz="1000" u="none">
                    <a:solidFill>
                      <a:srgbClr val="3A4757"/>
                    </a:solidFill>
                    <a:latin typeface="Arial"/>
                  </a:defRPr>
                </a:pPr>
              </a:p>
            </c:txPr>
            <c:showLegendKey val="0"/>
            <c:showVal val="1"/>
            <c:showCatName val="0"/>
            <c:showSerName val="0"/>
            <c:showPercent val="0"/>
            <c:showBubbleSize val="0"/>
            <c:showLeaderLines val="0"/>
          </c:dLbls>
          <c:cat>
            <c:multiLvlStrRef>
              <c:f>Sheet1!$A$2:$A$8</c:f>
              <c:multiLvlStrCache>
                <c:ptCount val="7"/>
                <c:lvl>
                  <c:pt idx="0">
                    <c:v>R7</c:v>
                  </c:pt>
                  <c:pt idx="1">
                    <c:v>R4</c:v>
                  </c:pt>
                  <c:pt idx="2">
                    <c:v>R6</c:v>
                  </c:pt>
                  <c:pt idx="3">
                    <c:v>R3</c:v>
                  </c:pt>
                  <c:pt idx="4">
                    <c:v>R2</c:v>
                  </c:pt>
                  <c:pt idx="5">
                    <c:v>R1</c:v>
                  </c:pt>
                  <c:pt idx="6">
                    <c:v>R5</c:v>
                  </c:pt>
                </c:lvl>
              </c:multiLvlStrCache>
            </c:multiLvlStrRef>
          </c:cat>
          <c:val>
            <c:numRef>
              <c:f>Sheet1!$B$2:$B$8</c:f>
              <c:numCache>
                <c:formatCode>General</c:formatCode>
                <c:ptCount val="7"/>
                <c:pt idx="0">
                  <c:v>2.19</c:v>
                </c:pt>
                <c:pt idx="1">
                  <c:v>2.34</c:v>
                </c:pt>
                <c:pt idx="2">
                  <c:v>2.43</c:v>
                </c:pt>
                <c:pt idx="3">
                  <c:v>2.53</c:v>
                </c:pt>
                <c:pt idx="4">
                  <c:v>3.16</c:v>
                </c:pt>
                <c:pt idx="5">
                  <c:v>4.19</c:v>
                </c:pt>
                <c:pt idx="6">
                  <c:v>4.33</c:v>
                </c:pt>
              </c:numCache>
            </c:numRef>
          </c:val>
        </c:ser>
        <c:dLbls>
          <c:numFmt formatCode="0.00&quot;×&quot;" sourceLinked="0"/>
          <c:txPr>
            <a:bodyPr/>
            <a:lstStyle/>
            <a:p>
              <a:pPr>
                <a:defRPr b="0" i="0" strike="noStrike" sz="1000" u="none">
                  <a:solidFill>
                    <a:srgbClr val="3A4757"/>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A4757"/>
                </a:solidFill>
                <a:latin typeface="Arial"/>
              </a:defRPr>
            </a:pPr>
            <a:endParaRPr lang="en-US"/>
          </a:p>
        </c:txPr>
        <c:crossAx val="2094734552"/>
        <c:crosses val="autoZero"/>
        <c:auto val="1"/>
        <c:lblAlgn val="ctr"/>
        <c:noMultiLvlLbl val="1"/>
      </c:catAx>
      <c:valAx>
        <c:axId val="2094734552"/>
        <c:scaling>
          <c:orientation val="minMax"/>
          <c:max val="5"/>
        </c:scaling>
        <c:delete val="0"/>
        <c:axPos val="b"/>
        <c:majorGridlines>
          <c:spPr>
            <a:ln w="12700" cap="flat">
              <a:solidFill>
                <a:srgbClr val="EDF1F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76838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verification teams drown in log volume but still triage failures by hand. This project reads the logs, finds which configuration combinations cause failures, separates real RTL bugs from seed noise, and recommends a safe configuration. Everything you will see runs end to end on a 50,000-run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pain first, then the four objectives. Each objective maps to a component you will see later: parser, risk model, fingerprinting, recommender.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fault isolation line at the bottom — it is a real engineering decision, not a slogan.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top to bottom. Key points: the log grammar lives in one module shared by generator and parser so they cannot drift; analysis runs off the request thread so the UI stays responsive; the five analytics stages are independent, so a failure in one still yields a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 knobs: test_name, cache_policy, test_mode_enabled, queue_depth, num_channels, num_planes, ecc_mode, scrambler_enable, burst_length, clock_freq_mhz, prefetch_depth. Environment: voltage_mv and temperature_c, both normally distributed. Outcomes: execution_time_ms, throughput_mbps, cycles, error tags. Overall failure rate lands at 24.04 %.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Lift = failure rate when the rule fires ÷ failure rate when it does not. R4 is deliberately rare (281 runs) to test whether the pipeline can still find a low-support but high-lift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leakage guard is the point to dwell on: it is trivial to score 0.99 by feeding the model uvm_error_count, and completely useless — the model would be reading the answer. Restricting features to settable knobs is what makes the SHAP ranking actionable.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determinism score is the headline result: 804 runs, 804 different seeds, one distinct raw trace. That is exactly the separation between a real RTL bug and seed noise that the brief asks for. min_samples=1 in DBSCAN is intentional — a template seen once is a rare bug, not noise to discard.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tip: open with the bundled sample so the page is already populated. Point at the SHAP chart and name the top knob, then move to the failure-mode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Fingerprints is the tab to spend the most demo time on — sort the cluster table by determinism and show the near-1.0 cluster, then open the drill-down to prove the traces are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section brisk in the demo — one sentence per tab, then return to Fingerprints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a worker thread rather than a process pool: the heavy stages release the GIL (NumPy, LightGBM), and a thread keeps the job registry and progress callback in one address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the RAG copilot: it was a listed bonus, it is not built, and the reason is a product decision about an LLM endpoint rather than a technical blocker. Everything else in the plan is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determinism result — it is the most distinctive thing the project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51C"/>
        </a:solidFill>
      </p:bgPr>
    </p:bg>
    <p:spTree>
      <p:nvGrpSpPr>
        <p:cNvPr id="1" name=""/>
        <p:cNvGrpSpPr/>
        <p:nvPr/>
      </p:nvGrpSpPr>
      <p:grpSpPr>
        <a:xfrm>
          <a:off x="0" y="0"/>
          <a:ext cx="0" cy="0"/>
          <a:chOff x="0" y="0"/>
          <a:chExt cx="0" cy="0"/>
        </a:xfrm>
      </p:grpSpPr>
      <p:sp>
        <p:nvSpPr>
          <p:cNvPr id="2" name="Shape 0"/>
          <p:cNvSpPr/>
          <p:nvPr/>
        </p:nvSpPr>
        <p:spPr>
          <a:xfrm>
            <a:off x="8732520" y="4160520"/>
            <a:ext cx="256032" cy="256032"/>
          </a:xfrm>
          <a:prstGeom prst="roundRect">
            <a:avLst>
              <a:gd name="adj" fmla="val 71429"/>
            </a:avLst>
          </a:prstGeom>
          <a:solidFill>
            <a:srgbClr val="F5A524"/>
          </a:solidFill>
          <a:ln w="12700">
            <a:solidFill>
              <a:srgbClr val="222D3A"/>
            </a:solidFill>
            <a:prstDash val="solid"/>
          </a:ln>
        </p:spPr>
      </p:sp>
      <p:sp>
        <p:nvSpPr>
          <p:cNvPr id="3" name="Shape 1"/>
          <p:cNvSpPr/>
          <p:nvPr/>
        </p:nvSpPr>
        <p:spPr>
          <a:xfrm>
            <a:off x="9189720" y="4160520"/>
            <a:ext cx="256032" cy="256032"/>
          </a:xfrm>
          <a:prstGeom prst="roundRect">
            <a:avLst>
              <a:gd name="adj" fmla="val 71429"/>
            </a:avLst>
          </a:prstGeom>
          <a:solidFill>
            <a:srgbClr val="222D3A"/>
          </a:solidFill>
          <a:ln w="12700">
            <a:solidFill>
              <a:srgbClr val="222D3A"/>
            </a:solidFill>
            <a:prstDash val="solid"/>
          </a:ln>
        </p:spPr>
      </p:sp>
      <p:sp>
        <p:nvSpPr>
          <p:cNvPr id="4" name="Shape 2"/>
          <p:cNvSpPr/>
          <p:nvPr/>
        </p:nvSpPr>
        <p:spPr>
          <a:xfrm>
            <a:off x="9646920" y="4160520"/>
            <a:ext cx="256032" cy="256032"/>
          </a:xfrm>
          <a:prstGeom prst="roundRect">
            <a:avLst>
              <a:gd name="adj" fmla="val 71429"/>
            </a:avLst>
          </a:prstGeom>
          <a:solidFill>
            <a:srgbClr val="222D3A"/>
          </a:solidFill>
          <a:ln w="12700">
            <a:solidFill>
              <a:srgbClr val="222D3A"/>
            </a:solidFill>
            <a:prstDash val="solid"/>
          </a:ln>
        </p:spPr>
      </p:sp>
      <p:sp>
        <p:nvSpPr>
          <p:cNvPr id="5" name="Shape 3"/>
          <p:cNvSpPr/>
          <p:nvPr/>
        </p:nvSpPr>
        <p:spPr>
          <a:xfrm>
            <a:off x="10104120" y="4160520"/>
            <a:ext cx="256032" cy="256032"/>
          </a:xfrm>
          <a:prstGeom prst="roundRect">
            <a:avLst>
              <a:gd name="adj" fmla="val 71429"/>
            </a:avLst>
          </a:prstGeom>
          <a:solidFill>
            <a:srgbClr val="222D3A"/>
          </a:solidFill>
          <a:ln w="12700">
            <a:solidFill>
              <a:srgbClr val="222D3A"/>
            </a:solidFill>
            <a:prstDash val="solid"/>
          </a:ln>
        </p:spPr>
      </p:sp>
      <p:sp>
        <p:nvSpPr>
          <p:cNvPr id="6" name="Shape 4"/>
          <p:cNvSpPr/>
          <p:nvPr/>
        </p:nvSpPr>
        <p:spPr>
          <a:xfrm>
            <a:off x="10561320" y="4160520"/>
            <a:ext cx="256032" cy="256032"/>
          </a:xfrm>
          <a:prstGeom prst="roundRect">
            <a:avLst>
              <a:gd name="adj" fmla="val 71429"/>
            </a:avLst>
          </a:prstGeom>
          <a:solidFill>
            <a:srgbClr val="222D3A"/>
          </a:solidFill>
          <a:ln w="12700">
            <a:solidFill>
              <a:srgbClr val="222D3A"/>
            </a:solidFill>
            <a:prstDash val="solid"/>
          </a:ln>
        </p:spPr>
      </p:sp>
      <p:sp>
        <p:nvSpPr>
          <p:cNvPr id="7" name="Shape 5"/>
          <p:cNvSpPr/>
          <p:nvPr/>
        </p:nvSpPr>
        <p:spPr>
          <a:xfrm>
            <a:off x="11018520" y="4160520"/>
            <a:ext cx="256032" cy="256032"/>
          </a:xfrm>
          <a:prstGeom prst="roundRect">
            <a:avLst>
              <a:gd name="adj" fmla="val 71429"/>
            </a:avLst>
          </a:prstGeom>
          <a:solidFill>
            <a:srgbClr val="F5A524"/>
          </a:solidFill>
          <a:ln w="12700">
            <a:solidFill>
              <a:srgbClr val="222D3A"/>
            </a:solidFill>
            <a:prstDash val="solid"/>
          </a:ln>
        </p:spPr>
      </p:sp>
      <p:sp>
        <p:nvSpPr>
          <p:cNvPr id="8" name="Shape 6"/>
          <p:cNvSpPr/>
          <p:nvPr/>
        </p:nvSpPr>
        <p:spPr>
          <a:xfrm>
            <a:off x="11475720" y="4160520"/>
            <a:ext cx="256032" cy="256032"/>
          </a:xfrm>
          <a:prstGeom prst="roundRect">
            <a:avLst>
              <a:gd name="adj" fmla="val 71429"/>
            </a:avLst>
          </a:prstGeom>
          <a:solidFill>
            <a:srgbClr val="222D3A"/>
          </a:solidFill>
          <a:ln w="12700">
            <a:solidFill>
              <a:srgbClr val="222D3A"/>
            </a:solidFill>
            <a:prstDash val="solid"/>
          </a:ln>
        </p:spPr>
      </p:sp>
      <p:sp>
        <p:nvSpPr>
          <p:cNvPr id="9" name="Shape 7"/>
          <p:cNvSpPr/>
          <p:nvPr/>
        </p:nvSpPr>
        <p:spPr>
          <a:xfrm>
            <a:off x="8732520" y="4617720"/>
            <a:ext cx="256032" cy="256032"/>
          </a:xfrm>
          <a:prstGeom prst="roundRect">
            <a:avLst>
              <a:gd name="adj" fmla="val 71429"/>
            </a:avLst>
          </a:prstGeom>
          <a:solidFill>
            <a:srgbClr val="222D3A"/>
          </a:solidFill>
          <a:ln w="12700">
            <a:solidFill>
              <a:srgbClr val="222D3A"/>
            </a:solidFill>
            <a:prstDash val="solid"/>
          </a:ln>
        </p:spPr>
      </p:sp>
      <p:sp>
        <p:nvSpPr>
          <p:cNvPr id="10" name="Shape 8"/>
          <p:cNvSpPr/>
          <p:nvPr/>
        </p:nvSpPr>
        <p:spPr>
          <a:xfrm>
            <a:off x="9189720" y="4617720"/>
            <a:ext cx="256032" cy="256032"/>
          </a:xfrm>
          <a:prstGeom prst="roundRect">
            <a:avLst>
              <a:gd name="adj" fmla="val 71429"/>
            </a:avLst>
          </a:prstGeom>
          <a:solidFill>
            <a:srgbClr val="222D3A"/>
          </a:solidFill>
          <a:ln w="12700">
            <a:solidFill>
              <a:srgbClr val="222D3A"/>
            </a:solidFill>
            <a:prstDash val="solid"/>
          </a:ln>
        </p:spPr>
      </p:sp>
      <p:sp>
        <p:nvSpPr>
          <p:cNvPr id="11" name="Shape 9"/>
          <p:cNvSpPr/>
          <p:nvPr/>
        </p:nvSpPr>
        <p:spPr>
          <a:xfrm>
            <a:off x="9646920" y="4617720"/>
            <a:ext cx="256032" cy="256032"/>
          </a:xfrm>
          <a:prstGeom prst="roundRect">
            <a:avLst>
              <a:gd name="adj" fmla="val 71429"/>
            </a:avLst>
          </a:prstGeom>
          <a:solidFill>
            <a:srgbClr val="222D3A"/>
          </a:solidFill>
          <a:ln w="12700">
            <a:solidFill>
              <a:srgbClr val="222D3A"/>
            </a:solidFill>
            <a:prstDash val="solid"/>
          </a:ln>
        </p:spPr>
      </p:sp>
      <p:sp>
        <p:nvSpPr>
          <p:cNvPr id="12" name="Shape 10"/>
          <p:cNvSpPr/>
          <p:nvPr/>
        </p:nvSpPr>
        <p:spPr>
          <a:xfrm>
            <a:off x="10104120" y="4617720"/>
            <a:ext cx="256032" cy="256032"/>
          </a:xfrm>
          <a:prstGeom prst="roundRect">
            <a:avLst>
              <a:gd name="adj" fmla="val 71429"/>
            </a:avLst>
          </a:prstGeom>
          <a:solidFill>
            <a:srgbClr val="222D3A"/>
          </a:solidFill>
          <a:ln w="12700">
            <a:solidFill>
              <a:srgbClr val="222D3A"/>
            </a:solidFill>
            <a:prstDash val="solid"/>
          </a:ln>
        </p:spPr>
      </p:sp>
      <p:sp>
        <p:nvSpPr>
          <p:cNvPr id="13" name="Shape 11"/>
          <p:cNvSpPr/>
          <p:nvPr/>
        </p:nvSpPr>
        <p:spPr>
          <a:xfrm>
            <a:off x="10561320" y="4617720"/>
            <a:ext cx="256032" cy="256032"/>
          </a:xfrm>
          <a:prstGeom prst="roundRect">
            <a:avLst>
              <a:gd name="adj" fmla="val 71429"/>
            </a:avLst>
          </a:prstGeom>
          <a:solidFill>
            <a:srgbClr val="F5A524"/>
          </a:solidFill>
          <a:ln w="12700">
            <a:solidFill>
              <a:srgbClr val="222D3A"/>
            </a:solidFill>
            <a:prstDash val="solid"/>
          </a:ln>
        </p:spPr>
      </p:sp>
      <p:sp>
        <p:nvSpPr>
          <p:cNvPr id="14" name="Shape 12"/>
          <p:cNvSpPr/>
          <p:nvPr/>
        </p:nvSpPr>
        <p:spPr>
          <a:xfrm>
            <a:off x="11018520" y="4617720"/>
            <a:ext cx="256032" cy="256032"/>
          </a:xfrm>
          <a:prstGeom prst="roundRect">
            <a:avLst>
              <a:gd name="adj" fmla="val 71429"/>
            </a:avLst>
          </a:prstGeom>
          <a:solidFill>
            <a:srgbClr val="222D3A"/>
          </a:solidFill>
          <a:ln w="12700">
            <a:solidFill>
              <a:srgbClr val="222D3A"/>
            </a:solidFill>
            <a:prstDash val="solid"/>
          </a:ln>
        </p:spPr>
      </p:sp>
      <p:sp>
        <p:nvSpPr>
          <p:cNvPr id="15" name="Shape 13"/>
          <p:cNvSpPr/>
          <p:nvPr/>
        </p:nvSpPr>
        <p:spPr>
          <a:xfrm>
            <a:off x="11475720" y="4617720"/>
            <a:ext cx="256032" cy="256032"/>
          </a:xfrm>
          <a:prstGeom prst="roundRect">
            <a:avLst>
              <a:gd name="adj" fmla="val 71429"/>
            </a:avLst>
          </a:prstGeom>
          <a:solidFill>
            <a:srgbClr val="222D3A"/>
          </a:solidFill>
          <a:ln w="12700">
            <a:solidFill>
              <a:srgbClr val="222D3A"/>
            </a:solidFill>
            <a:prstDash val="solid"/>
          </a:ln>
        </p:spPr>
      </p:sp>
      <p:sp>
        <p:nvSpPr>
          <p:cNvPr id="16" name="Shape 14"/>
          <p:cNvSpPr/>
          <p:nvPr/>
        </p:nvSpPr>
        <p:spPr>
          <a:xfrm>
            <a:off x="8732520" y="5074920"/>
            <a:ext cx="256032" cy="256032"/>
          </a:xfrm>
          <a:prstGeom prst="roundRect">
            <a:avLst>
              <a:gd name="adj" fmla="val 71429"/>
            </a:avLst>
          </a:prstGeom>
          <a:solidFill>
            <a:srgbClr val="222D3A"/>
          </a:solidFill>
          <a:ln w="12700">
            <a:solidFill>
              <a:srgbClr val="222D3A"/>
            </a:solidFill>
            <a:prstDash val="solid"/>
          </a:ln>
        </p:spPr>
      </p:sp>
      <p:sp>
        <p:nvSpPr>
          <p:cNvPr id="17" name="Shape 15"/>
          <p:cNvSpPr/>
          <p:nvPr/>
        </p:nvSpPr>
        <p:spPr>
          <a:xfrm>
            <a:off x="9189720" y="5074920"/>
            <a:ext cx="256032" cy="256032"/>
          </a:xfrm>
          <a:prstGeom prst="roundRect">
            <a:avLst>
              <a:gd name="adj" fmla="val 71429"/>
            </a:avLst>
          </a:prstGeom>
          <a:solidFill>
            <a:srgbClr val="222D3A"/>
          </a:solidFill>
          <a:ln w="12700">
            <a:solidFill>
              <a:srgbClr val="222D3A"/>
            </a:solidFill>
            <a:prstDash val="solid"/>
          </a:ln>
        </p:spPr>
      </p:sp>
      <p:sp>
        <p:nvSpPr>
          <p:cNvPr id="18" name="Shape 16"/>
          <p:cNvSpPr/>
          <p:nvPr/>
        </p:nvSpPr>
        <p:spPr>
          <a:xfrm>
            <a:off x="9646920" y="5074920"/>
            <a:ext cx="256032" cy="256032"/>
          </a:xfrm>
          <a:prstGeom prst="roundRect">
            <a:avLst>
              <a:gd name="adj" fmla="val 71429"/>
            </a:avLst>
          </a:prstGeom>
          <a:solidFill>
            <a:srgbClr val="222D3A"/>
          </a:solidFill>
          <a:ln w="12700">
            <a:solidFill>
              <a:srgbClr val="222D3A"/>
            </a:solidFill>
            <a:prstDash val="solid"/>
          </a:ln>
        </p:spPr>
      </p:sp>
      <p:sp>
        <p:nvSpPr>
          <p:cNvPr id="19" name="Shape 17"/>
          <p:cNvSpPr/>
          <p:nvPr/>
        </p:nvSpPr>
        <p:spPr>
          <a:xfrm>
            <a:off x="10104120" y="5074920"/>
            <a:ext cx="256032" cy="256032"/>
          </a:xfrm>
          <a:prstGeom prst="roundRect">
            <a:avLst>
              <a:gd name="adj" fmla="val 71429"/>
            </a:avLst>
          </a:prstGeom>
          <a:solidFill>
            <a:srgbClr val="F5A524"/>
          </a:solidFill>
          <a:ln w="12700">
            <a:solidFill>
              <a:srgbClr val="222D3A"/>
            </a:solidFill>
            <a:prstDash val="solid"/>
          </a:ln>
        </p:spPr>
      </p:sp>
      <p:sp>
        <p:nvSpPr>
          <p:cNvPr id="20" name="Shape 18"/>
          <p:cNvSpPr/>
          <p:nvPr/>
        </p:nvSpPr>
        <p:spPr>
          <a:xfrm>
            <a:off x="10561320" y="5074920"/>
            <a:ext cx="256032" cy="256032"/>
          </a:xfrm>
          <a:prstGeom prst="roundRect">
            <a:avLst>
              <a:gd name="adj" fmla="val 71429"/>
            </a:avLst>
          </a:prstGeom>
          <a:solidFill>
            <a:srgbClr val="222D3A"/>
          </a:solidFill>
          <a:ln w="12700">
            <a:solidFill>
              <a:srgbClr val="222D3A"/>
            </a:solidFill>
            <a:prstDash val="solid"/>
          </a:ln>
        </p:spPr>
      </p:sp>
      <p:sp>
        <p:nvSpPr>
          <p:cNvPr id="21" name="Shape 19"/>
          <p:cNvSpPr/>
          <p:nvPr/>
        </p:nvSpPr>
        <p:spPr>
          <a:xfrm>
            <a:off x="11018520" y="5074920"/>
            <a:ext cx="256032" cy="256032"/>
          </a:xfrm>
          <a:prstGeom prst="roundRect">
            <a:avLst>
              <a:gd name="adj" fmla="val 71429"/>
            </a:avLst>
          </a:prstGeom>
          <a:solidFill>
            <a:srgbClr val="222D3A"/>
          </a:solidFill>
          <a:ln w="12700">
            <a:solidFill>
              <a:srgbClr val="222D3A"/>
            </a:solidFill>
            <a:prstDash val="solid"/>
          </a:ln>
        </p:spPr>
      </p:sp>
      <p:sp>
        <p:nvSpPr>
          <p:cNvPr id="22" name="Shape 20"/>
          <p:cNvSpPr/>
          <p:nvPr/>
        </p:nvSpPr>
        <p:spPr>
          <a:xfrm>
            <a:off x="11475720" y="5074920"/>
            <a:ext cx="256032" cy="256032"/>
          </a:xfrm>
          <a:prstGeom prst="roundRect">
            <a:avLst>
              <a:gd name="adj" fmla="val 71429"/>
            </a:avLst>
          </a:prstGeom>
          <a:solidFill>
            <a:srgbClr val="222D3A"/>
          </a:solidFill>
          <a:ln w="12700">
            <a:solidFill>
              <a:srgbClr val="222D3A"/>
            </a:solidFill>
            <a:prstDash val="solid"/>
          </a:ln>
        </p:spPr>
      </p:sp>
      <p:sp>
        <p:nvSpPr>
          <p:cNvPr id="23" name="Shape 21"/>
          <p:cNvSpPr/>
          <p:nvPr/>
        </p:nvSpPr>
        <p:spPr>
          <a:xfrm>
            <a:off x="8732520" y="5532120"/>
            <a:ext cx="256032" cy="256032"/>
          </a:xfrm>
          <a:prstGeom prst="roundRect">
            <a:avLst>
              <a:gd name="adj" fmla="val 71429"/>
            </a:avLst>
          </a:prstGeom>
          <a:solidFill>
            <a:srgbClr val="222D3A"/>
          </a:solidFill>
          <a:ln w="12700">
            <a:solidFill>
              <a:srgbClr val="222D3A"/>
            </a:solidFill>
            <a:prstDash val="solid"/>
          </a:ln>
        </p:spPr>
      </p:sp>
      <p:sp>
        <p:nvSpPr>
          <p:cNvPr id="24" name="Shape 22"/>
          <p:cNvSpPr/>
          <p:nvPr/>
        </p:nvSpPr>
        <p:spPr>
          <a:xfrm>
            <a:off x="9189720" y="5532120"/>
            <a:ext cx="256032" cy="256032"/>
          </a:xfrm>
          <a:prstGeom prst="roundRect">
            <a:avLst>
              <a:gd name="adj" fmla="val 71429"/>
            </a:avLst>
          </a:prstGeom>
          <a:solidFill>
            <a:srgbClr val="222D3A"/>
          </a:solidFill>
          <a:ln w="12700">
            <a:solidFill>
              <a:srgbClr val="222D3A"/>
            </a:solidFill>
            <a:prstDash val="solid"/>
          </a:ln>
        </p:spPr>
      </p:sp>
      <p:sp>
        <p:nvSpPr>
          <p:cNvPr id="25" name="Shape 23"/>
          <p:cNvSpPr/>
          <p:nvPr/>
        </p:nvSpPr>
        <p:spPr>
          <a:xfrm>
            <a:off x="9646920" y="5532120"/>
            <a:ext cx="256032" cy="256032"/>
          </a:xfrm>
          <a:prstGeom prst="roundRect">
            <a:avLst>
              <a:gd name="adj" fmla="val 71429"/>
            </a:avLst>
          </a:prstGeom>
          <a:solidFill>
            <a:srgbClr val="F5A524"/>
          </a:solidFill>
          <a:ln w="12700">
            <a:solidFill>
              <a:srgbClr val="222D3A"/>
            </a:solidFill>
            <a:prstDash val="solid"/>
          </a:ln>
        </p:spPr>
      </p:sp>
      <p:sp>
        <p:nvSpPr>
          <p:cNvPr id="26" name="Shape 24"/>
          <p:cNvSpPr/>
          <p:nvPr/>
        </p:nvSpPr>
        <p:spPr>
          <a:xfrm>
            <a:off x="10104120" y="5532120"/>
            <a:ext cx="256032" cy="256032"/>
          </a:xfrm>
          <a:prstGeom prst="roundRect">
            <a:avLst>
              <a:gd name="adj" fmla="val 71429"/>
            </a:avLst>
          </a:prstGeom>
          <a:solidFill>
            <a:srgbClr val="222D3A"/>
          </a:solidFill>
          <a:ln w="12700">
            <a:solidFill>
              <a:srgbClr val="222D3A"/>
            </a:solidFill>
            <a:prstDash val="solid"/>
          </a:ln>
        </p:spPr>
      </p:sp>
      <p:sp>
        <p:nvSpPr>
          <p:cNvPr id="27" name="Shape 25"/>
          <p:cNvSpPr/>
          <p:nvPr/>
        </p:nvSpPr>
        <p:spPr>
          <a:xfrm>
            <a:off x="10561320" y="5532120"/>
            <a:ext cx="256032" cy="256032"/>
          </a:xfrm>
          <a:prstGeom prst="roundRect">
            <a:avLst>
              <a:gd name="adj" fmla="val 71429"/>
            </a:avLst>
          </a:prstGeom>
          <a:solidFill>
            <a:srgbClr val="222D3A"/>
          </a:solidFill>
          <a:ln w="12700">
            <a:solidFill>
              <a:srgbClr val="222D3A"/>
            </a:solidFill>
            <a:prstDash val="solid"/>
          </a:ln>
        </p:spPr>
      </p:sp>
      <p:sp>
        <p:nvSpPr>
          <p:cNvPr id="28" name="Shape 26"/>
          <p:cNvSpPr/>
          <p:nvPr/>
        </p:nvSpPr>
        <p:spPr>
          <a:xfrm>
            <a:off x="11018520" y="5532120"/>
            <a:ext cx="256032" cy="256032"/>
          </a:xfrm>
          <a:prstGeom prst="roundRect">
            <a:avLst>
              <a:gd name="adj" fmla="val 71429"/>
            </a:avLst>
          </a:prstGeom>
          <a:solidFill>
            <a:srgbClr val="222D3A"/>
          </a:solidFill>
          <a:ln w="12700">
            <a:solidFill>
              <a:srgbClr val="222D3A"/>
            </a:solidFill>
            <a:prstDash val="solid"/>
          </a:ln>
        </p:spPr>
      </p:sp>
      <p:sp>
        <p:nvSpPr>
          <p:cNvPr id="29" name="Shape 27"/>
          <p:cNvSpPr/>
          <p:nvPr/>
        </p:nvSpPr>
        <p:spPr>
          <a:xfrm>
            <a:off x="11475720" y="5532120"/>
            <a:ext cx="256032" cy="256032"/>
          </a:xfrm>
          <a:prstGeom prst="roundRect">
            <a:avLst>
              <a:gd name="adj" fmla="val 71429"/>
            </a:avLst>
          </a:prstGeom>
          <a:solidFill>
            <a:srgbClr val="222D3A"/>
          </a:solidFill>
          <a:ln w="12700">
            <a:solidFill>
              <a:srgbClr val="222D3A"/>
            </a:solidFill>
            <a:prstDash val="solid"/>
          </a:ln>
        </p:spPr>
      </p:sp>
      <p:sp>
        <p:nvSpPr>
          <p:cNvPr id="30" name="Text 28"/>
          <p:cNvSpPr txBox="1"/>
          <p:nvPr/>
        </p:nvSpPr>
        <p:spPr>
          <a:xfrm>
            <a:off x="566928" y="1170432"/>
            <a:ext cx="11057839" cy="274320"/>
          </a:xfrm>
          <a:prstGeom prst="rect">
            <a:avLst/>
          </a:prstGeom>
          <a:noFill/>
          <a:ln/>
        </p:spPr>
        <p:txBody>
          <a:bodyPr wrap="square" lIns="0" tIns="0" rIns="0" bIns="0" rtlCol="0" anchor="ctr"/>
          <a:lstStyle/>
          <a:p>
            <a:pPr indent="0" marL="0">
              <a:buNone/>
            </a:pPr>
            <a:r>
              <a:rPr lang="en-US" sz="1150" b="1" spc="260" kern="0" dirty="0">
                <a:solidFill>
                  <a:srgbClr val="F5A524"/>
                </a:solidFill>
                <a:latin typeface="Calibri" pitchFamily="34" charset="0"/>
                <a:ea typeface="Calibri" pitchFamily="34" charset="-122"/>
                <a:cs typeface="Calibri" pitchFamily="34" charset="-120"/>
              </a:rPr>
              <a:t>SANDISK HACKATHON  ·  TEAM ASTERIX  ·  2026</a:t>
            </a:r>
            <a:endParaRPr lang="en-US" sz="1150" dirty="0"/>
          </a:p>
        </p:txBody>
      </p:sp>
      <p:sp>
        <p:nvSpPr>
          <p:cNvPr id="31" name="Text 29"/>
          <p:cNvSpPr txBox="1"/>
          <p:nvPr/>
        </p:nvSpPr>
        <p:spPr>
          <a:xfrm>
            <a:off x="566928" y="1517904"/>
            <a:ext cx="8778240" cy="1737360"/>
          </a:xfrm>
          <a:prstGeom prst="rect">
            <a:avLst/>
          </a:prstGeom>
          <a:noFill/>
          <a:ln/>
        </p:spPr>
        <p:txBody>
          <a:bodyPr wrap="square" lIns="0" tIns="0" rIns="0" bIns="0" rtlCol="0" anchor="ctr"/>
          <a:lstStyle/>
          <a:p>
            <a:pPr indent="0" marL="0">
              <a:lnSpc>
                <a:spcPct val="94000"/>
              </a:lnSpc>
              <a:buNone/>
            </a:pPr>
            <a:r>
              <a:rPr lang="en-US" sz="5200" b="1" dirty="0">
                <a:solidFill>
                  <a:srgbClr val="FFFFFF"/>
                </a:solidFill>
                <a:latin typeface="Cambria" pitchFamily="34" charset="0"/>
                <a:ea typeface="Cambria" pitchFamily="34" charset="-122"/>
                <a:cs typeface="Cambria" pitchFamily="34" charset="-120"/>
              </a:rPr>
              <a:t>UVM Configuration</a:t>
            </a:r>
            <a:endParaRPr lang="en-US" sz="5200" dirty="0"/>
          </a:p>
          <a:p>
            <a:pPr indent="0" marL="0">
              <a:lnSpc>
                <a:spcPct val="94000"/>
              </a:lnSpc>
              <a:buNone/>
            </a:pPr>
            <a:r>
              <a:rPr lang="en-US" sz="5200" b="1" dirty="0">
                <a:solidFill>
                  <a:srgbClr val="FFFFFF"/>
                </a:solidFill>
                <a:latin typeface="Cambria" pitchFamily="34" charset="0"/>
                <a:ea typeface="Cambria" pitchFamily="34" charset="-122"/>
                <a:cs typeface="Cambria" pitchFamily="34" charset="-120"/>
              </a:rPr>
              <a:t>Intelligence</a:t>
            </a:r>
            <a:endParaRPr lang="en-US" sz="5200" dirty="0"/>
          </a:p>
        </p:txBody>
      </p:sp>
      <p:sp>
        <p:nvSpPr>
          <p:cNvPr id="32" name="Text 30"/>
          <p:cNvSpPr txBox="1"/>
          <p:nvPr/>
        </p:nvSpPr>
        <p:spPr>
          <a:xfrm>
            <a:off x="566928" y="3346704"/>
            <a:ext cx="7589520" cy="731520"/>
          </a:xfrm>
          <a:prstGeom prst="rect">
            <a:avLst/>
          </a:prstGeom>
          <a:noFill/>
          <a:ln/>
        </p:spPr>
        <p:txBody>
          <a:bodyPr wrap="square" lIns="0" tIns="0" rIns="0" bIns="0" rtlCol="0" anchor="ctr"/>
          <a:lstStyle/>
          <a:p>
            <a:pPr indent="0" marL="0">
              <a:lnSpc>
                <a:spcPct val="115000"/>
              </a:lnSpc>
              <a:buNone/>
            </a:pPr>
            <a:r>
              <a:rPr lang="en-US" sz="1500" dirty="0">
                <a:solidFill>
                  <a:srgbClr val="AEB9C4"/>
                </a:solidFill>
                <a:latin typeface="Calibri" pitchFamily="34" charset="0"/>
                <a:ea typeface="Calibri" pitchFamily="34" charset="-122"/>
                <a:cs typeface="Calibri" pitchFamily="34" charset="-120"/>
              </a:rPr>
              <a:t>Turning raw UVM simulation logs into ranked failure causes, deterministic-bug isolation, and a recommended configuration that is both fast and safe.</a:t>
            </a:r>
            <a:endParaRPr lang="en-US" sz="1500" dirty="0"/>
          </a:p>
        </p:txBody>
      </p:sp>
      <p:sp>
        <p:nvSpPr>
          <p:cNvPr id="33" name="Text 31"/>
          <p:cNvSpPr txBox="1"/>
          <p:nvPr/>
        </p:nvSpPr>
        <p:spPr>
          <a:xfrm>
            <a:off x="566928" y="4370832"/>
            <a:ext cx="1920240" cy="502920"/>
          </a:xfrm>
          <a:prstGeom prst="rect">
            <a:avLst/>
          </a:prstGeom>
          <a:noFill/>
          <a:ln/>
        </p:spPr>
        <p:txBody>
          <a:bodyPr wrap="square" lIns="0" tIns="0" rIns="0" bIns="0" rtlCol="0" anchor="ctr"/>
          <a:lstStyle/>
          <a:p>
            <a:pPr indent="0" marL="0">
              <a:buNone/>
            </a:pPr>
            <a:r>
              <a:rPr lang="en-US" sz="3000" b="1" dirty="0">
                <a:solidFill>
                  <a:srgbClr val="F5A524"/>
                </a:solidFill>
                <a:latin typeface="Cambria" pitchFamily="34" charset="0"/>
                <a:ea typeface="Cambria" pitchFamily="34" charset="-122"/>
                <a:cs typeface="Cambria" pitchFamily="34" charset="-120"/>
              </a:rPr>
              <a:t>50,000</a:t>
            </a:r>
            <a:endParaRPr lang="en-US" sz="3000" dirty="0"/>
          </a:p>
        </p:txBody>
      </p:sp>
      <p:sp>
        <p:nvSpPr>
          <p:cNvPr id="34" name="Text 32"/>
          <p:cNvSpPr txBox="1"/>
          <p:nvPr/>
        </p:nvSpPr>
        <p:spPr>
          <a:xfrm>
            <a:off x="566928" y="4882896"/>
            <a:ext cx="1920240" cy="274320"/>
          </a:xfrm>
          <a:prstGeom prst="rect">
            <a:avLst/>
          </a:prstGeom>
          <a:noFill/>
          <a:ln/>
        </p:spPr>
        <p:txBody>
          <a:bodyPr wrap="square" lIns="0" tIns="0" rIns="0" bIns="0" rtlCol="0" anchor="ctr"/>
          <a:lstStyle/>
          <a:p>
            <a:pPr indent="0" marL="0">
              <a:buNone/>
            </a:pPr>
            <a:r>
              <a:rPr lang="en-US" sz="1100" dirty="0">
                <a:solidFill>
                  <a:srgbClr val="8B98A5"/>
                </a:solidFill>
                <a:latin typeface="Calibri" pitchFamily="34" charset="0"/>
                <a:ea typeface="Calibri" pitchFamily="34" charset="-122"/>
                <a:cs typeface="Calibri" pitchFamily="34" charset="-120"/>
              </a:rPr>
              <a:t>runs in the corpus</a:t>
            </a:r>
            <a:endParaRPr lang="en-US" sz="1100" dirty="0"/>
          </a:p>
        </p:txBody>
      </p:sp>
      <p:sp>
        <p:nvSpPr>
          <p:cNvPr id="35" name="Text 33"/>
          <p:cNvSpPr txBox="1"/>
          <p:nvPr/>
        </p:nvSpPr>
        <p:spPr>
          <a:xfrm>
            <a:off x="2651760" y="4370832"/>
            <a:ext cx="1920240" cy="502920"/>
          </a:xfrm>
          <a:prstGeom prst="rect">
            <a:avLst/>
          </a:prstGeom>
          <a:noFill/>
          <a:ln/>
        </p:spPr>
        <p:txBody>
          <a:bodyPr wrap="square" lIns="0" tIns="0" rIns="0" bIns="0" rtlCol="0" anchor="ctr"/>
          <a:lstStyle/>
          <a:p>
            <a:pPr indent="0" marL="0">
              <a:buNone/>
            </a:pPr>
            <a:r>
              <a:rPr lang="en-US" sz="3000" b="1" dirty="0">
                <a:solidFill>
                  <a:srgbClr val="F5A524"/>
                </a:solidFill>
                <a:latin typeface="Cambria" pitchFamily="34" charset="0"/>
                <a:ea typeface="Cambria" pitchFamily="34" charset="-122"/>
                <a:cs typeface="Cambria" pitchFamily="34" charset="-120"/>
              </a:rPr>
              <a:t>1.01 M</a:t>
            </a:r>
            <a:endParaRPr lang="en-US" sz="3000" dirty="0"/>
          </a:p>
        </p:txBody>
      </p:sp>
      <p:sp>
        <p:nvSpPr>
          <p:cNvPr id="36" name="Text 34"/>
          <p:cNvSpPr txBox="1"/>
          <p:nvPr/>
        </p:nvSpPr>
        <p:spPr>
          <a:xfrm>
            <a:off x="2651760" y="4882896"/>
            <a:ext cx="1920240" cy="274320"/>
          </a:xfrm>
          <a:prstGeom prst="rect">
            <a:avLst/>
          </a:prstGeom>
          <a:noFill/>
          <a:ln/>
        </p:spPr>
        <p:txBody>
          <a:bodyPr wrap="square" lIns="0" tIns="0" rIns="0" bIns="0" rtlCol="0" anchor="ctr"/>
          <a:lstStyle/>
          <a:p>
            <a:pPr indent="0" marL="0">
              <a:buNone/>
            </a:pPr>
            <a:r>
              <a:rPr lang="en-US" sz="1100" dirty="0">
                <a:solidFill>
                  <a:srgbClr val="8B98A5"/>
                </a:solidFill>
                <a:latin typeface="Calibri" pitchFamily="34" charset="0"/>
                <a:ea typeface="Calibri" pitchFamily="34" charset="-122"/>
                <a:cs typeface="Calibri" pitchFamily="34" charset="-120"/>
              </a:rPr>
              <a:t>log lines parsed</a:t>
            </a:r>
            <a:endParaRPr lang="en-US" sz="1100" dirty="0"/>
          </a:p>
        </p:txBody>
      </p:sp>
      <p:sp>
        <p:nvSpPr>
          <p:cNvPr id="37" name="Text 35"/>
          <p:cNvSpPr txBox="1"/>
          <p:nvPr/>
        </p:nvSpPr>
        <p:spPr>
          <a:xfrm>
            <a:off x="4736592" y="4370832"/>
            <a:ext cx="1920240" cy="502920"/>
          </a:xfrm>
          <a:prstGeom prst="rect">
            <a:avLst/>
          </a:prstGeom>
          <a:noFill/>
          <a:ln/>
        </p:spPr>
        <p:txBody>
          <a:bodyPr wrap="square" lIns="0" tIns="0" rIns="0" bIns="0" rtlCol="0" anchor="ctr"/>
          <a:lstStyle/>
          <a:p>
            <a:pPr indent="0" marL="0">
              <a:buNone/>
            </a:pPr>
            <a:r>
              <a:rPr lang="en-US" sz="3000" b="1" dirty="0">
                <a:solidFill>
                  <a:srgbClr val="F5A524"/>
                </a:solidFill>
                <a:latin typeface="Cambria" pitchFamily="34" charset="0"/>
                <a:ea typeface="Cambria" pitchFamily="34" charset="-122"/>
                <a:cs typeface="Cambria" pitchFamily="34" charset="-120"/>
              </a:rPr>
              <a:t>2.0 s</a:t>
            </a:r>
            <a:endParaRPr lang="en-US" sz="3000" dirty="0"/>
          </a:p>
        </p:txBody>
      </p:sp>
      <p:sp>
        <p:nvSpPr>
          <p:cNvPr id="38" name="Text 36"/>
          <p:cNvSpPr txBox="1"/>
          <p:nvPr/>
        </p:nvSpPr>
        <p:spPr>
          <a:xfrm>
            <a:off x="4736592" y="4882896"/>
            <a:ext cx="1920240" cy="274320"/>
          </a:xfrm>
          <a:prstGeom prst="rect">
            <a:avLst/>
          </a:prstGeom>
          <a:noFill/>
          <a:ln/>
        </p:spPr>
        <p:txBody>
          <a:bodyPr wrap="square" lIns="0" tIns="0" rIns="0" bIns="0" rtlCol="0" anchor="ctr"/>
          <a:lstStyle/>
          <a:p>
            <a:pPr indent="0" marL="0">
              <a:buNone/>
            </a:pPr>
            <a:r>
              <a:rPr lang="en-US" sz="1100" dirty="0">
                <a:solidFill>
                  <a:srgbClr val="8B98A5"/>
                </a:solidFill>
                <a:latin typeface="Calibri" pitchFamily="34" charset="0"/>
                <a:ea typeface="Calibri" pitchFamily="34" charset="-122"/>
                <a:cs typeface="Calibri" pitchFamily="34" charset="-120"/>
              </a:rPr>
              <a:t>full-corpus parse</a:t>
            </a:r>
            <a:endParaRPr lang="en-US" sz="1100" dirty="0"/>
          </a:p>
        </p:txBody>
      </p:sp>
      <p:sp>
        <p:nvSpPr>
          <p:cNvPr id="39" name="Text 37"/>
          <p:cNvSpPr txBox="1"/>
          <p:nvPr/>
        </p:nvSpPr>
        <p:spPr>
          <a:xfrm>
            <a:off x="6821424" y="4370832"/>
            <a:ext cx="1920240" cy="502920"/>
          </a:xfrm>
          <a:prstGeom prst="rect">
            <a:avLst/>
          </a:prstGeom>
          <a:noFill/>
          <a:ln/>
        </p:spPr>
        <p:txBody>
          <a:bodyPr wrap="square" lIns="0" tIns="0" rIns="0" bIns="0" rtlCol="0" anchor="ctr"/>
          <a:lstStyle/>
          <a:p>
            <a:pPr indent="0" marL="0">
              <a:buNone/>
            </a:pPr>
            <a:r>
              <a:rPr lang="en-US" sz="3000" b="1" dirty="0">
                <a:solidFill>
                  <a:srgbClr val="F5A524"/>
                </a:solidFill>
                <a:latin typeface="Cambria" pitchFamily="34" charset="0"/>
                <a:ea typeface="Cambria" pitchFamily="34" charset="-122"/>
                <a:cs typeface="Cambria" pitchFamily="34" charset="-120"/>
              </a:rPr>
              <a:t>0.88</a:t>
            </a:r>
            <a:endParaRPr lang="en-US" sz="3000" dirty="0"/>
          </a:p>
        </p:txBody>
      </p:sp>
      <p:sp>
        <p:nvSpPr>
          <p:cNvPr id="40" name="Text 38"/>
          <p:cNvSpPr txBox="1"/>
          <p:nvPr/>
        </p:nvSpPr>
        <p:spPr>
          <a:xfrm>
            <a:off x="6821424" y="4882896"/>
            <a:ext cx="1920240" cy="274320"/>
          </a:xfrm>
          <a:prstGeom prst="rect">
            <a:avLst/>
          </a:prstGeom>
          <a:noFill/>
          <a:ln/>
        </p:spPr>
        <p:txBody>
          <a:bodyPr wrap="square" lIns="0" tIns="0" rIns="0" bIns="0" rtlCol="0" anchor="ctr"/>
          <a:lstStyle/>
          <a:p>
            <a:pPr indent="0" marL="0">
              <a:buNone/>
            </a:pPr>
            <a:r>
              <a:rPr lang="en-US" sz="1100" dirty="0">
                <a:solidFill>
                  <a:srgbClr val="8B98A5"/>
                </a:solidFill>
                <a:latin typeface="Calibri" pitchFamily="34" charset="0"/>
                <a:ea typeface="Calibri" pitchFamily="34" charset="-122"/>
                <a:cs typeface="Calibri" pitchFamily="34" charset="-120"/>
              </a:rPr>
              <a:t>risk-model ROC-AUC</a:t>
            </a:r>
            <a:endParaRPr lang="en-US" sz="1100" dirty="0"/>
          </a:p>
        </p:txBody>
      </p:sp>
      <p:sp>
        <p:nvSpPr>
          <p:cNvPr id="41" name="Text 39"/>
          <p:cNvSpPr txBox="1"/>
          <p:nvPr/>
        </p:nvSpPr>
        <p:spPr>
          <a:xfrm>
            <a:off x="566928" y="5989320"/>
            <a:ext cx="11057839" cy="274320"/>
          </a:xfrm>
          <a:prstGeom prst="rect">
            <a:avLst/>
          </a:prstGeom>
          <a:noFill/>
          <a:ln/>
        </p:spPr>
        <p:txBody>
          <a:bodyPr wrap="square" lIns="0" tIns="0" rIns="0" bIns="0" rtlCol="0" anchor="ctr"/>
          <a:lstStyle/>
          <a:p>
            <a:pPr indent="0" marL="0">
              <a:buNone/>
            </a:pPr>
            <a:r>
              <a:rPr lang="en-US" sz="1100" dirty="0">
                <a:solidFill>
                  <a:srgbClr val="5A6875"/>
                </a:solidFill>
                <a:latin typeface="Calibri" pitchFamily="34" charset="0"/>
                <a:ea typeface="Calibri" pitchFamily="34" charset="-122"/>
                <a:cs typeface="Calibri" pitchFamily="34" charset="-120"/>
              </a:rPr>
              <a:t>Presented by  ______________________        Reviewer  ______________________</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20" kern="0" dirty="0">
                <a:solidFill>
                  <a:srgbClr val="A86B12"/>
                </a:solidFill>
                <a:latin typeface="Calibri" pitchFamily="34" charset="0"/>
                <a:ea typeface="Calibri" pitchFamily="34" charset="-122"/>
                <a:cs typeface="Calibri" pitchFamily="34" charset="-120"/>
              </a:rPr>
              <a:t>THE PROBLEM</a:t>
            </a:r>
            <a:endParaRPr lang="en-US" sz="105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300" b="1" dirty="0">
                <a:solidFill>
                  <a:srgbClr val="10151C"/>
                </a:solidFill>
                <a:latin typeface="Cambria" pitchFamily="34" charset="0"/>
                <a:ea typeface="Cambria" pitchFamily="34" charset="-122"/>
                <a:cs typeface="Cambria" pitchFamily="34" charset="-120"/>
              </a:rPr>
              <a:t>Regression logs answer 'what', never 'why'</a:t>
            </a:r>
            <a:endParaRPr lang="en-US" sz="3300" dirty="0"/>
          </a:p>
        </p:txBody>
      </p:sp>
      <p:sp>
        <p:nvSpPr>
          <p:cNvPr id="4" name="Text 2"/>
          <p:cNvSpPr txBox="1"/>
          <p:nvPr/>
        </p:nvSpPr>
        <p:spPr>
          <a:xfrm>
            <a:off x="566928" y="6327648"/>
            <a:ext cx="5486400" cy="274320"/>
          </a:xfrm>
          <a:prstGeom prst="rect">
            <a:avLst/>
          </a:prstGeom>
          <a:noFill/>
          <a:ln/>
        </p:spPr>
        <p:txBody>
          <a:bodyPr wrap="square" lIns="0" tIns="0" rIns="0" bIns="0" rtlCol="0" anchor="ctr"/>
          <a:lstStyle/>
          <a:p>
            <a:pPr algn="l" indent="0" marL="0">
              <a:buNone/>
            </a:pPr>
            <a:r>
              <a:rPr lang="en-US" sz="900" dirty="0">
                <a:solidFill>
                  <a:srgbClr val="76838F"/>
                </a:solidFill>
                <a:latin typeface="Calibri" pitchFamily="34" charset="0"/>
                <a:ea typeface="Calibri" pitchFamily="34" charset="-122"/>
                <a:cs typeface="Calibri" pitchFamily="34" charset="-120"/>
              </a:rPr>
              <a:t>UVM Configuration Intelligence  ·  Team Asterix</a:t>
            </a:r>
            <a:endParaRPr lang="en-US" sz="900" dirty="0"/>
          </a:p>
        </p:txBody>
      </p:sp>
      <p:sp>
        <p:nvSpPr>
          <p:cNvPr id="5" name="Text 3"/>
          <p:cNvSpPr txBox="1"/>
          <p:nvPr/>
        </p:nvSpPr>
        <p:spPr>
          <a:xfrm>
            <a:off x="10527487" y="6327648"/>
            <a:ext cx="1097280" cy="274320"/>
          </a:xfrm>
          <a:prstGeom prst="rect">
            <a:avLst/>
          </a:prstGeom>
          <a:noFill/>
          <a:ln/>
        </p:spPr>
        <p:txBody>
          <a:bodyPr wrap="square" lIns="0" tIns="0" rIns="0" bIns="0" rtlCol="0" anchor="ctr"/>
          <a:lstStyle/>
          <a:p>
            <a:pPr algn="r" indent="0" marL="0">
              <a:buNone/>
            </a:pPr>
            <a:r>
              <a:rPr lang="en-US" sz="900" b="1" dirty="0">
                <a:solidFill>
                  <a:srgbClr val="76838F"/>
                </a:solidFill>
                <a:latin typeface="Calibri" pitchFamily="34" charset="0"/>
                <a:ea typeface="Calibri" pitchFamily="34" charset="-122"/>
                <a:cs typeface="Calibri" pitchFamily="34" charset="-120"/>
              </a:rPr>
              <a:t>02</a:t>
            </a:r>
            <a:endParaRPr lang="en-US" sz="900" dirty="0"/>
          </a:p>
        </p:txBody>
      </p:sp>
      <p:sp>
        <p:nvSpPr>
          <p:cNvPr id="6" name="Shape 4"/>
          <p:cNvSpPr/>
          <p:nvPr/>
        </p:nvSpPr>
        <p:spPr>
          <a:xfrm>
            <a:off x="566928" y="1572768"/>
            <a:ext cx="5074920" cy="4224528"/>
          </a:xfrm>
          <a:prstGeom prst="roundRect">
            <a:avLst>
              <a:gd name="adj" fmla="val 1299"/>
            </a:avLst>
          </a:prstGeom>
          <a:solidFill>
            <a:srgbClr val="F7F9FB"/>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7" name="Text 5"/>
          <p:cNvSpPr txBox="1"/>
          <p:nvPr/>
        </p:nvSpPr>
        <p:spPr>
          <a:xfrm>
            <a:off x="877824" y="1810512"/>
            <a:ext cx="4480560" cy="292608"/>
          </a:xfrm>
          <a:prstGeom prst="rect">
            <a:avLst/>
          </a:prstGeom>
          <a:noFill/>
          <a:ln/>
        </p:spPr>
        <p:txBody>
          <a:bodyPr wrap="square" lIns="0" tIns="0" rIns="0" bIns="0" rtlCol="0" anchor="ctr"/>
          <a:lstStyle/>
          <a:p>
            <a:pPr indent="0" marL="0">
              <a:buNone/>
            </a:pPr>
            <a:r>
              <a:rPr lang="en-US" sz="1650" b="1" dirty="0">
                <a:solidFill>
                  <a:srgbClr val="10151C"/>
                </a:solidFill>
                <a:latin typeface="Cambria" pitchFamily="34" charset="0"/>
                <a:ea typeface="Cambria" pitchFamily="34" charset="-122"/>
                <a:cs typeface="Cambria" pitchFamily="34" charset="-120"/>
              </a:rPr>
              <a:t>Where verification time goes today</a:t>
            </a:r>
            <a:endParaRPr lang="en-US" sz="1650" dirty="0"/>
          </a:p>
        </p:txBody>
      </p:sp>
      <p:sp>
        <p:nvSpPr>
          <p:cNvPr id="8" name="Text 6"/>
          <p:cNvSpPr txBox="1"/>
          <p:nvPr/>
        </p:nvSpPr>
        <p:spPr>
          <a:xfrm>
            <a:off x="877824" y="2231136"/>
            <a:ext cx="4480560" cy="3383280"/>
          </a:xfrm>
          <a:prstGeom prst="rect">
            <a:avLst/>
          </a:prstGeom>
          <a:noFill/>
          <a:ln/>
        </p:spPr>
        <p:txBody>
          <a:bodyPr wrap="square" lIns="0" tIns="0" rIns="0" bIns="0" rtlCol="0" anchor="ctr"/>
          <a:lstStyle/>
          <a:p>
            <a:pPr marL="342900" indent="-342900">
              <a:lnSpc>
                <a:spcPct val="100000"/>
              </a:lnSpc>
              <a:spcAft>
                <a:spcPts val="1100"/>
              </a:spcAft>
              <a:buSzPct val="100000"/>
              <a:buChar char="•"/>
            </a:pPr>
            <a:r>
              <a:rPr lang="en-US" sz="1250" dirty="0">
                <a:solidFill>
                  <a:srgbClr val="3A4757"/>
                </a:solidFill>
                <a:latin typeface="Calibri" pitchFamily="34" charset="0"/>
                <a:ea typeface="Calibri" pitchFamily="34" charset="-122"/>
                <a:cs typeface="Calibri" pitchFamily="34" charset="-120"/>
              </a:rPr>
              <a:t>A single nightly regression emits over a million log lines; triage is manual and does not scale.</a:t>
            </a:r>
            <a:endParaRPr lang="en-US" sz="1250" dirty="0"/>
          </a:p>
          <a:p>
            <a:pPr marL="342900" indent="-342900">
              <a:lnSpc>
                <a:spcPct val="100000"/>
              </a:lnSpc>
              <a:spcAft>
                <a:spcPts val="1100"/>
              </a:spcAft>
              <a:buSzPct val="100000"/>
              <a:buChar char="•"/>
            </a:pPr>
            <a:r>
              <a:rPr lang="en-US" sz="1250" dirty="0">
                <a:solidFill>
                  <a:srgbClr val="3A4757"/>
                </a:solidFill>
                <a:latin typeface="Calibri" pitchFamily="34" charset="0"/>
                <a:ea typeface="Calibri" pitchFamily="34" charset="-122"/>
                <a:cs typeface="Calibri" pitchFamily="34" charset="-120"/>
              </a:rPr>
              <a:t>A failing run reports that it failed — not which combination of knobs made it fail.</a:t>
            </a:r>
            <a:endParaRPr lang="en-US" sz="1250" dirty="0"/>
          </a:p>
          <a:p>
            <a:pPr marL="342900" indent="-342900">
              <a:lnSpc>
                <a:spcPct val="100000"/>
              </a:lnSpc>
              <a:spcAft>
                <a:spcPts val="1100"/>
              </a:spcAft>
              <a:buSzPct val="100000"/>
              <a:buChar char="•"/>
            </a:pPr>
            <a:r>
              <a:rPr lang="en-US" sz="1250" dirty="0">
                <a:solidFill>
                  <a:srgbClr val="3A4757"/>
                </a:solidFill>
                <a:latin typeface="Calibri" pitchFamily="34" charset="0"/>
                <a:ea typeface="Calibri" pitchFamily="34" charset="-122"/>
                <a:cs typeface="Calibri" pitchFamily="34" charset="-120"/>
              </a:rPr>
              <a:t>Seed-noise flakes and genuine deterministic RTL bugs look identical in a log file.</a:t>
            </a:r>
            <a:endParaRPr lang="en-US" sz="1250" dirty="0"/>
          </a:p>
          <a:p>
            <a:pPr marL="342900" indent="-342900">
              <a:lnSpc>
                <a:spcPct val="100000"/>
              </a:lnSpc>
              <a:spcAft>
                <a:spcPts val="1100"/>
              </a:spcAft>
              <a:buSzPct val="100000"/>
              <a:buChar char="•"/>
            </a:pPr>
            <a:r>
              <a:rPr lang="en-US" sz="1250" dirty="0">
                <a:solidFill>
                  <a:srgbClr val="3A4757"/>
                </a:solidFill>
                <a:latin typeface="Calibri" pitchFamily="34" charset="0"/>
                <a:ea typeface="Calibri" pitchFamily="34" charset="-122"/>
                <a:cs typeface="Calibri" pitchFamily="34" charset="-120"/>
              </a:rPr>
              <a:t>Config tuning is folklore: nobody can state the fastest setting that still meets a risk budget.</a:t>
            </a:r>
            <a:endParaRPr lang="en-US" sz="1250" dirty="0"/>
          </a:p>
          <a:p>
            <a:pPr marL="342900" indent="-342900">
              <a:lnSpc>
                <a:spcPct val="100000"/>
              </a:lnSpc>
              <a:spcAft>
                <a:spcPts val="1100"/>
              </a:spcAft>
              <a:buSzPct val="100000"/>
              <a:buChar char="•"/>
            </a:pPr>
            <a:r>
              <a:rPr lang="en-US" sz="1250" dirty="0">
                <a:solidFill>
                  <a:srgbClr val="3A4757"/>
                </a:solidFill>
                <a:latin typeface="Calibri" pitchFamily="34" charset="0"/>
                <a:ea typeface="Calibri" pitchFamily="34" charset="-122"/>
                <a:cs typeface="Calibri" pitchFamily="34" charset="-120"/>
              </a:rPr>
              <a:t>Ad-hoc scripts are written per debug session and thrown away — nothing accumulates.</a:t>
            </a:r>
            <a:endParaRPr lang="en-US" sz="1250" dirty="0"/>
          </a:p>
        </p:txBody>
      </p:sp>
      <p:sp>
        <p:nvSpPr>
          <p:cNvPr id="9" name="Shape 7"/>
          <p:cNvSpPr/>
          <p:nvPr/>
        </p:nvSpPr>
        <p:spPr>
          <a:xfrm>
            <a:off x="5916168" y="1572768"/>
            <a:ext cx="2717140" cy="2029968"/>
          </a:xfrm>
          <a:prstGeom prst="roundRect">
            <a:avLst>
              <a:gd name="adj" fmla="val 2703"/>
            </a:avLst>
          </a:prstGeom>
          <a:solidFill>
            <a:srgbClr val="FFFFFF"/>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10" name="Shape 8"/>
          <p:cNvSpPr/>
          <p:nvPr/>
        </p:nvSpPr>
        <p:spPr>
          <a:xfrm>
            <a:off x="6172200" y="1828800"/>
            <a:ext cx="329184" cy="329184"/>
          </a:xfrm>
          <a:prstGeom prst="roundRect">
            <a:avLst>
              <a:gd name="adj" fmla="val 61111"/>
            </a:avLst>
          </a:prstGeom>
          <a:solidFill>
            <a:srgbClr val="F5A524"/>
          </a:solidFill>
          <a:ln w="12700">
            <a:solidFill>
              <a:srgbClr val="F5A524"/>
            </a:solidFill>
            <a:prstDash val="solid"/>
          </a:ln>
        </p:spPr>
      </p:sp>
      <p:sp>
        <p:nvSpPr>
          <p:cNvPr id="11" name="Text 9"/>
          <p:cNvSpPr txBox="1"/>
          <p:nvPr/>
        </p:nvSpPr>
        <p:spPr>
          <a:xfrm>
            <a:off x="6172200" y="1828800"/>
            <a:ext cx="329184" cy="329184"/>
          </a:xfrm>
          <a:prstGeom prst="rect">
            <a:avLst/>
          </a:prstGeom>
          <a:noFill/>
          <a:ln/>
        </p:spPr>
        <p:txBody>
          <a:bodyPr wrap="square" lIns="0" tIns="0" rIns="0" bIns="0" rtlCol="0" anchor="ctr"/>
          <a:lstStyle/>
          <a:p>
            <a:pPr algn="ctr" indent="0" marL="0">
              <a:buNone/>
            </a:pPr>
            <a:r>
              <a:rPr lang="en-US" sz="1250" b="1" dirty="0">
                <a:solidFill>
                  <a:srgbClr val="10151C"/>
                </a:solidFill>
                <a:latin typeface="Calibri" pitchFamily="34" charset="0"/>
                <a:ea typeface="Calibri" pitchFamily="34" charset="-122"/>
                <a:cs typeface="Calibri" pitchFamily="34" charset="-120"/>
              </a:rPr>
              <a:t>01</a:t>
            </a:r>
            <a:endParaRPr lang="en-US" sz="1250" dirty="0"/>
          </a:p>
        </p:txBody>
      </p:sp>
      <p:sp>
        <p:nvSpPr>
          <p:cNvPr id="12" name="Text 10"/>
          <p:cNvSpPr txBox="1"/>
          <p:nvPr/>
        </p:nvSpPr>
        <p:spPr>
          <a:xfrm>
            <a:off x="6601968" y="1847088"/>
            <a:ext cx="1802740" cy="292608"/>
          </a:xfrm>
          <a:prstGeom prst="rect">
            <a:avLst/>
          </a:prstGeom>
          <a:noFill/>
          <a:ln/>
        </p:spPr>
        <p:txBody>
          <a:bodyPr wrap="square" lIns="0" tIns="0" rIns="0" bIns="0" rtlCol="0" anchor="ctr"/>
          <a:lstStyle/>
          <a:p>
            <a:pPr indent="0" marL="0">
              <a:buNone/>
            </a:pPr>
            <a:r>
              <a:rPr lang="en-US" sz="1500" b="1" dirty="0">
                <a:solidFill>
                  <a:srgbClr val="10151C"/>
                </a:solidFill>
                <a:latin typeface="Cambria" pitchFamily="34" charset="0"/>
                <a:ea typeface="Cambria" pitchFamily="34" charset="-122"/>
                <a:cs typeface="Cambria" pitchFamily="34" charset="-120"/>
              </a:rPr>
              <a:t>Ingest at scale</a:t>
            </a:r>
            <a:endParaRPr lang="en-US" sz="1500" dirty="0"/>
          </a:p>
        </p:txBody>
      </p:sp>
      <p:sp>
        <p:nvSpPr>
          <p:cNvPr id="13" name="Text 11"/>
          <p:cNvSpPr txBox="1"/>
          <p:nvPr/>
        </p:nvSpPr>
        <p:spPr>
          <a:xfrm>
            <a:off x="6172200" y="2322576"/>
            <a:ext cx="2205076" cy="1097280"/>
          </a:xfrm>
          <a:prstGeom prst="rect">
            <a:avLst/>
          </a:prstGeom>
          <a:noFill/>
          <a:ln/>
        </p:spPr>
        <p:txBody>
          <a:bodyPr wrap="square" lIns="0" tIns="0" rIns="0" bIns="0" rtlCol="0" anchor="ctr"/>
          <a:lstStyle/>
          <a:p>
            <a:pPr indent="0" marL="0">
              <a:lnSpc>
                <a:spcPct val="108000"/>
              </a:lnSpc>
              <a:buNone/>
            </a:pPr>
            <a:r>
              <a:rPr lang="en-US" sz="1200" dirty="0">
                <a:solidFill>
                  <a:srgbClr val="3A4757"/>
                </a:solidFill>
                <a:latin typeface="Calibri" pitchFamily="34" charset="0"/>
                <a:ea typeface="Calibri" pitchFamily="34" charset="-122"/>
                <a:cs typeface="Calibri" pitchFamily="34" charset="-120"/>
              </a:rPr>
              <a:t>Parse arbitrary UVM log dumps into structured run and error tables in seconds.</a:t>
            </a:r>
            <a:endParaRPr lang="en-US" sz="1200" dirty="0"/>
          </a:p>
        </p:txBody>
      </p:sp>
      <p:sp>
        <p:nvSpPr>
          <p:cNvPr id="14" name="Shape 12"/>
          <p:cNvSpPr/>
          <p:nvPr/>
        </p:nvSpPr>
        <p:spPr>
          <a:xfrm>
            <a:off x="8907628" y="1572768"/>
            <a:ext cx="2717140" cy="2029968"/>
          </a:xfrm>
          <a:prstGeom prst="roundRect">
            <a:avLst>
              <a:gd name="adj" fmla="val 2703"/>
            </a:avLst>
          </a:prstGeom>
          <a:solidFill>
            <a:srgbClr val="FFFFFF"/>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15" name="Shape 13"/>
          <p:cNvSpPr/>
          <p:nvPr/>
        </p:nvSpPr>
        <p:spPr>
          <a:xfrm>
            <a:off x="9163660" y="1828800"/>
            <a:ext cx="329184" cy="329184"/>
          </a:xfrm>
          <a:prstGeom prst="roundRect">
            <a:avLst>
              <a:gd name="adj" fmla="val 61111"/>
            </a:avLst>
          </a:prstGeom>
          <a:solidFill>
            <a:srgbClr val="F5A524"/>
          </a:solidFill>
          <a:ln w="12700">
            <a:solidFill>
              <a:srgbClr val="F5A524"/>
            </a:solidFill>
            <a:prstDash val="solid"/>
          </a:ln>
        </p:spPr>
      </p:sp>
      <p:sp>
        <p:nvSpPr>
          <p:cNvPr id="16" name="Text 14"/>
          <p:cNvSpPr txBox="1"/>
          <p:nvPr/>
        </p:nvSpPr>
        <p:spPr>
          <a:xfrm>
            <a:off x="9163660" y="1828800"/>
            <a:ext cx="329184" cy="329184"/>
          </a:xfrm>
          <a:prstGeom prst="rect">
            <a:avLst/>
          </a:prstGeom>
          <a:noFill/>
          <a:ln/>
        </p:spPr>
        <p:txBody>
          <a:bodyPr wrap="square" lIns="0" tIns="0" rIns="0" bIns="0" rtlCol="0" anchor="ctr"/>
          <a:lstStyle/>
          <a:p>
            <a:pPr algn="ctr" indent="0" marL="0">
              <a:buNone/>
            </a:pPr>
            <a:r>
              <a:rPr lang="en-US" sz="1250" b="1" dirty="0">
                <a:solidFill>
                  <a:srgbClr val="10151C"/>
                </a:solidFill>
                <a:latin typeface="Calibri" pitchFamily="34" charset="0"/>
                <a:ea typeface="Calibri" pitchFamily="34" charset="-122"/>
                <a:cs typeface="Calibri" pitchFamily="34" charset="-120"/>
              </a:rPr>
              <a:t>02</a:t>
            </a:r>
            <a:endParaRPr lang="en-US" sz="1250" dirty="0"/>
          </a:p>
        </p:txBody>
      </p:sp>
      <p:sp>
        <p:nvSpPr>
          <p:cNvPr id="17" name="Text 15"/>
          <p:cNvSpPr txBox="1"/>
          <p:nvPr/>
        </p:nvSpPr>
        <p:spPr>
          <a:xfrm>
            <a:off x="9593428" y="1847088"/>
            <a:ext cx="1802740" cy="292608"/>
          </a:xfrm>
          <a:prstGeom prst="rect">
            <a:avLst/>
          </a:prstGeom>
          <a:noFill/>
          <a:ln/>
        </p:spPr>
        <p:txBody>
          <a:bodyPr wrap="square" lIns="0" tIns="0" rIns="0" bIns="0" rtlCol="0" anchor="ctr"/>
          <a:lstStyle/>
          <a:p>
            <a:pPr indent="0" marL="0">
              <a:buNone/>
            </a:pPr>
            <a:r>
              <a:rPr lang="en-US" sz="1500" b="1" dirty="0">
                <a:solidFill>
                  <a:srgbClr val="10151C"/>
                </a:solidFill>
                <a:latin typeface="Cambria" pitchFamily="34" charset="0"/>
                <a:ea typeface="Cambria" pitchFamily="34" charset="-122"/>
                <a:cs typeface="Cambria" pitchFamily="34" charset="-120"/>
              </a:rPr>
              <a:t>Rank the causes</a:t>
            </a:r>
            <a:endParaRPr lang="en-US" sz="1500" dirty="0"/>
          </a:p>
        </p:txBody>
      </p:sp>
      <p:sp>
        <p:nvSpPr>
          <p:cNvPr id="18" name="Text 16"/>
          <p:cNvSpPr txBox="1"/>
          <p:nvPr/>
        </p:nvSpPr>
        <p:spPr>
          <a:xfrm>
            <a:off x="9163660" y="2322576"/>
            <a:ext cx="2205076" cy="1097280"/>
          </a:xfrm>
          <a:prstGeom prst="rect">
            <a:avLst/>
          </a:prstGeom>
          <a:noFill/>
          <a:ln/>
        </p:spPr>
        <p:txBody>
          <a:bodyPr wrap="square" lIns="0" tIns="0" rIns="0" bIns="0" rtlCol="0" anchor="ctr"/>
          <a:lstStyle/>
          <a:p>
            <a:pPr indent="0" marL="0">
              <a:lnSpc>
                <a:spcPct val="108000"/>
              </a:lnSpc>
              <a:buNone/>
            </a:pPr>
            <a:r>
              <a:rPr lang="en-US" sz="1200" dirty="0">
                <a:solidFill>
                  <a:srgbClr val="3A4757"/>
                </a:solidFill>
                <a:latin typeface="Calibri" pitchFamily="34" charset="0"/>
                <a:ea typeface="Calibri" pitchFamily="34" charset="-122"/>
                <a:cs typeface="Calibri" pitchFamily="34" charset="-120"/>
              </a:rPr>
              <a:t>Attribute failure risk to the configuration knobs an engineer can actually set.</a:t>
            </a:r>
            <a:endParaRPr lang="en-US" sz="1200" dirty="0"/>
          </a:p>
        </p:txBody>
      </p:sp>
      <p:sp>
        <p:nvSpPr>
          <p:cNvPr id="19" name="Shape 17"/>
          <p:cNvSpPr/>
          <p:nvPr/>
        </p:nvSpPr>
        <p:spPr>
          <a:xfrm>
            <a:off x="5916168" y="3767328"/>
            <a:ext cx="2717140" cy="2029968"/>
          </a:xfrm>
          <a:prstGeom prst="roundRect">
            <a:avLst>
              <a:gd name="adj" fmla="val 2703"/>
            </a:avLst>
          </a:prstGeom>
          <a:solidFill>
            <a:srgbClr val="FFFFFF"/>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20" name="Shape 18"/>
          <p:cNvSpPr/>
          <p:nvPr/>
        </p:nvSpPr>
        <p:spPr>
          <a:xfrm>
            <a:off x="6172200" y="4023360"/>
            <a:ext cx="329184" cy="329184"/>
          </a:xfrm>
          <a:prstGeom prst="roundRect">
            <a:avLst>
              <a:gd name="adj" fmla="val 61111"/>
            </a:avLst>
          </a:prstGeom>
          <a:solidFill>
            <a:srgbClr val="F5A524"/>
          </a:solidFill>
          <a:ln w="12700">
            <a:solidFill>
              <a:srgbClr val="F5A524"/>
            </a:solidFill>
            <a:prstDash val="solid"/>
          </a:ln>
        </p:spPr>
      </p:sp>
      <p:sp>
        <p:nvSpPr>
          <p:cNvPr id="21" name="Text 19"/>
          <p:cNvSpPr txBox="1"/>
          <p:nvPr/>
        </p:nvSpPr>
        <p:spPr>
          <a:xfrm>
            <a:off x="6172200" y="4023360"/>
            <a:ext cx="329184" cy="329184"/>
          </a:xfrm>
          <a:prstGeom prst="rect">
            <a:avLst/>
          </a:prstGeom>
          <a:noFill/>
          <a:ln/>
        </p:spPr>
        <p:txBody>
          <a:bodyPr wrap="square" lIns="0" tIns="0" rIns="0" bIns="0" rtlCol="0" anchor="ctr"/>
          <a:lstStyle/>
          <a:p>
            <a:pPr algn="ctr" indent="0" marL="0">
              <a:buNone/>
            </a:pPr>
            <a:r>
              <a:rPr lang="en-US" sz="1250" b="1" dirty="0">
                <a:solidFill>
                  <a:srgbClr val="10151C"/>
                </a:solidFill>
                <a:latin typeface="Calibri" pitchFamily="34" charset="0"/>
                <a:ea typeface="Calibri" pitchFamily="34" charset="-122"/>
                <a:cs typeface="Calibri" pitchFamily="34" charset="-120"/>
              </a:rPr>
              <a:t>03</a:t>
            </a:r>
            <a:endParaRPr lang="en-US" sz="1250" dirty="0"/>
          </a:p>
        </p:txBody>
      </p:sp>
      <p:sp>
        <p:nvSpPr>
          <p:cNvPr id="22" name="Text 20"/>
          <p:cNvSpPr txBox="1"/>
          <p:nvPr/>
        </p:nvSpPr>
        <p:spPr>
          <a:xfrm>
            <a:off x="6601968" y="4041648"/>
            <a:ext cx="1802740" cy="292608"/>
          </a:xfrm>
          <a:prstGeom prst="rect">
            <a:avLst/>
          </a:prstGeom>
          <a:noFill/>
          <a:ln/>
        </p:spPr>
        <p:txBody>
          <a:bodyPr wrap="square" lIns="0" tIns="0" rIns="0" bIns="0" rtlCol="0" anchor="ctr"/>
          <a:lstStyle/>
          <a:p>
            <a:pPr indent="0" marL="0">
              <a:buNone/>
            </a:pPr>
            <a:r>
              <a:rPr lang="en-US" sz="1500" b="1" dirty="0">
                <a:solidFill>
                  <a:srgbClr val="10151C"/>
                </a:solidFill>
                <a:latin typeface="Cambria" pitchFamily="34" charset="0"/>
                <a:ea typeface="Cambria" pitchFamily="34" charset="-122"/>
                <a:cs typeface="Cambria" pitchFamily="34" charset="-120"/>
              </a:rPr>
              <a:t>Isolate real bugs</a:t>
            </a:r>
            <a:endParaRPr lang="en-US" sz="1500" dirty="0"/>
          </a:p>
        </p:txBody>
      </p:sp>
      <p:sp>
        <p:nvSpPr>
          <p:cNvPr id="23" name="Text 21"/>
          <p:cNvSpPr txBox="1"/>
          <p:nvPr/>
        </p:nvSpPr>
        <p:spPr>
          <a:xfrm>
            <a:off x="6172200" y="4517136"/>
            <a:ext cx="2205076" cy="1097280"/>
          </a:xfrm>
          <a:prstGeom prst="rect">
            <a:avLst/>
          </a:prstGeom>
          <a:noFill/>
          <a:ln/>
        </p:spPr>
        <p:txBody>
          <a:bodyPr wrap="square" lIns="0" tIns="0" rIns="0" bIns="0" rtlCol="0" anchor="ctr"/>
          <a:lstStyle/>
          <a:p>
            <a:pPr indent="0" marL="0">
              <a:lnSpc>
                <a:spcPct val="108000"/>
              </a:lnSpc>
              <a:buNone/>
            </a:pPr>
            <a:r>
              <a:rPr lang="en-US" sz="1200" dirty="0">
                <a:solidFill>
                  <a:srgbClr val="3A4757"/>
                </a:solidFill>
                <a:latin typeface="Calibri" pitchFamily="34" charset="0"/>
                <a:ea typeface="Calibri" pitchFamily="34" charset="-122"/>
                <a:cs typeface="Calibri" pitchFamily="34" charset="-120"/>
              </a:rPr>
              <a:t>Separate deterministic RTL failures from seed-dependent noise, automatically.</a:t>
            </a:r>
            <a:endParaRPr lang="en-US" sz="1200" dirty="0"/>
          </a:p>
        </p:txBody>
      </p:sp>
      <p:sp>
        <p:nvSpPr>
          <p:cNvPr id="24" name="Shape 22"/>
          <p:cNvSpPr/>
          <p:nvPr/>
        </p:nvSpPr>
        <p:spPr>
          <a:xfrm>
            <a:off x="8907628" y="3767328"/>
            <a:ext cx="2717140" cy="2029968"/>
          </a:xfrm>
          <a:prstGeom prst="roundRect">
            <a:avLst>
              <a:gd name="adj" fmla="val 2703"/>
            </a:avLst>
          </a:prstGeom>
          <a:solidFill>
            <a:srgbClr val="FFFFFF"/>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25" name="Shape 23"/>
          <p:cNvSpPr/>
          <p:nvPr/>
        </p:nvSpPr>
        <p:spPr>
          <a:xfrm>
            <a:off x="9163660" y="4023360"/>
            <a:ext cx="329184" cy="329184"/>
          </a:xfrm>
          <a:prstGeom prst="roundRect">
            <a:avLst>
              <a:gd name="adj" fmla="val 61111"/>
            </a:avLst>
          </a:prstGeom>
          <a:solidFill>
            <a:srgbClr val="F5A524"/>
          </a:solidFill>
          <a:ln w="12700">
            <a:solidFill>
              <a:srgbClr val="F5A524"/>
            </a:solidFill>
            <a:prstDash val="solid"/>
          </a:ln>
        </p:spPr>
      </p:sp>
      <p:sp>
        <p:nvSpPr>
          <p:cNvPr id="26" name="Text 24"/>
          <p:cNvSpPr txBox="1"/>
          <p:nvPr/>
        </p:nvSpPr>
        <p:spPr>
          <a:xfrm>
            <a:off x="9163660" y="4023360"/>
            <a:ext cx="329184" cy="329184"/>
          </a:xfrm>
          <a:prstGeom prst="rect">
            <a:avLst/>
          </a:prstGeom>
          <a:noFill/>
          <a:ln/>
        </p:spPr>
        <p:txBody>
          <a:bodyPr wrap="square" lIns="0" tIns="0" rIns="0" bIns="0" rtlCol="0" anchor="ctr"/>
          <a:lstStyle/>
          <a:p>
            <a:pPr algn="ctr" indent="0" marL="0">
              <a:buNone/>
            </a:pPr>
            <a:r>
              <a:rPr lang="en-US" sz="1250" b="1" dirty="0">
                <a:solidFill>
                  <a:srgbClr val="10151C"/>
                </a:solidFill>
                <a:latin typeface="Calibri" pitchFamily="34" charset="0"/>
                <a:ea typeface="Calibri" pitchFamily="34" charset="-122"/>
                <a:cs typeface="Calibri" pitchFamily="34" charset="-120"/>
              </a:rPr>
              <a:t>04</a:t>
            </a:r>
            <a:endParaRPr lang="en-US" sz="1250" dirty="0"/>
          </a:p>
        </p:txBody>
      </p:sp>
      <p:sp>
        <p:nvSpPr>
          <p:cNvPr id="27" name="Text 25"/>
          <p:cNvSpPr txBox="1"/>
          <p:nvPr/>
        </p:nvSpPr>
        <p:spPr>
          <a:xfrm>
            <a:off x="9593428" y="4041648"/>
            <a:ext cx="1802740" cy="292608"/>
          </a:xfrm>
          <a:prstGeom prst="rect">
            <a:avLst/>
          </a:prstGeom>
          <a:noFill/>
          <a:ln/>
        </p:spPr>
        <p:txBody>
          <a:bodyPr wrap="square" lIns="0" tIns="0" rIns="0" bIns="0" rtlCol="0" anchor="ctr"/>
          <a:lstStyle/>
          <a:p>
            <a:pPr indent="0" marL="0">
              <a:buNone/>
            </a:pPr>
            <a:r>
              <a:rPr lang="en-US" sz="1500" b="1" dirty="0">
                <a:solidFill>
                  <a:srgbClr val="10151C"/>
                </a:solidFill>
                <a:latin typeface="Cambria" pitchFamily="34" charset="0"/>
                <a:ea typeface="Cambria" pitchFamily="34" charset="-122"/>
                <a:cs typeface="Cambria" pitchFamily="34" charset="-120"/>
              </a:rPr>
              <a:t>Recommend a config</a:t>
            </a:r>
            <a:endParaRPr lang="en-US" sz="1500" dirty="0"/>
          </a:p>
        </p:txBody>
      </p:sp>
      <p:sp>
        <p:nvSpPr>
          <p:cNvPr id="28" name="Text 26"/>
          <p:cNvSpPr txBox="1"/>
          <p:nvPr/>
        </p:nvSpPr>
        <p:spPr>
          <a:xfrm>
            <a:off x="9163660" y="4517136"/>
            <a:ext cx="2205076" cy="1097280"/>
          </a:xfrm>
          <a:prstGeom prst="rect">
            <a:avLst/>
          </a:prstGeom>
          <a:noFill/>
          <a:ln/>
        </p:spPr>
        <p:txBody>
          <a:bodyPr wrap="square" lIns="0" tIns="0" rIns="0" bIns="0" rtlCol="0" anchor="ctr"/>
          <a:lstStyle/>
          <a:p>
            <a:pPr indent="0" marL="0">
              <a:lnSpc>
                <a:spcPct val="108000"/>
              </a:lnSpc>
              <a:buNone/>
            </a:pPr>
            <a:r>
              <a:rPr lang="en-US" sz="1200" dirty="0">
                <a:solidFill>
                  <a:srgbClr val="3A4757"/>
                </a:solidFill>
                <a:latin typeface="Calibri" pitchFamily="34" charset="0"/>
                <a:ea typeface="Calibri" pitchFamily="34" charset="-122"/>
                <a:cs typeface="Calibri" pitchFamily="34" charset="-120"/>
              </a:rPr>
              <a:t>Maximise throughput subject to an explicit predicted-risk ceiling.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20" kern="0" dirty="0">
                <a:solidFill>
                  <a:srgbClr val="A86B12"/>
                </a:solidFill>
                <a:latin typeface="Calibri" pitchFamily="34" charset="0"/>
                <a:ea typeface="Calibri" pitchFamily="34" charset="-122"/>
                <a:cs typeface="Calibri" pitchFamily="34" charset="-120"/>
              </a:rPr>
              <a:t>SOLUTION OVERVIEW</a:t>
            </a:r>
            <a:endParaRPr lang="en-US" sz="105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300" b="1" dirty="0">
                <a:solidFill>
                  <a:srgbClr val="10151C"/>
                </a:solidFill>
                <a:latin typeface="Cambria" pitchFamily="34" charset="0"/>
                <a:ea typeface="Cambria" pitchFamily="34" charset="-122"/>
                <a:cs typeface="Cambria" pitchFamily="34" charset="-120"/>
              </a:rPr>
              <a:t>Six stages, one upload, one report</a:t>
            </a:r>
            <a:endParaRPr lang="en-US" sz="3300" dirty="0"/>
          </a:p>
        </p:txBody>
      </p:sp>
      <p:sp>
        <p:nvSpPr>
          <p:cNvPr id="4" name="Text 2"/>
          <p:cNvSpPr txBox="1"/>
          <p:nvPr/>
        </p:nvSpPr>
        <p:spPr>
          <a:xfrm>
            <a:off x="566928" y="1188720"/>
            <a:ext cx="10874959" cy="310896"/>
          </a:xfrm>
          <a:prstGeom prst="rect">
            <a:avLst/>
          </a:prstGeom>
          <a:noFill/>
          <a:ln/>
        </p:spPr>
        <p:txBody>
          <a:bodyPr wrap="square" lIns="0" tIns="0" rIns="0" bIns="0" rtlCol="0" anchor="ctr"/>
          <a:lstStyle/>
          <a:p>
            <a:pPr indent="0" marL="0">
              <a:buNone/>
            </a:pPr>
            <a:r>
              <a:rPr lang="en-US" sz="1300" dirty="0">
                <a:solidFill>
                  <a:srgbClr val="76838F"/>
                </a:solidFill>
                <a:latin typeface="Calibri" pitchFamily="34" charset="0"/>
                <a:ea typeface="Calibri" pitchFamily="34" charset="-122"/>
                <a:cs typeface="Calibri" pitchFamily="34" charset="-120"/>
              </a:rPr>
              <a:t>Drop .log files on the dashboard — the whole chain runs on a worker thread and streams progress back to the UI.</a:t>
            </a:r>
            <a:endParaRPr lang="en-US" sz="1300" dirty="0"/>
          </a:p>
        </p:txBody>
      </p:sp>
      <p:sp>
        <p:nvSpPr>
          <p:cNvPr id="5" name="Text 3"/>
          <p:cNvSpPr txBox="1"/>
          <p:nvPr/>
        </p:nvSpPr>
        <p:spPr>
          <a:xfrm>
            <a:off x="566928" y="6327648"/>
            <a:ext cx="5486400" cy="274320"/>
          </a:xfrm>
          <a:prstGeom prst="rect">
            <a:avLst/>
          </a:prstGeom>
          <a:noFill/>
          <a:ln/>
        </p:spPr>
        <p:txBody>
          <a:bodyPr wrap="square" lIns="0" tIns="0" rIns="0" bIns="0" rtlCol="0" anchor="ctr"/>
          <a:lstStyle/>
          <a:p>
            <a:pPr algn="l" indent="0" marL="0">
              <a:buNone/>
            </a:pPr>
            <a:r>
              <a:rPr lang="en-US" sz="900" dirty="0">
                <a:solidFill>
                  <a:srgbClr val="76838F"/>
                </a:solidFill>
                <a:latin typeface="Calibri" pitchFamily="34" charset="0"/>
                <a:ea typeface="Calibri" pitchFamily="34" charset="-122"/>
                <a:cs typeface="Calibri" pitchFamily="34" charset="-120"/>
              </a:rPr>
              <a:t>UVM Configuration Intelligence  ·  Team Asterix</a:t>
            </a:r>
            <a:endParaRPr lang="en-US" sz="900" dirty="0"/>
          </a:p>
        </p:txBody>
      </p:sp>
      <p:sp>
        <p:nvSpPr>
          <p:cNvPr id="6" name="Text 4"/>
          <p:cNvSpPr txBox="1"/>
          <p:nvPr/>
        </p:nvSpPr>
        <p:spPr>
          <a:xfrm>
            <a:off x="10527487" y="6327648"/>
            <a:ext cx="1097280" cy="274320"/>
          </a:xfrm>
          <a:prstGeom prst="rect">
            <a:avLst/>
          </a:prstGeom>
          <a:noFill/>
          <a:ln/>
        </p:spPr>
        <p:txBody>
          <a:bodyPr wrap="square" lIns="0" tIns="0" rIns="0" bIns="0" rtlCol="0" anchor="ctr"/>
          <a:lstStyle/>
          <a:p>
            <a:pPr algn="r" indent="0" marL="0">
              <a:buNone/>
            </a:pPr>
            <a:r>
              <a:rPr lang="en-US" sz="900" b="1" dirty="0">
                <a:solidFill>
                  <a:srgbClr val="76838F"/>
                </a:solidFill>
                <a:latin typeface="Calibri" pitchFamily="34" charset="0"/>
                <a:ea typeface="Calibri" pitchFamily="34" charset="-122"/>
                <a:cs typeface="Calibri" pitchFamily="34" charset="-120"/>
              </a:rPr>
              <a:t>03</a:t>
            </a:r>
            <a:endParaRPr lang="en-US" sz="900" dirty="0"/>
          </a:p>
        </p:txBody>
      </p:sp>
      <p:sp>
        <p:nvSpPr>
          <p:cNvPr id="7" name="Shape 5"/>
          <p:cNvSpPr/>
          <p:nvPr/>
        </p:nvSpPr>
        <p:spPr>
          <a:xfrm>
            <a:off x="566928" y="1883664"/>
            <a:ext cx="3503066" cy="1847088"/>
          </a:xfrm>
          <a:prstGeom prst="roundRect">
            <a:avLst>
              <a:gd name="adj" fmla="val 2970"/>
            </a:avLst>
          </a:prstGeom>
          <a:solidFill>
            <a:srgbClr val="F7F9FB"/>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8" name="Shape 6"/>
          <p:cNvSpPr/>
          <p:nvPr/>
        </p:nvSpPr>
        <p:spPr>
          <a:xfrm>
            <a:off x="822960" y="2121408"/>
            <a:ext cx="329184" cy="329184"/>
          </a:xfrm>
          <a:prstGeom prst="roundRect">
            <a:avLst>
              <a:gd name="adj" fmla="val 61111"/>
            </a:avLst>
          </a:prstGeom>
          <a:solidFill>
            <a:srgbClr val="F5A524"/>
          </a:solidFill>
          <a:ln w="12700">
            <a:solidFill>
              <a:srgbClr val="F5A524"/>
            </a:solidFill>
            <a:prstDash val="solid"/>
          </a:ln>
        </p:spPr>
      </p:sp>
      <p:sp>
        <p:nvSpPr>
          <p:cNvPr id="9" name="Text 7"/>
          <p:cNvSpPr txBox="1"/>
          <p:nvPr/>
        </p:nvSpPr>
        <p:spPr>
          <a:xfrm>
            <a:off x="822960" y="2121408"/>
            <a:ext cx="329184" cy="329184"/>
          </a:xfrm>
          <a:prstGeom prst="rect">
            <a:avLst/>
          </a:prstGeom>
          <a:noFill/>
          <a:ln/>
        </p:spPr>
        <p:txBody>
          <a:bodyPr wrap="square" lIns="0" tIns="0" rIns="0" bIns="0" rtlCol="0" anchor="ctr"/>
          <a:lstStyle/>
          <a:p>
            <a:pPr algn="ctr" indent="0" marL="0">
              <a:buNone/>
            </a:pPr>
            <a:r>
              <a:rPr lang="en-US" sz="1250" b="1" dirty="0">
                <a:solidFill>
                  <a:srgbClr val="10151C"/>
                </a:solidFill>
                <a:latin typeface="Calibri" pitchFamily="34" charset="0"/>
                <a:ea typeface="Calibri" pitchFamily="34" charset="-122"/>
                <a:cs typeface="Calibri" pitchFamily="34" charset="-120"/>
              </a:rPr>
              <a:t>01</a:t>
            </a:r>
            <a:endParaRPr lang="en-US" sz="1250" dirty="0"/>
          </a:p>
        </p:txBody>
      </p:sp>
      <p:sp>
        <p:nvSpPr>
          <p:cNvPr id="10" name="Text 8"/>
          <p:cNvSpPr txBox="1"/>
          <p:nvPr/>
        </p:nvSpPr>
        <p:spPr>
          <a:xfrm>
            <a:off x="1261872" y="2139696"/>
            <a:ext cx="2588666" cy="292608"/>
          </a:xfrm>
          <a:prstGeom prst="rect">
            <a:avLst/>
          </a:prstGeom>
          <a:noFill/>
          <a:ln/>
        </p:spPr>
        <p:txBody>
          <a:bodyPr wrap="square" lIns="0" tIns="0" rIns="0" bIns="0" rtlCol="0" anchor="ctr"/>
          <a:lstStyle/>
          <a:p>
            <a:pPr indent="0" marL="0">
              <a:buNone/>
            </a:pPr>
            <a:r>
              <a:rPr lang="en-US" sz="1500" b="1" dirty="0">
                <a:solidFill>
                  <a:srgbClr val="10151C"/>
                </a:solidFill>
                <a:latin typeface="Cambria" pitchFamily="34" charset="0"/>
                <a:ea typeface="Cambria" pitchFamily="34" charset="-122"/>
                <a:cs typeface="Cambria" pitchFamily="34" charset="-120"/>
              </a:rPr>
              <a:t>Log ingestion</a:t>
            </a:r>
            <a:endParaRPr lang="en-US" sz="1500" dirty="0"/>
          </a:p>
        </p:txBody>
      </p:sp>
      <p:sp>
        <p:nvSpPr>
          <p:cNvPr id="11" name="Text 9"/>
          <p:cNvSpPr txBox="1"/>
          <p:nvPr/>
        </p:nvSpPr>
        <p:spPr>
          <a:xfrm>
            <a:off x="822960" y="2615184"/>
            <a:ext cx="2991002" cy="1005840"/>
          </a:xfrm>
          <a:prstGeom prst="rect">
            <a:avLst/>
          </a:prstGeom>
          <a:noFill/>
          <a:ln/>
        </p:spPr>
        <p:txBody>
          <a:bodyPr wrap="square" lIns="0" tIns="0" rIns="0" bIns="0" rtlCol="0" anchor="ctr"/>
          <a:lstStyle/>
          <a:p>
            <a:pPr indent="0" marL="0">
              <a:lnSpc>
                <a:spcPct val="106000"/>
              </a:lnSpc>
              <a:buNone/>
            </a:pPr>
            <a:r>
              <a:rPr lang="en-US" sz="1150" dirty="0">
                <a:solidFill>
                  <a:srgbClr val="3A4757"/>
                </a:solidFill>
                <a:latin typeface="Calibri" pitchFamily="34" charset="0"/>
                <a:ea typeface="Calibri" pitchFamily="34" charset="-122"/>
                <a:cs typeface="Calibri" pitchFamily="34" charset="-120"/>
              </a:rPr>
              <a:t>Single-pass parser with startswith guards ahead of any regex. 1,015,872 lines in 2.0 s, zero malformed blocks.</a:t>
            </a:r>
            <a:endParaRPr lang="en-US" sz="1150" dirty="0"/>
          </a:p>
        </p:txBody>
      </p:sp>
      <p:sp>
        <p:nvSpPr>
          <p:cNvPr id="12" name="Shape 10"/>
          <p:cNvSpPr/>
          <p:nvPr/>
        </p:nvSpPr>
        <p:spPr>
          <a:xfrm>
            <a:off x="4344314" y="1883664"/>
            <a:ext cx="3503066" cy="1847088"/>
          </a:xfrm>
          <a:prstGeom prst="roundRect">
            <a:avLst>
              <a:gd name="adj" fmla="val 2970"/>
            </a:avLst>
          </a:prstGeom>
          <a:solidFill>
            <a:srgbClr val="F7F9FB"/>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13" name="Shape 11"/>
          <p:cNvSpPr/>
          <p:nvPr/>
        </p:nvSpPr>
        <p:spPr>
          <a:xfrm>
            <a:off x="4600346" y="2121408"/>
            <a:ext cx="329184" cy="329184"/>
          </a:xfrm>
          <a:prstGeom prst="roundRect">
            <a:avLst>
              <a:gd name="adj" fmla="val 61111"/>
            </a:avLst>
          </a:prstGeom>
          <a:solidFill>
            <a:srgbClr val="F5A524"/>
          </a:solidFill>
          <a:ln w="12700">
            <a:solidFill>
              <a:srgbClr val="F5A524"/>
            </a:solidFill>
            <a:prstDash val="solid"/>
          </a:ln>
        </p:spPr>
      </p:sp>
      <p:sp>
        <p:nvSpPr>
          <p:cNvPr id="14" name="Text 12"/>
          <p:cNvSpPr txBox="1"/>
          <p:nvPr/>
        </p:nvSpPr>
        <p:spPr>
          <a:xfrm>
            <a:off x="4600346" y="2121408"/>
            <a:ext cx="329184" cy="329184"/>
          </a:xfrm>
          <a:prstGeom prst="rect">
            <a:avLst/>
          </a:prstGeom>
          <a:noFill/>
          <a:ln/>
        </p:spPr>
        <p:txBody>
          <a:bodyPr wrap="square" lIns="0" tIns="0" rIns="0" bIns="0" rtlCol="0" anchor="ctr"/>
          <a:lstStyle/>
          <a:p>
            <a:pPr algn="ctr" indent="0" marL="0">
              <a:buNone/>
            </a:pPr>
            <a:r>
              <a:rPr lang="en-US" sz="1250" b="1" dirty="0">
                <a:solidFill>
                  <a:srgbClr val="10151C"/>
                </a:solidFill>
                <a:latin typeface="Calibri" pitchFamily="34" charset="0"/>
                <a:ea typeface="Calibri" pitchFamily="34" charset="-122"/>
                <a:cs typeface="Calibri" pitchFamily="34" charset="-120"/>
              </a:rPr>
              <a:t>02</a:t>
            </a:r>
            <a:endParaRPr lang="en-US" sz="1250" dirty="0"/>
          </a:p>
        </p:txBody>
      </p:sp>
      <p:sp>
        <p:nvSpPr>
          <p:cNvPr id="15" name="Text 13"/>
          <p:cNvSpPr txBox="1"/>
          <p:nvPr/>
        </p:nvSpPr>
        <p:spPr>
          <a:xfrm>
            <a:off x="5039258" y="2139696"/>
            <a:ext cx="2588666" cy="292608"/>
          </a:xfrm>
          <a:prstGeom prst="rect">
            <a:avLst/>
          </a:prstGeom>
          <a:noFill/>
          <a:ln/>
        </p:spPr>
        <p:txBody>
          <a:bodyPr wrap="square" lIns="0" tIns="0" rIns="0" bIns="0" rtlCol="0" anchor="ctr"/>
          <a:lstStyle/>
          <a:p>
            <a:pPr indent="0" marL="0">
              <a:buNone/>
            </a:pPr>
            <a:r>
              <a:rPr lang="en-US" sz="1500" b="1" dirty="0">
                <a:solidFill>
                  <a:srgbClr val="10151C"/>
                </a:solidFill>
                <a:latin typeface="Cambria" pitchFamily="34" charset="0"/>
                <a:ea typeface="Cambria" pitchFamily="34" charset="-122"/>
                <a:cs typeface="Cambria" pitchFamily="34" charset="-120"/>
              </a:rPr>
              <a:t>Failure-risk model</a:t>
            </a:r>
            <a:endParaRPr lang="en-US" sz="1500" dirty="0"/>
          </a:p>
        </p:txBody>
      </p:sp>
      <p:sp>
        <p:nvSpPr>
          <p:cNvPr id="16" name="Text 14"/>
          <p:cNvSpPr txBox="1"/>
          <p:nvPr/>
        </p:nvSpPr>
        <p:spPr>
          <a:xfrm>
            <a:off x="4600346" y="2615184"/>
            <a:ext cx="2991002" cy="1005840"/>
          </a:xfrm>
          <a:prstGeom prst="rect">
            <a:avLst/>
          </a:prstGeom>
          <a:noFill/>
          <a:ln/>
        </p:spPr>
        <p:txBody>
          <a:bodyPr wrap="square" lIns="0" tIns="0" rIns="0" bIns="0" rtlCol="0" anchor="ctr"/>
          <a:lstStyle/>
          <a:p>
            <a:pPr indent="0" marL="0">
              <a:lnSpc>
                <a:spcPct val="106000"/>
              </a:lnSpc>
              <a:buNone/>
            </a:pPr>
            <a:r>
              <a:rPr lang="en-US" sz="1150" dirty="0">
                <a:solidFill>
                  <a:srgbClr val="3A4757"/>
                </a:solidFill>
                <a:latin typeface="Calibri" pitchFamily="34" charset="0"/>
                <a:ea typeface="Calibri" pitchFamily="34" charset="-122"/>
                <a:cs typeface="Calibri" pitchFamily="34" charset="-120"/>
              </a:rPr>
              <a:t>LightGBM on configuration knobs only, explained with SHAP TreeExplainer. Global ranking plus per-value attribution.</a:t>
            </a:r>
            <a:endParaRPr lang="en-US" sz="1150" dirty="0"/>
          </a:p>
        </p:txBody>
      </p:sp>
      <p:sp>
        <p:nvSpPr>
          <p:cNvPr id="17" name="Shape 15"/>
          <p:cNvSpPr/>
          <p:nvPr/>
        </p:nvSpPr>
        <p:spPr>
          <a:xfrm>
            <a:off x="8121701" y="1883664"/>
            <a:ext cx="3503066" cy="1847088"/>
          </a:xfrm>
          <a:prstGeom prst="roundRect">
            <a:avLst>
              <a:gd name="adj" fmla="val 2970"/>
            </a:avLst>
          </a:prstGeom>
          <a:solidFill>
            <a:srgbClr val="F7F9FB"/>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18" name="Shape 16"/>
          <p:cNvSpPr/>
          <p:nvPr/>
        </p:nvSpPr>
        <p:spPr>
          <a:xfrm>
            <a:off x="8377733" y="2121408"/>
            <a:ext cx="329184" cy="329184"/>
          </a:xfrm>
          <a:prstGeom prst="roundRect">
            <a:avLst>
              <a:gd name="adj" fmla="val 61111"/>
            </a:avLst>
          </a:prstGeom>
          <a:solidFill>
            <a:srgbClr val="F5A524"/>
          </a:solidFill>
          <a:ln w="12700">
            <a:solidFill>
              <a:srgbClr val="F5A524"/>
            </a:solidFill>
            <a:prstDash val="solid"/>
          </a:ln>
        </p:spPr>
      </p:sp>
      <p:sp>
        <p:nvSpPr>
          <p:cNvPr id="19" name="Text 17"/>
          <p:cNvSpPr txBox="1"/>
          <p:nvPr/>
        </p:nvSpPr>
        <p:spPr>
          <a:xfrm>
            <a:off x="8377733" y="2121408"/>
            <a:ext cx="329184" cy="329184"/>
          </a:xfrm>
          <a:prstGeom prst="rect">
            <a:avLst/>
          </a:prstGeom>
          <a:noFill/>
          <a:ln/>
        </p:spPr>
        <p:txBody>
          <a:bodyPr wrap="square" lIns="0" tIns="0" rIns="0" bIns="0" rtlCol="0" anchor="ctr"/>
          <a:lstStyle/>
          <a:p>
            <a:pPr algn="ctr" indent="0" marL="0">
              <a:buNone/>
            </a:pPr>
            <a:r>
              <a:rPr lang="en-US" sz="1250" b="1" dirty="0">
                <a:solidFill>
                  <a:srgbClr val="10151C"/>
                </a:solidFill>
                <a:latin typeface="Calibri" pitchFamily="34" charset="0"/>
                <a:ea typeface="Calibri" pitchFamily="34" charset="-122"/>
                <a:cs typeface="Calibri" pitchFamily="34" charset="-120"/>
              </a:rPr>
              <a:t>03</a:t>
            </a:r>
            <a:endParaRPr lang="en-US" sz="1250" dirty="0"/>
          </a:p>
        </p:txBody>
      </p:sp>
      <p:sp>
        <p:nvSpPr>
          <p:cNvPr id="20" name="Text 18"/>
          <p:cNvSpPr txBox="1"/>
          <p:nvPr/>
        </p:nvSpPr>
        <p:spPr>
          <a:xfrm>
            <a:off x="8816645" y="2139696"/>
            <a:ext cx="2588666" cy="292608"/>
          </a:xfrm>
          <a:prstGeom prst="rect">
            <a:avLst/>
          </a:prstGeom>
          <a:noFill/>
          <a:ln/>
        </p:spPr>
        <p:txBody>
          <a:bodyPr wrap="square" lIns="0" tIns="0" rIns="0" bIns="0" rtlCol="0" anchor="ctr"/>
          <a:lstStyle/>
          <a:p>
            <a:pPr indent="0" marL="0">
              <a:buNone/>
            </a:pPr>
            <a:r>
              <a:rPr lang="en-US" sz="1500" b="1" dirty="0">
                <a:solidFill>
                  <a:srgbClr val="10151C"/>
                </a:solidFill>
                <a:latin typeface="Cambria" pitchFamily="34" charset="0"/>
                <a:ea typeface="Cambria" pitchFamily="34" charset="-122"/>
                <a:cs typeface="Cambria" pitchFamily="34" charset="-120"/>
              </a:rPr>
              <a:t>Failure fingerprinting</a:t>
            </a:r>
            <a:endParaRPr lang="en-US" sz="1500" dirty="0"/>
          </a:p>
        </p:txBody>
      </p:sp>
      <p:sp>
        <p:nvSpPr>
          <p:cNvPr id="21" name="Text 19"/>
          <p:cNvSpPr txBox="1"/>
          <p:nvPr/>
        </p:nvSpPr>
        <p:spPr>
          <a:xfrm>
            <a:off x="8377733" y="2615184"/>
            <a:ext cx="2991002" cy="1005840"/>
          </a:xfrm>
          <a:prstGeom prst="rect">
            <a:avLst/>
          </a:prstGeom>
          <a:noFill/>
          <a:ln/>
        </p:spPr>
        <p:txBody>
          <a:bodyPr wrap="square" lIns="0" tIns="0" rIns="0" bIns="0" rtlCol="0" anchor="ctr"/>
          <a:lstStyle/>
          <a:p>
            <a:pPr indent="0" marL="0">
              <a:lnSpc>
                <a:spcPct val="106000"/>
              </a:lnSpc>
              <a:buNone/>
            </a:pPr>
            <a:r>
              <a:rPr lang="en-US" sz="1150" dirty="0">
                <a:solidFill>
                  <a:srgbClr val="3A4757"/>
                </a:solidFill>
                <a:latin typeface="Calibri" pitchFamily="34" charset="0"/>
                <a:ea typeface="Calibri" pitchFamily="34" charset="-122"/>
                <a:cs typeface="Calibri" pitchFamily="34" charset="-120"/>
              </a:rPr>
              <a:t>Error text masked to seed-invariant templates, TF-IDF + DBSCAN clustering, determinism score per cluster.</a:t>
            </a:r>
            <a:endParaRPr lang="en-US" sz="1150" dirty="0"/>
          </a:p>
        </p:txBody>
      </p:sp>
      <p:sp>
        <p:nvSpPr>
          <p:cNvPr id="22" name="Shape 20"/>
          <p:cNvSpPr/>
          <p:nvPr/>
        </p:nvSpPr>
        <p:spPr>
          <a:xfrm>
            <a:off x="566928" y="3968496"/>
            <a:ext cx="3503066" cy="1847088"/>
          </a:xfrm>
          <a:prstGeom prst="roundRect">
            <a:avLst>
              <a:gd name="adj" fmla="val 2970"/>
            </a:avLst>
          </a:prstGeom>
          <a:solidFill>
            <a:srgbClr val="F7F9FB"/>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23" name="Shape 21"/>
          <p:cNvSpPr/>
          <p:nvPr/>
        </p:nvSpPr>
        <p:spPr>
          <a:xfrm>
            <a:off x="822960" y="4206240"/>
            <a:ext cx="329184" cy="329184"/>
          </a:xfrm>
          <a:prstGeom prst="roundRect">
            <a:avLst>
              <a:gd name="adj" fmla="val 61111"/>
            </a:avLst>
          </a:prstGeom>
          <a:solidFill>
            <a:srgbClr val="1FB6A6"/>
          </a:solidFill>
          <a:ln w="12700">
            <a:solidFill>
              <a:srgbClr val="1FB6A6"/>
            </a:solidFill>
            <a:prstDash val="solid"/>
          </a:ln>
        </p:spPr>
      </p:sp>
      <p:sp>
        <p:nvSpPr>
          <p:cNvPr id="24" name="Text 22"/>
          <p:cNvSpPr txBox="1"/>
          <p:nvPr/>
        </p:nvSpPr>
        <p:spPr>
          <a:xfrm>
            <a:off x="822960" y="4206240"/>
            <a:ext cx="329184" cy="329184"/>
          </a:xfrm>
          <a:prstGeom prst="rect">
            <a:avLst/>
          </a:prstGeom>
          <a:noFill/>
          <a:ln/>
        </p:spPr>
        <p:txBody>
          <a:bodyPr wrap="square" lIns="0" tIns="0" rIns="0" bIns="0" rtlCol="0" anchor="ctr"/>
          <a:lstStyle/>
          <a:p>
            <a:pPr algn="ctr" indent="0" marL="0">
              <a:buNone/>
            </a:pPr>
            <a:r>
              <a:rPr lang="en-US" sz="1250" b="1" dirty="0">
                <a:solidFill>
                  <a:srgbClr val="10151C"/>
                </a:solidFill>
                <a:latin typeface="Calibri" pitchFamily="34" charset="0"/>
                <a:ea typeface="Calibri" pitchFamily="34" charset="-122"/>
                <a:cs typeface="Calibri" pitchFamily="34" charset="-120"/>
              </a:rPr>
              <a:t>04</a:t>
            </a:r>
            <a:endParaRPr lang="en-US" sz="1250" dirty="0"/>
          </a:p>
        </p:txBody>
      </p:sp>
      <p:sp>
        <p:nvSpPr>
          <p:cNvPr id="25" name="Text 23"/>
          <p:cNvSpPr txBox="1"/>
          <p:nvPr/>
        </p:nvSpPr>
        <p:spPr>
          <a:xfrm>
            <a:off x="1261872" y="4224528"/>
            <a:ext cx="2588666" cy="292608"/>
          </a:xfrm>
          <a:prstGeom prst="rect">
            <a:avLst/>
          </a:prstGeom>
          <a:noFill/>
          <a:ln/>
        </p:spPr>
        <p:txBody>
          <a:bodyPr wrap="square" lIns="0" tIns="0" rIns="0" bIns="0" rtlCol="0" anchor="ctr"/>
          <a:lstStyle/>
          <a:p>
            <a:pPr indent="0" marL="0">
              <a:buNone/>
            </a:pPr>
            <a:r>
              <a:rPr lang="en-US" sz="1500" b="1" dirty="0">
                <a:solidFill>
                  <a:srgbClr val="10151C"/>
                </a:solidFill>
                <a:latin typeface="Cambria" pitchFamily="34" charset="0"/>
                <a:ea typeface="Cambria" pitchFamily="34" charset="-122"/>
                <a:cs typeface="Cambria" pitchFamily="34" charset="-120"/>
              </a:rPr>
              <a:t>Trade-off frontier</a:t>
            </a:r>
            <a:endParaRPr lang="en-US" sz="1500" dirty="0"/>
          </a:p>
        </p:txBody>
      </p:sp>
      <p:sp>
        <p:nvSpPr>
          <p:cNvPr id="26" name="Text 24"/>
          <p:cNvSpPr txBox="1"/>
          <p:nvPr/>
        </p:nvSpPr>
        <p:spPr>
          <a:xfrm>
            <a:off x="822960" y="4700016"/>
            <a:ext cx="2991002" cy="1005840"/>
          </a:xfrm>
          <a:prstGeom prst="rect">
            <a:avLst/>
          </a:prstGeom>
          <a:noFill/>
          <a:ln/>
        </p:spPr>
        <p:txBody>
          <a:bodyPr wrap="square" lIns="0" tIns="0" rIns="0" bIns="0" rtlCol="0" anchor="ctr"/>
          <a:lstStyle/>
          <a:p>
            <a:pPr indent="0" marL="0">
              <a:lnSpc>
                <a:spcPct val="106000"/>
              </a:lnSpc>
              <a:buNone/>
            </a:pPr>
            <a:r>
              <a:rPr lang="en-US" sz="1150" dirty="0">
                <a:solidFill>
                  <a:srgbClr val="3A4757"/>
                </a:solidFill>
                <a:latin typeface="Calibri" pitchFamily="34" charset="0"/>
                <a:ea typeface="Calibri" pitchFamily="34" charset="-122"/>
                <a:cs typeface="Calibri" pitchFamily="34" charset="-120"/>
              </a:rPr>
              <a:t>Pareto frontier over throughput versus predicted risk, grouped on the top SHAP-ranked discrete settings.</a:t>
            </a:r>
            <a:endParaRPr lang="en-US" sz="1150" dirty="0"/>
          </a:p>
        </p:txBody>
      </p:sp>
      <p:sp>
        <p:nvSpPr>
          <p:cNvPr id="27" name="Shape 25"/>
          <p:cNvSpPr/>
          <p:nvPr/>
        </p:nvSpPr>
        <p:spPr>
          <a:xfrm>
            <a:off x="4344314" y="3968496"/>
            <a:ext cx="3503066" cy="1847088"/>
          </a:xfrm>
          <a:prstGeom prst="roundRect">
            <a:avLst>
              <a:gd name="adj" fmla="val 2970"/>
            </a:avLst>
          </a:prstGeom>
          <a:solidFill>
            <a:srgbClr val="F7F9FB"/>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28" name="Shape 26"/>
          <p:cNvSpPr/>
          <p:nvPr/>
        </p:nvSpPr>
        <p:spPr>
          <a:xfrm>
            <a:off x="4600346" y="4206240"/>
            <a:ext cx="329184" cy="329184"/>
          </a:xfrm>
          <a:prstGeom prst="roundRect">
            <a:avLst>
              <a:gd name="adj" fmla="val 61111"/>
            </a:avLst>
          </a:prstGeom>
          <a:solidFill>
            <a:srgbClr val="1FB6A6"/>
          </a:solidFill>
          <a:ln w="12700">
            <a:solidFill>
              <a:srgbClr val="1FB6A6"/>
            </a:solidFill>
            <a:prstDash val="solid"/>
          </a:ln>
        </p:spPr>
      </p:sp>
      <p:sp>
        <p:nvSpPr>
          <p:cNvPr id="29" name="Text 27"/>
          <p:cNvSpPr txBox="1"/>
          <p:nvPr/>
        </p:nvSpPr>
        <p:spPr>
          <a:xfrm>
            <a:off x="4600346" y="4206240"/>
            <a:ext cx="329184" cy="329184"/>
          </a:xfrm>
          <a:prstGeom prst="rect">
            <a:avLst/>
          </a:prstGeom>
          <a:noFill/>
          <a:ln/>
        </p:spPr>
        <p:txBody>
          <a:bodyPr wrap="square" lIns="0" tIns="0" rIns="0" bIns="0" rtlCol="0" anchor="ctr"/>
          <a:lstStyle/>
          <a:p>
            <a:pPr algn="ctr" indent="0" marL="0">
              <a:buNone/>
            </a:pPr>
            <a:r>
              <a:rPr lang="en-US" sz="1250" b="1" dirty="0">
                <a:solidFill>
                  <a:srgbClr val="10151C"/>
                </a:solidFill>
                <a:latin typeface="Calibri" pitchFamily="34" charset="0"/>
                <a:ea typeface="Calibri" pitchFamily="34" charset="-122"/>
                <a:cs typeface="Calibri" pitchFamily="34" charset="-120"/>
              </a:rPr>
              <a:t>05</a:t>
            </a:r>
            <a:endParaRPr lang="en-US" sz="1250" dirty="0"/>
          </a:p>
        </p:txBody>
      </p:sp>
      <p:sp>
        <p:nvSpPr>
          <p:cNvPr id="30" name="Text 28"/>
          <p:cNvSpPr txBox="1"/>
          <p:nvPr/>
        </p:nvSpPr>
        <p:spPr>
          <a:xfrm>
            <a:off x="5039258" y="4224528"/>
            <a:ext cx="2588666" cy="292608"/>
          </a:xfrm>
          <a:prstGeom prst="rect">
            <a:avLst/>
          </a:prstGeom>
          <a:noFill/>
          <a:ln/>
        </p:spPr>
        <p:txBody>
          <a:bodyPr wrap="square" lIns="0" tIns="0" rIns="0" bIns="0" rtlCol="0" anchor="ctr"/>
          <a:lstStyle/>
          <a:p>
            <a:pPr indent="0" marL="0">
              <a:buNone/>
            </a:pPr>
            <a:r>
              <a:rPr lang="en-US" sz="1500" b="1" dirty="0">
                <a:solidFill>
                  <a:srgbClr val="10151C"/>
                </a:solidFill>
                <a:latin typeface="Cambria" pitchFamily="34" charset="0"/>
                <a:ea typeface="Cambria" pitchFamily="34" charset="-122"/>
                <a:cs typeface="Cambria" pitchFamily="34" charset="-120"/>
              </a:rPr>
              <a:t>Recommender</a:t>
            </a:r>
            <a:endParaRPr lang="en-US" sz="1500" dirty="0"/>
          </a:p>
        </p:txBody>
      </p:sp>
      <p:sp>
        <p:nvSpPr>
          <p:cNvPr id="31" name="Text 29"/>
          <p:cNvSpPr txBox="1"/>
          <p:nvPr/>
        </p:nvSpPr>
        <p:spPr>
          <a:xfrm>
            <a:off x="4600346" y="4700016"/>
            <a:ext cx="2991002" cy="1005840"/>
          </a:xfrm>
          <a:prstGeom prst="rect">
            <a:avLst/>
          </a:prstGeom>
          <a:noFill/>
          <a:ln/>
        </p:spPr>
        <p:txBody>
          <a:bodyPr wrap="square" lIns="0" tIns="0" rIns="0" bIns="0" rtlCol="0" anchor="ctr"/>
          <a:lstStyle/>
          <a:p>
            <a:pPr indent="0" marL="0">
              <a:lnSpc>
                <a:spcPct val="106000"/>
              </a:lnSpc>
              <a:buNone/>
            </a:pPr>
            <a:r>
              <a:rPr lang="en-US" sz="1150" dirty="0">
                <a:solidFill>
                  <a:srgbClr val="3A4757"/>
                </a:solidFill>
                <a:latin typeface="Calibri" pitchFamily="34" charset="0"/>
                <a:ea typeface="Calibri" pitchFamily="34" charset="-122"/>
                <a:cs typeface="Calibri" pitchFamily="34" charset="-120"/>
              </a:rPr>
              <a:t>Optuna TPE over two surrogates — risk classifier and pass-only throughput regressor — under a 2 % risk ceiling.</a:t>
            </a:r>
            <a:endParaRPr lang="en-US" sz="1150" dirty="0"/>
          </a:p>
        </p:txBody>
      </p:sp>
      <p:sp>
        <p:nvSpPr>
          <p:cNvPr id="32" name="Shape 30"/>
          <p:cNvSpPr/>
          <p:nvPr/>
        </p:nvSpPr>
        <p:spPr>
          <a:xfrm>
            <a:off x="8121701" y="3968496"/>
            <a:ext cx="3503066" cy="1847088"/>
          </a:xfrm>
          <a:prstGeom prst="roundRect">
            <a:avLst>
              <a:gd name="adj" fmla="val 2970"/>
            </a:avLst>
          </a:prstGeom>
          <a:solidFill>
            <a:srgbClr val="F7F9FB"/>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33" name="Shape 31"/>
          <p:cNvSpPr/>
          <p:nvPr/>
        </p:nvSpPr>
        <p:spPr>
          <a:xfrm>
            <a:off x="8377733" y="4206240"/>
            <a:ext cx="329184" cy="329184"/>
          </a:xfrm>
          <a:prstGeom prst="roundRect">
            <a:avLst>
              <a:gd name="adj" fmla="val 61111"/>
            </a:avLst>
          </a:prstGeom>
          <a:solidFill>
            <a:srgbClr val="1FB6A6"/>
          </a:solidFill>
          <a:ln w="12700">
            <a:solidFill>
              <a:srgbClr val="1FB6A6"/>
            </a:solidFill>
            <a:prstDash val="solid"/>
          </a:ln>
        </p:spPr>
      </p:sp>
      <p:sp>
        <p:nvSpPr>
          <p:cNvPr id="34" name="Text 32"/>
          <p:cNvSpPr txBox="1"/>
          <p:nvPr/>
        </p:nvSpPr>
        <p:spPr>
          <a:xfrm>
            <a:off x="8377733" y="4206240"/>
            <a:ext cx="329184" cy="329184"/>
          </a:xfrm>
          <a:prstGeom prst="rect">
            <a:avLst/>
          </a:prstGeom>
          <a:noFill/>
          <a:ln/>
        </p:spPr>
        <p:txBody>
          <a:bodyPr wrap="square" lIns="0" tIns="0" rIns="0" bIns="0" rtlCol="0" anchor="ctr"/>
          <a:lstStyle/>
          <a:p>
            <a:pPr algn="ctr" indent="0" marL="0">
              <a:buNone/>
            </a:pPr>
            <a:r>
              <a:rPr lang="en-US" sz="1250" b="1" dirty="0">
                <a:solidFill>
                  <a:srgbClr val="10151C"/>
                </a:solidFill>
                <a:latin typeface="Calibri" pitchFamily="34" charset="0"/>
                <a:ea typeface="Calibri" pitchFamily="34" charset="-122"/>
                <a:cs typeface="Calibri" pitchFamily="34" charset="-120"/>
              </a:rPr>
              <a:t>06</a:t>
            </a:r>
            <a:endParaRPr lang="en-US" sz="1250" dirty="0"/>
          </a:p>
        </p:txBody>
      </p:sp>
      <p:sp>
        <p:nvSpPr>
          <p:cNvPr id="35" name="Text 33"/>
          <p:cNvSpPr txBox="1"/>
          <p:nvPr/>
        </p:nvSpPr>
        <p:spPr>
          <a:xfrm>
            <a:off x="8816645" y="4224528"/>
            <a:ext cx="2588666" cy="292608"/>
          </a:xfrm>
          <a:prstGeom prst="rect">
            <a:avLst/>
          </a:prstGeom>
          <a:noFill/>
          <a:ln/>
        </p:spPr>
        <p:txBody>
          <a:bodyPr wrap="square" lIns="0" tIns="0" rIns="0" bIns="0" rtlCol="0" anchor="ctr"/>
          <a:lstStyle/>
          <a:p>
            <a:pPr indent="0" marL="0">
              <a:buNone/>
            </a:pPr>
            <a:r>
              <a:rPr lang="en-US" sz="1500" b="1" dirty="0">
                <a:solidFill>
                  <a:srgbClr val="10151C"/>
                </a:solidFill>
                <a:latin typeface="Cambria" pitchFamily="34" charset="0"/>
                <a:ea typeface="Cambria" pitchFamily="34" charset="-122"/>
                <a:cs typeface="Cambria" pitchFamily="34" charset="-120"/>
              </a:rPr>
              <a:t>Config diff</a:t>
            </a:r>
            <a:endParaRPr lang="en-US" sz="1500" dirty="0"/>
          </a:p>
        </p:txBody>
      </p:sp>
      <p:sp>
        <p:nvSpPr>
          <p:cNvPr id="36" name="Text 34"/>
          <p:cNvSpPr txBox="1"/>
          <p:nvPr/>
        </p:nvSpPr>
        <p:spPr>
          <a:xfrm>
            <a:off x="8377733" y="4700016"/>
            <a:ext cx="2991002" cy="1005840"/>
          </a:xfrm>
          <a:prstGeom prst="rect">
            <a:avLst/>
          </a:prstGeom>
          <a:noFill/>
          <a:ln/>
        </p:spPr>
        <p:txBody>
          <a:bodyPr wrap="square" lIns="0" tIns="0" rIns="0" bIns="0" rtlCol="0" anchor="ctr"/>
          <a:lstStyle/>
          <a:p>
            <a:pPr indent="0" marL="0">
              <a:lnSpc>
                <a:spcPct val="106000"/>
              </a:lnSpc>
              <a:buNone/>
            </a:pPr>
            <a:r>
              <a:rPr lang="en-US" sz="1150" dirty="0">
                <a:solidFill>
                  <a:srgbClr val="3A4757"/>
                </a:solidFill>
                <a:latin typeface="Calibri" pitchFamily="34" charset="0"/>
                <a:ea typeface="Calibri" pitchFamily="34" charset="-122"/>
                <a:cs typeface="Calibri" pitchFamily="34" charset="-120"/>
              </a:rPr>
              <a:t>Aggregate pass/fail distribution shift plus nearest-twin diffing that names the exact settings that flipped.</a:t>
            </a:r>
            <a:endParaRPr lang="en-US" sz="1150" dirty="0"/>
          </a:p>
        </p:txBody>
      </p:sp>
      <p:sp>
        <p:nvSpPr>
          <p:cNvPr id="37" name="Text 35"/>
          <p:cNvSpPr txBox="1"/>
          <p:nvPr/>
        </p:nvSpPr>
        <p:spPr>
          <a:xfrm>
            <a:off x="566928" y="5870448"/>
            <a:ext cx="11057839" cy="310896"/>
          </a:xfrm>
          <a:prstGeom prst="rect">
            <a:avLst/>
          </a:prstGeom>
          <a:noFill/>
          <a:ln/>
        </p:spPr>
        <p:txBody>
          <a:bodyPr wrap="square" lIns="0" tIns="0" rIns="0" bIns="0" rtlCol="0" anchor="ctr"/>
          <a:lstStyle/>
          <a:p>
            <a:pPr indent="0" marL="0">
              <a:buNone/>
            </a:pPr>
            <a:r>
              <a:rPr lang="en-US" sz="1200" i="1" dirty="0">
                <a:solidFill>
                  <a:srgbClr val="A86B12"/>
                </a:solidFill>
                <a:latin typeface="Calibri" pitchFamily="34" charset="0"/>
                <a:ea typeface="Calibri" pitchFamily="34" charset="-122"/>
                <a:cs typeface="Calibri" pitchFamily="34" charset="-120"/>
              </a:rPr>
              <a:t>Every stage is wrapped independently — if one fails, the rest of the report still renders and the failure is recorded in the stage log rather than killing the job.</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51C"/>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20" kern="0" dirty="0">
                <a:solidFill>
                  <a:srgbClr val="F5A524"/>
                </a:solidFill>
                <a:latin typeface="Calibri" pitchFamily="34" charset="0"/>
                <a:ea typeface="Calibri" pitchFamily="34" charset="-122"/>
                <a:cs typeface="Calibri" pitchFamily="34" charset="-120"/>
              </a:rPr>
              <a:t>SYSTEM ARCHITECTURE</a:t>
            </a:r>
            <a:endParaRPr lang="en-US" sz="105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Upload → parse → fan-out → one JSON payload</a:t>
            </a:r>
            <a:endParaRPr lang="en-US" sz="3300" dirty="0"/>
          </a:p>
        </p:txBody>
      </p:sp>
      <p:sp>
        <p:nvSpPr>
          <p:cNvPr id="4" name="Text 2"/>
          <p:cNvSpPr txBox="1"/>
          <p:nvPr/>
        </p:nvSpPr>
        <p:spPr>
          <a:xfrm>
            <a:off x="566928" y="6327648"/>
            <a:ext cx="5486400" cy="274320"/>
          </a:xfrm>
          <a:prstGeom prst="rect">
            <a:avLst/>
          </a:prstGeom>
          <a:noFill/>
          <a:ln/>
        </p:spPr>
        <p:txBody>
          <a:bodyPr wrap="square" lIns="0" tIns="0" rIns="0" bIns="0" rtlCol="0" anchor="ctr"/>
          <a:lstStyle/>
          <a:p>
            <a:pPr algn="l" indent="0" marL="0">
              <a:buNone/>
            </a:pPr>
            <a:r>
              <a:rPr lang="en-US" sz="900" dirty="0">
                <a:solidFill>
                  <a:srgbClr val="5A6875"/>
                </a:solidFill>
                <a:latin typeface="Calibri" pitchFamily="34" charset="0"/>
                <a:ea typeface="Calibri" pitchFamily="34" charset="-122"/>
                <a:cs typeface="Calibri" pitchFamily="34" charset="-120"/>
              </a:rPr>
              <a:t>UVM Configuration Intelligence  ·  Team Asterix</a:t>
            </a:r>
            <a:endParaRPr lang="en-US" sz="900" dirty="0"/>
          </a:p>
        </p:txBody>
      </p:sp>
      <p:sp>
        <p:nvSpPr>
          <p:cNvPr id="5" name="Text 3"/>
          <p:cNvSpPr txBox="1"/>
          <p:nvPr/>
        </p:nvSpPr>
        <p:spPr>
          <a:xfrm>
            <a:off x="10527487" y="6327648"/>
            <a:ext cx="1097280" cy="274320"/>
          </a:xfrm>
          <a:prstGeom prst="rect">
            <a:avLst/>
          </a:prstGeom>
          <a:noFill/>
          <a:ln/>
        </p:spPr>
        <p:txBody>
          <a:bodyPr wrap="square" lIns="0" tIns="0" rIns="0" bIns="0" rtlCol="0" anchor="ctr"/>
          <a:lstStyle/>
          <a:p>
            <a:pPr algn="r" indent="0" marL="0">
              <a:buNone/>
            </a:pPr>
            <a:r>
              <a:rPr lang="en-US" sz="900" b="1" dirty="0">
                <a:solidFill>
                  <a:srgbClr val="5A6875"/>
                </a:solidFill>
                <a:latin typeface="Calibri" pitchFamily="34" charset="0"/>
                <a:ea typeface="Calibri" pitchFamily="34" charset="-122"/>
                <a:cs typeface="Calibri" pitchFamily="34" charset="-120"/>
              </a:rPr>
              <a:t>04</a:t>
            </a:r>
            <a:endParaRPr lang="en-US" sz="900" dirty="0"/>
          </a:p>
        </p:txBody>
      </p:sp>
      <p:sp>
        <p:nvSpPr>
          <p:cNvPr id="6" name="Shape 4"/>
          <p:cNvSpPr/>
          <p:nvPr/>
        </p:nvSpPr>
        <p:spPr>
          <a:xfrm>
            <a:off x="566928" y="1627632"/>
            <a:ext cx="3200400" cy="786384"/>
          </a:xfrm>
          <a:prstGeom prst="roundRect">
            <a:avLst>
              <a:gd name="adj" fmla="val 8140"/>
            </a:avLst>
          </a:prstGeom>
          <a:solidFill>
            <a:srgbClr val="1B2530"/>
          </a:solidFill>
          <a:ln w="12700">
            <a:solidFill>
              <a:srgbClr val="F5A524"/>
            </a:solidFill>
            <a:prstDash val="solid"/>
          </a:ln>
        </p:spPr>
      </p:sp>
      <p:sp>
        <p:nvSpPr>
          <p:cNvPr id="7" name="Text 5"/>
          <p:cNvSpPr txBox="1"/>
          <p:nvPr/>
        </p:nvSpPr>
        <p:spPr>
          <a:xfrm>
            <a:off x="694944" y="1746504"/>
            <a:ext cx="2944368" cy="256032"/>
          </a:xfrm>
          <a:prstGeom prst="rect">
            <a:avLst/>
          </a:prstGeom>
          <a:noFill/>
          <a:ln/>
        </p:spPr>
        <p:txBody>
          <a:bodyPr wrap="square" lIns="0" tIns="0" rIns="0" bIns="0" rtlCol="0" anchor="ctr"/>
          <a:lstStyle/>
          <a:p>
            <a:pPr algn="ctr" indent="0" marL="0">
              <a:buNone/>
            </a:pPr>
            <a:r>
              <a:rPr lang="en-US" sz="1250" b="1" dirty="0">
                <a:solidFill>
                  <a:srgbClr val="F5A524"/>
                </a:solidFill>
                <a:latin typeface="Calibri" pitchFamily="34" charset="0"/>
                <a:ea typeface="Calibri" pitchFamily="34" charset="-122"/>
                <a:cs typeface="Calibri" pitchFamily="34" charset="-120"/>
              </a:rPr>
              <a:t>React 18 + Vite UI</a:t>
            </a:r>
            <a:endParaRPr lang="en-US" sz="1250" dirty="0"/>
          </a:p>
        </p:txBody>
      </p:sp>
      <p:sp>
        <p:nvSpPr>
          <p:cNvPr id="8" name="Text 6"/>
          <p:cNvSpPr txBox="1"/>
          <p:nvPr/>
        </p:nvSpPr>
        <p:spPr>
          <a:xfrm>
            <a:off x="658368" y="2011680"/>
            <a:ext cx="3017520" cy="329184"/>
          </a:xfrm>
          <a:prstGeom prst="rect">
            <a:avLst/>
          </a:prstGeom>
          <a:noFill/>
          <a:ln/>
        </p:spPr>
        <p:txBody>
          <a:bodyPr wrap="square" lIns="0" tIns="0" rIns="0" bIns="0" rtlCol="0" anchor="ctr"/>
          <a:lstStyle/>
          <a:p>
            <a:pPr algn="ctr" indent="0" marL="0">
              <a:lnSpc>
                <a:spcPct val="104000"/>
              </a:lnSpc>
              <a:buNone/>
            </a:pPr>
            <a:r>
              <a:rPr lang="en-US" sz="950" dirty="0">
                <a:solidFill>
                  <a:srgbClr val="93A0AD"/>
                </a:solidFill>
                <a:latin typeface="Calibri" pitchFamily="34" charset="0"/>
                <a:ea typeface="Calibri" pitchFamily="34" charset="-122"/>
                <a:cs typeface="Calibri" pitchFamily="34" charset="-120"/>
              </a:rPr>
              <a:t>dropzone · polling · 7 tabs</a:t>
            </a:r>
            <a:endParaRPr lang="en-US" sz="950" dirty="0"/>
          </a:p>
        </p:txBody>
      </p:sp>
      <p:sp>
        <p:nvSpPr>
          <p:cNvPr id="9" name="Shape 7"/>
          <p:cNvSpPr/>
          <p:nvPr/>
        </p:nvSpPr>
        <p:spPr>
          <a:xfrm>
            <a:off x="4498848" y="1627632"/>
            <a:ext cx="3200400" cy="786384"/>
          </a:xfrm>
          <a:prstGeom prst="roundRect">
            <a:avLst>
              <a:gd name="adj" fmla="val 8140"/>
            </a:avLst>
          </a:prstGeom>
          <a:solidFill>
            <a:srgbClr val="1B2530"/>
          </a:solidFill>
          <a:ln w="12700">
            <a:solidFill>
              <a:srgbClr val="F5A524"/>
            </a:solidFill>
            <a:prstDash val="solid"/>
          </a:ln>
        </p:spPr>
      </p:sp>
      <p:sp>
        <p:nvSpPr>
          <p:cNvPr id="10" name="Text 8"/>
          <p:cNvSpPr txBox="1"/>
          <p:nvPr/>
        </p:nvSpPr>
        <p:spPr>
          <a:xfrm>
            <a:off x="4626864" y="1746504"/>
            <a:ext cx="2944368" cy="256032"/>
          </a:xfrm>
          <a:prstGeom prst="rect">
            <a:avLst/>
          </a:prstGeom>
          <a:noFill/>
          <a:ln/>
        </p:spPr>
        <p:txBody>
          <a:bodyPr wrap="square" lIns="0" tIns="0" rIns="0" bIns="0" rtlCol="0" anchor="ctr"/>
          <a:lstStyle/>
          <a:p>
            <a:pPr algn="ctr" indent="0" marL="0">
              <a:buNone/>
            </a:pPr>
            <a:r>
              <a:rPr lang="en-US" sz="1250" b="1" dirty="0">
                <a:solidFill>
                  <a:srgbClr val="F5A524"/>
                </a:solidFill>
                <a:latin typeface="Calibri" pitchFamily="34" charset="0"/>
                <a:ea typeface="Calibri" pitchFamily="34" charset="-122"/>
                <a:cs typeface="Calibri" pitchFamily="34" charset="-120"/>
              </a:rPr>
              <a:t>FastAPI service</a:t>
            </a:r>
            <a:endParaRPr lang="en-US" sz="1250" dirty="0"/>
          </a:p>
        </p:txBody>
      </p:sp>
      <p:sp>
        <p:nvSpPr>
          <p:cNvPr id="11" name="Text 9"/>
          <p:cNvSpPr txBox="1"/>
          <p:nvPr/>
        </p:nvSpPr>
        <p:spPr>
          <a:xfrm>
            <a:off x="4590288" y="2011680"/>
            <a:ext cx="3017520" cy="329184"/>
          </a:xfrm>
          <a:prstGeom prst="rect">
            <a:avLst/>
          </a:prstGeom>
          <a:noFill/>
          <a:ln/>
        </p:spPr>
        <p:txBody>
          <a:bodyPr wrap="square" lIns="0" tIns="0" rIns="0" bIns="0" rtlCol="0" anchor="ctr"/>
          <a:lstStyle/>
          <a:p>
            <a:pPr algn="ctr" indent="0" marL="0">
              <a:lnSpc>
                <a:spcPct val="104000"/>
              </a:lnSpc>
              <a:buNone/>
            </a:pPr>
            <a:r>
              <a:rPr lang="en-US" sz="950" dirty="0">
                <a:solidFill>
                  <a:srgbClr val="93A0AD"/>
                </a:solidFill>
                <a:latin typeface="Calibri" pitchFamily="34" charset="0"/>
                <a:ea typeface="Calibri" pitchFamily="34" charset="-122"/>
                <a:cs typeface="Calibri" pitchFamily="34" charset="-120"/>
              </a:rPr>
              <a:t>/analyze · /jobs · /runs · /diff</a:t>
            </a:r>
            <a:endParaRPr lang="en-US" sz="950" dirty="0"/>
          </a:p>
        </p:txBody>
      </p:sp>
      <p:sp>
        <p:nvSpPr>
          <p:cNvPr id="12" name="Shape 10"/>
          <p:cNvSpPr/>
          <p:nvPr/>
        </p:nvSpPr>
        <p:spPr>
          <a:xfrm>
            <a:off x="8430768" y="1627632"/>
            <a:ext cx="3172968" cy="786384"/>
          </a:xfrm>
          <a:prstGeom prst="roundRect">
            <a:avLst>
              <a:gd name="adj" fmla="val 8140"/>
            </a:avLst>
          </a:prstGeom>
          <a:solidFill>
            <a:srgbClr val="1B2530"/>
          </a:solidFill>
          <a:ln w="12700">
            <a:solidFill>
              <a:srgbClr val="F5A524"/>
            </a:solidFill>
            <a:prstDash val="solid"/>
          </a:ln>
        </p:spPr>
      </p:sp>
      <p:sp>
        <p:nvSpPr>
          <p:cNvPr id="13" name="Text 11"/>
          <p:cNvSpPr txBox="1"/>
          <p:nvPr/>
        </p:nvSpPr>
        <p:spPr>
          <a:xfrm>
            <a:off x="8558784" y="1746504"/>
            <a:ext cx="2916936" cy="256032"/>
          </a:xfrm>
          <a:prstGeom prst="rect">
            <a:avLst/>
          </a:prstGeom>
          <a:noFill/>
          <a:ln/>
        </p:spPr>
        <p:txBody>
          <a:bodyPr wrap="square" lIns="0" tIns="0" rIns="0" bIns="0" rtlCol="0" anchor="ctr"/>
          <a:lstStyle/>
          <a:p>
            <a:pPr algn="ctr" indent="0" marL="0">
              <a:buNone/>
            </a:pPr>
            <a:r>
              <a:rPr lang="en-US" sz="1250" b="1" dirty="0">
                <a:solidFill>
                  <a:srgbClr val="F5A524"/>
                </a:solidFill>
                <a:latin typeface="Calibri" pitchFamily="34" charset="0"/>
                <a:ea typeface="Calibri" pitchFamily="34" charset="-122"/>
                <a:cs typeface="Calibri" pitchFamily="34" charset="-120"/>
              </a:rPr>
              <a:t>Worker thread</a:t>
            </a:r>
            <a:endParaRPr lang="en-US" sz="1250" dirty="0"/>
          </a:p>
        </p:txBody>
      </p:sp>
      <p:sp>
        <p:nvSpPr>
          <p:cNvPr id="14" name="Text 12"/>
          <p:cNvSpPr txBox="1"/>
          <p:nvPr/>
        </p:nvSpPr>
        <p:spPr>
          <a:xfrm>
            <a:off x="8522208" y="2011680"/>
            <a:ext cx="2990088" cy="329184"/>
          </a:xfrm>
          <a:prstGeom prst="rect">
            <a:avLst/>
          </a:prstGeom>
          <a:noFill/>
          <a:ln/>
        </p:spPr>
        <p:txBody>
          <a:bodyPr wrap="square" lIns="0" tIns="0" rIns="0" bIns="0" rtlCol="0" anchor="ctr"/>
          <a:lstStyle/>
          <a:p>
            <a:pPr algn="ctr" indent="0" marL="0">
              <a:lnSpc>
                <a:spcPct val="104000"/>
              </a:lnSpc>
              <a:buNone/>
            </a:pPr>
            <a:r>
              <a:rPr lang="en-US" sz="950" dirty="0">
                <a:solidFill>
                  <a:srgbClr val="93A0AD"/>
                </a:solidFill>
                <a:latin typeface="Calibri" pitchFamily="34" charset="0"/>
                <a:ea typeface="Calibri" pitchFamily="34" charset="-122"/>
                <a:cs typeface="Calibri" pitchFamily="34" charset="-120"/>
              </a:rPr>
              <a:t>job registry · progress callback</a:t>
            </a:r>
            <a:endParaRPr lang="en-US" sz="950" dirty="0"/>
          </a:p>
        </p:txBody>
      </p:sp>
      <p:sp>
        <p:nvSpPr>
          <p:cNvPr id="15" name="Shape 13"/>
          <p:cNvSpPr/>
          <p:nvPr/>
        </p:nvSpPr>
        <p:spPr>
          <a:xfrm>
            <a:off x="3813048" y="2020824"/>
            <a:ext cx="640080" cy="0"/>
          </a:xfrm>
          <a:prstGeom prst="line">
            <a:avLst/>
          </a:prstGeom>
          <a:noFill/>
          <a:ln w="19050">
            <a:solidFill>
              <a:srgbClr val="4A5A6B"/>
            </a:solidFill>
            <a:prstDash val="solid"/>
            <a:tailEnd type="triangle"/>
          </a:ln>
        </p:spPr>
      </p:sp>
      <p:sp>
        <p:nvSpPr>
          <p:cNvPr id="16" name="Shape 14"/>
          <p:cNvSpPr/>
          <p:nvPr/>
        </p:nvSpPr>
        <p:spPr>
          <a:xfrm>
            <a:off x="7744968" y="2020824"/>
            <a:ext cx="640080" cy="0"/>
          </a:xfrm>
          <a:prstGeom prst="line">
            <a:avLst/>
          </a:prstGeom>
          <a:noFill/>
          <a:ln w="19050">
            <a:solidFill>
              <a:srgbClr val="4A5A6B"/>
            </a:solidFill>
            <a:prstDash val="solid"/>
            <a:tailEnd type="triangle"/>
          </a:ln>
        </p:spPr>
      </p:sp>
      <p:sp>
        <p:nvSpPr>
          <p:cNvPr id="17" name="Shape 15"/>
          <p:cNvSpPr/>
          <p:nvPr/>
        </p:nvSpPr>
        <p:spPr>
          <a:xfrm>
            <a:off x="566928" y="2761488"/>
            <a:ext cx="11057839" cy="713232"/>
          </a:xfrm>
          <a:prstGeom prst="roundRect">
            <a:avLst>
              <a:gd name="adj" fmla="val 8974"/>
            </a:avLst>
          </a:prstGeom>
          <a:solidFill>
            <a:srgbClr val="1B2530"/>
          </a:solidFill>
          <a:ln w="12700">
            <a:solidFill>
              <a:srgbClr val="1FB6A6"/>
            </a:solidFill>
            <a:prstDash val="solid"/>
          </a:ln>
        </p:spPr>
      </p:sp>
      <p:sp>
        <p:nvSpPr>
          <p:cNvPr id="18" name="Text 16"/>
          <p:cNvSpPr txBox="1"/>
          <p:nvPr/>
        </p:nvSpPr>
        <p:spPr>
          <a:xfrm>
            <a:off x="694944" y="2880360"/>
            <a:ext cx="10801807" cy="256032"/>
          </a:xfrm>
          <a:prstGeom prst="rect">
            <a:avLst/>
          </a:prstGeom>
          <a:noFill/>
          <a:ln/>
        </p:spPr>
        <p:txBody>
          <a:bodyPr wrap="square" lIns="0" tIns="0" rIns="0" bIns="0" rtlCol="0" anchor="ctr"/>
          <a:lstStyle/>
          <a:p>
            <a:pPr algn="ctr" indent="0" marL="0">
              <a:buNone/>
            </a:pPr>
            <a:r>
              <a:rPr lang="en-US" sz="1250" b="1" dirty="0">
                <a:solidFill>
                  <a:srgbClr val="1FB6A6"/>
                </a:solidFill>
                <a:latin typeface="Calibri" pitchFamily="34" charset="0"/>
                <a:ea typeface="Calibri" pitchFamily="34" charset="-122"/>
                <a:cs typeface="Calibri" pitchFamily="34" charset="-120"/>
              </a:rPr>
              <a:t>uvm_intel.log_parser  —  single pass, shared grammar with the generator</a:t>
            </a:r>
            <a:endParaRPr lang="en-US" sz="1250" dirty="0"/>
          </a:p>
        </p:txBody>
      </p:sp>
      <p:sp>
        <p:nvSpPr>
          <p:cNvPr id="19" name="Text 17"/>
          <p:cNvSpPr txBox="1"/>
          <p:nvPr/>
        </p:nvSpPr>
        <p:spPr>
          <a:xfrm>
            <a:off x="658368" y="3145536"/>
            <a:ext cx="10874959" cy="256032"/>
          </a:xfrm>
          <a:prstGeom prst="rect">
            <a:avLst/>
          </a:prstGeom>
          <a:noFill/>
          <a:ln/>
        </p:spPr>
        <p:txBody>
          <a:bodyPr wrap="square" lIns="0" tIns="0" rIns="0" bIns="0" rtlCol="0" anchor="ctr"/>
          <a:lstStyle/>
          <a:p>
            <a:pPr algn="ctr" indent="0" marL="0">
              <a:lnSpc>
                <a:spcPct val="104000"/>
              </a:lnSpc>
              <a:buNone/>
            </a:pPr>
            <a:r>
              <a:rPr lang="en-US" sz="950" dirty="0">
                <a:solidFill>
                  <a:srgbClr val="93A0AD"/>
                </a:solidFill>
                <a:latin typeface="Calibri" pitchFamily="34" charset="0"/>
                <a:ea typeface="Calibri" pitchFamily="34" charset="-122"/>
                <a:cs typeface="Calibri" pitchFamily="34" charset="-120"/>
              </a:rPr>
              <a:t>runs frame (config + metrics + verdict)   ·   errors frame (severity, component, tag, masked template)</a:t>
            </a:r>
            <a:endParaRPr lang="en-US" sz="950" dirty="0"/>
          </a:p>
        </p:txBody>
      </p:sp>
      <p:sp>
        <p:nvSpPr>
          <p:cNvPr id="20" name="Shape 18"/>
          <p:cNvSpPr/>
          <p:nvPr/>
        </p:nvSpPr>
        <p:spPr>
          <a:xfrm>
            <a:off x="6053328" y="2450592"/>
            <a:ext cx="0" cy="274320"/>
          </a:xfrm>
          <a:prstGeom prst="line">
            <a:avLst/>
          </a:prstGeom>
          <a:noFill/>
          <a:ln w="19050">
            <a:solidFill>
              <a:srgbClr val="4A5A6B"/>
            </a:solidFill>
            <a:prstDash val="solid"/>
            <a:tailEnd type="triangle"/>
          </a:ln>
        </p:spPr>
      </p:sp>
      <p:sp>
        <p:nvSpPr>
          <p:cNvPr id="21" name="Shape 19"/>
          <p:cNvSpPr/>
          <p:nvPr/>
        </p:nvSpPr>
        <p:spPr>
          <a:xfrm>
            <a:off x="566928" y="3950208"/>
            <a:ext cx="2036003" cy="859536"/>
          </a:xfrm>
          <a:prstGeom prst="roundRect">
            <a:avLst>
              <a:gd name="adj" fmla="val 7447"/>
            </a:avLst>
          </a:prstGeom>
          <a:solidFill>
            <a:srgbClr val="1B2530"/>
          </a:solidFill>
          <a:ln w="12700">
            <a:solidFill>
              <a:srgbClr val="2E3B4A"/>
            </a:solidFill>
            <a:prstDash val="solid"/>
          </a:ln>
        </p:spPr>
      </p:sp>
      <p:sp>
        <p:nvSpPr>
          <p:cNvPr id="22" name="Text 20"/>
          <p:cNvSpPr txBox="1"/>
          <p:nvPr/>
        </p:nvSpPr>
        <p:spPr>
          <a:xfrm>
            <a:off x="694944" y="4069080"/>
            <a:ext cx="1779971" cy="25603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risk_model</a:t>
            </a:r>
            <a:endParaRPr lang="en-US" sz="1250" dirty="0"/>
          </a:p>
        </p:txBody>
      </p:sp>
      <p:sp>
        <p:nvSpPr>
          <p:cNvPr id="23" name="Text 21"/>
          <p:cNvSpPr txBox="1"/>
          <p:nvPr/>
        </p:nvSpPr>
        <p:spPr>
          <a:xfrm>
            <a:off x="658368" y="4334256"/>
            <a:ext cx="1853123" cy="402336"/>
          </a:xfrm>
          <a:prstGeom prst="rect">
            <a:avLst/>
          </a:prstGeom>
          <a:noFill/>
          <a:ln/>
        </p:spPr>
        <p:txBody>
          <a:bodyPr wrap="square" lIns="0" tIns="0" rIns="0" bIns="0" rtlCol="0" anchor="ctr"/>
          <a:lstStyle/>
          <a:p>
            <a:pPr algn="ctr" indent="0" marL="0">
              <a:lnSpc>
                <a:spcPct val="104000"/>
              </a:lnSpc>
              <a:buNone/>
            </a:pPr>
            <a:r>
              <a:rPr lang="en-US" sz="950" dirty="0">
                <a:solidFill>
                  <a:srgbClr val="93A0AD"/>
                </a:solidFill>
                <a:latin typeface="Calibri" pitchFamily="34" charset="0"/>
                <a:ea typeface="Calibri" pitchFamily="34" charset="-122"/>
                <a:cs typeface="Calibri" pitchFamily="34" charset="-120"/>
              </a:rPr>
              <a:t>LightGBM + SHAP</a:t>
            </a:r>
            <a:endParaRPr lang="en-US" sz="950" dirty="0"/>
          </a:p>
        </p:txBody>
      </p:sp>
      <p:sp>
        <p:nvSpPr>
          <p:cNvPr id="24" name="Shape 22"/>
          <p:cNvSpPr/>
          <p:nvPr/>
        </p:nvSpPr>
        <p:spPr>
          <a:xfrm>
            <a:off x="1584930" y="3511296"/>
            <a:ext cx="0" cy="402336"/>
          </a:xfrm>
          <a:prstGeom prst="line">
            <a:avLst/>
          </a:prstGeom>
          <a:noFill/>
          <a:ln w="19050">
            <a:solidFill>
              <a:srgbClr val="4A5A6B"/>
            </a:solidFill>
            <a:prstDash val="solid"/>
            <a:tailEnd type="triangle"/>
          </a:ln>
        </p:spPr>
      </p:sp>
      <p:sp>
        <p:nvSpPr>
          <p:cNvPr id="25" name="Shape 23"/>
          <p:cNvSpPr/>
          <p:nvPr/>
        </p:nvSpPr>
        <p:spPr>
          <a:xfrm>
            <a:off x="2822387" y="3950208"/>
            <a:ext cx="2036003" cy="859536"/>
          </a:xfrm>
          <a:prstGeom prst="roundRect">
            <a:avLst>
              <a:gd name="adj" fmla="val 7447"/>
            </a:avLst>
          </a:prstGeom>
          <a:solidFill>
            <a:srgbClr val="1B2530"/>
          </a:solidFill>
          <a:ln w="12700">
            <a:solidFill>
              <a:srgbClr val="2E3B4A"/>
            </a:solidFill>
            <a:prstDash val="solid"/>
          </a:ln>
        </p:spPr>
      </p:sp>
      <p:sp>
        <p:nvSpPr>
          <p:cNvPr id="26" name="Text 24"/>
          <p:cNvSpPr txBox="1"/>
          <p:nvPr/>
        </p:nvSpPr>
        <p:spPr>
          <a:xfrm>
            <a:off x="2950403" y="4069080"/>
            <a:ext cx="1779971" cy="25603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fingerprints</a:t>
            </a:r>
            <a:endParaRPr lang="en-US" sz="1250" dirty="0"/>
          </a:p>
        </p:txBody>
      </p:sp>
      <p:sp>
        <p:nvSpPr>
          <p:cNvPr id="27" name="Text 25"/>
          <p:cNvSpPr txBox="1"/>
          <p:nvPr/>
        </p:nvSpPr>
        <p:spPr>
          <a:xfrm>
            <a:off x="2913827" y="4334256"/>
            <a:ext cx="1853123" cy="402336"/>
          </a:xfrm>
          <a:prstGeom prst="rect">
            <a:avLst/>
          </a:prstGeom>
          <a:noFill/>
          <a:ln/>
        </p:spPr>
        <p:txBody>
          <a:bodyPr wrap="square" lIns="0" tIns="0" rIns="0" bIns="0" rtlCol="0" anchor="ctr"/>
          <a:lstStyle/>
          <a:p>
            <a:pPr algn="ctr" indent="0" marL="0">
              <a:lnSpc>
                <a:spcPct val="104000"/>
              </a:lnSpc>
              <a:buNone/>
            </a:pPr>
            <a:r>
              <a:rPr lang="en-US" sz="950" dirty="0">
                <a:solidFill>
                  <a:srgbClr val="93A0AD"/>
                </a:solidFill>
                <a:latin typeface="Calibri" pitchFamily="34" charset="0"/>
                <a:ea typeface="Calibri" pitchFamily="34" charset="-122"/>
                <a:cs typeface="Calibri" pitchFamily="34" charset="-120"/>
              </a:rPr>
              <a:t>TF-IDF + DBSCAN</a:t>
            </a:r>
            <a:endParaRPr lang="en-US" sz="950" dirty="0"/>
          </a:p>
        </p:txBody>
      </p:sp>
      <p:sp>
        <p:nvSpPr>
          <p:cNvPr id="28" name="Shape 26"/>
          <p:cNvSpPr/>
          <p:nvPr/>
        </p:nvSpPr>
        <p:spPr>
          <a:xfrm>
            <a:off x="3840389" y="3511296"/>
            <a:ext cx="0" cy="402336"/>
          </a:xfrm>
          <a:prstGeom prst="line">
            <a:avLst/>
          </a:prstGeom>
          <a:noFill/>
          <a:ln w="19050">
            <a:solidFill>
              <a:srgbClr val="4A5A6B"/>
            </a:solidFill>
            <a:prstDash val="solid"/>
            <a:tailEnd type="triangle"/>
          </a:ln>
        </p:spPr>
      </p:sp>
      <p:sp>
        <p:nvSpPr>
          <p:cNvPr id="29" name="Shape 27"/>
          <p:cNvSpPr/>
          <p:nvPr/>
        </p:nvSpPr>
        <p:spPr>
          <a:xfrm>
            <a:off x="5077846" y="3950208"/>
            <a:ext cx="2036003" cy="859536"/>
          </a:xfrm>
          <a:prstGeom prst="roundRect">
            <a:avLst>
              <a:gd name="adj" fmla="val 7447"/>
            </a:avLst>
          </a:prstGeom>
          <a:solidFill>
            <a:srgbClr val="1B2530"/>
          </a:solidFill>
          <a:ln w="12700">
            <a:solidFill>
              <a:srgbClr val="2E3B4A"/>
            </a:solidFill>
            <a:prstDash val="solid"/>
          </a:ln>
        </p:spPr>
      </p:sp>
      <p:sp>
        <p:nvSpPr>
          <p:cNvPr id="30" name="Text 28"/>
          <p:cNvSpPr txBox="1"/>
          <p:nvPr/>
        </p:nvSpPr>
        <p:spPr>
          <a:xfrm>
            <a:off x="5205862" y="4069080"/>
            <a:ext cx="1779971" cy="25603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pareto</a:t>
            </a:r>
            <a:endParaRPr lang="en-US" sz="1250" dirty="0"/>
          </a:p>
        </p:txBody>
      </p:sp>
      <p:sp>
        <p:nvSpPr>
          <p:cNvPr id="31" name="Text 29"/>
          <p:cNvSpPr txBox="1"/>
          <p:nvPr/>
        </p:nvSpPr>
        <p:spPr>
          <a:xfrm>
            <a:off x="5169286" y="4334256"/>
            <a:ext cx="1853123" cy="402336"/>
          </a:xfrm>
          <a:prstGeom prst="rect">
            <a:avLst/>
          </a:prstGeom>
          <a:noFill/>
          <a:ln/>
        </p:spPr>
        <p:txBody>
          <a:bodyPr wrap="square" lIns="0" tIns="0" rIns="0" bIns="0" rtlCol="0" anchor="ctr"/>
          <a:lstStyle/>
          <a:p>
            <a:pPr algn="ctr" indent="0" marL="0">
              <a:lnSpc>
                <a:spcPct val="104000"/>
              </a:lnSpc>
              <a:buNone/>
            </a:pPr>
            <a:r>
              <a:rPr lang="en-US" sz="950" dirty="0">
                <a:solidFill>
                  <a:srgbClr val="93A0AD"/>
                </a:solidFill>
                <a:latin typeface="Calibri" pitchFamily="34" charset="0"/>
                <a:ea typeface="Calibri" pitchFamily="34" charset="-122"/>
                <a:cs typeface="Calibri" pitchFamily="34" charset="-120"/>
              </a:rPr>
              <a:t>frontier search</a:t>
            </a:r>
            <a:endParaRPr lang="en-US" sz="950" dirty="0"/>
          </a:p>
        </p:txBody>
      </p:sp>
      <p:sp>
        <p:nvSpPr>
          <p:cNvPr id="32" name="Shape 30"/>
          <p:cNvSpPr/>
          <p:nvPr/>
        </p:nvSpPr>
        <p:spPr>
          <a:xfrm>
            <a:off x="6095848" y="3511296"/>
            <a:ext cx="0" cy="402336"/>
          </a:xfrm>
          <a:prstGeom prst="line">
            <a:avLst/>
          </a:prstGeom>
          <a:noFill/>
          <a:ln w="19050">
            <a:solidFill>
              <a:srgbClr val="4A5A6B"/>
            </a:solidFill>
            <a:prstDash val="solid"/>
            <a:tailEnd type="triangle"/>
          </a:ln>
        </p:spPr>
      </p:sp>
      <p:sp>
        <p:nvSpPr>
          <p:cNvPr id="33" name="Shape 31"/>
          <p:cNvSpPr/>
          <p:nvPr/>
        </p:nvSpPr>
        <p:spPr>
          <a:xfrm>
            <a:off x="7333305" y="3950208"/>
            <a:ext cx="2036003" cy="859536"/>
          </a:xfrm>
          <a:prstGeom prst="roundRect">
            <a:avLst>
              <a:gd name="adj" fmla="val 7447"/>
            </a:avLst>
          </a:prstGeom>
          <a:solidFill>
            <a:srgbClr val="1B2530"/>
          </a:solidFill>
          <a:ln w="12700">
            <a:solidFill>
              <a:srgbClr val="2E3B4A"/>
            </a:solidFill>
            <a:prstDash val="solid"/>
          </a:ln>
        </p:spPr>
      </p:sp>
      <p:sp>
        <p:nvSpPr>
          <p:cNvPr id="34" name="Text 32"/>
          <p:cNvSpPr txBox="1"/>
          <p:nvPr/>
        </p:nvSpPr>
        <p:spPr>
          <a:xfrm>
            <a:off x="7461321" y="4069080"/>
            <a:ext cx="1779971" cy="25603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config_diff</a:t>
            </a:r>
            <a:endParaRPr lang="en-US" sz="1250" dirty="0"/>
          </a:p>
        </p:txBody>
      </p:sp>
      <p:sp>
        <p:nvSpPr>
          <p:cNvPr id="35" name="Text 33"/>
          <p:cNvSpPr txBox="1"/>
          <p:nvPr/>
        </p:nvSpPr>
        <p:spPr>
          <a:xfrm>
            <a:off x="7424745" y="4334256"/>
            <a:ext cx="1853123" cy="402336"/>
          </a:xfrm>
          <a:prstGeom prst="rect">
            <a:avLst/>
          </a:prstGeom>
          <a:noFill/>
          <a:ln/>
        </p:spPr>
        <p:txBody>
          <a:bodyPr wrap="square" lIns="0" tIns="0" rIns="0" bIns="0" rtlCol="0" anchor="ctr"/>
          <a:lstStyle/>
          <a:p>
            <a:pPr algn="ctr" indent="0" marL="0">
              <a:lnSpc>
                <a:spcPct val="104000"/>
              </a:lnSpc>
              <a:buNone/>
            </a:pPr>
            <a:r>
              <a:rPr lang="en-US" sz="950" dirty="0">
                <a:solidFill>
                  <a:srgbClr val="93A0AD"/>
                </a:solidFill>
                <a:latin typeface="Calibri" pitchFamily="34" charset="0"/>
                <a:ea typeface="Calibri" pitchFamily="34" charset="-122"/>
                <a:cs typeface="Calibri" pitchFamily="34" charset="-120"/>
              </a:rPr>
              <a:t>nearest twin</a:t>
            </a:r>
            <a:endParaRPr lang="en-US" sz="950" dirty="0"/>
          </a:p>
        </p:txBody>
      </p:sp>
      <p:sp>
        <p:nvSpPr>
          <p:cNvPr id="36" name="Shape 34"/>
          <p:cNvSpPr/>
          <p:nvPr/>
        </p:nvSpPr>
        <p:spPr>
          <a:xfrm>
            <a:off x="8351307" y="3511296"/>
            <a:ext cx="0" cy="402336"/>
          </a:xfrm>
          <a:prstGeom prst="line">
            <a:avLst/>
          </a:prstGeom>
          <a:noFill/>
          <a:ln w="19050">
            <a:solidFill>
              <a:srgbClr val="4A5A6B"/>
            </a:solidFill>
            <a:prstDash val="solid"/>
            <a:tailEnd type="triangle"/>
          </a:ln>
        </p:spPr>
      </p:sp>
      <p:sp>
        <p:nvSpPr>
          <p:cNvPr id="37" name="Shape 35"/>
          <p:cNvSpPr/>
          <p:nvPr/>
        </p:nvSpPr>
        <p:spPr>
          <a:xfrm>
            <a:off x="9588764" y="3950208"/>
            <a:ext cx="2036003" cy="859536"/>
          </a:xfrm>
          <a:prstGeom prst="roundRect">
            <a:avLst>
              <a:gd name="adj" fmla="val 7447"/>
            </a:avLst>
          </a:prstGeom>
          <a:solidFill>
            <a:srgbClr val="1B2530"/>
          </a:solidFill>
          <a:ln w="12700">
            <a:solidFill>
              <a:srgbClr val="2E3B4A"/>
            </a:solidFill>
            <a:prstDash val="solid"/>
          </a:ln>
        </p:spPr>
      </p:sp>
      <p:sp>
        <p:nvSpPr>
          <p:cNvPr id="38" name="Text 36"/>
          <p:cNvSpPr txBox="1"/>
          <p:nvPr/>
        </p:nvSpPr>
        <p:spPr>
          <a:xfrm>
            <a:off x="9716780" y="4069080"/>
            <a:ext cx="1779971" cy="25603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recommender</a:t>
            </a:r>
            <a:endParaRPr lang="en-US" sz="1250" dirty="0"/>
          </a:p>
        </p:txBody>
      </p:sp>
      <p:sp>
        <p:nvSpPr>
          <p:cNvPr id="39" name="Text 37"/>
          <p:cNvSpPr txBox="1"/>
          <p:nvPr/>
        </p:nvSpPr>
        <p:spPr>
          <a:xfrm>
            <a:off x="9680204" y="4334256"/>
            <a:ext cx="1853123" cy="402336"/>
          </a:xfrm>
          <a:prstGeom prst="rect">
            <a:avLst/>
          </a:prstGeom>
          <a:noFill/>
          <a:ln/>
        </p:spPr>
        <p:txBody>
          <a:bodyPr wrap="square" lIns="0" tIns="0" rIns="0" bIns="0" rtlCol="0" anchor="ctr"/>
          <a:lstStyle/>
          <a:p>
            <a:pPr algn="ctr" indent="0" marL="0">
              <a:lnSpc>
                <a:spcPct val="104000"/>
              </a:lnSpc>
              <a:buNone/>
            </a:pPr>
            <a:r>
              <a:rPr lang="en-US" sz="950" dirty="0">
                <a:solidFill>
                  <a:srgbClr val="93A0AD"/>
                </a:solidFill>
                <a:latin typeface="Calibri" pitchFamily="34" charset="0"/>
                <a:ea typeface="Calibri" pitchFamily="34" charset="-122"/>
                <a:cs typeface="Calibri" pitchFamily="34" charset="-120"/>
              </a:rPr>
              <a:t>Optuna TPE</a:t>
            </a:r>
            <a:endParaRPr lang="en-US" sz="950" dirty="0"/>
          </a:p>
        </p:txBody>
      </p:sp>
      <p:sp>
        <p:nvSpPr>
          <p:cNvPr id="40" name="Shape 38"/>
          <p:cNvSpPr/>
          <p:nvPr/>
        </p:nvSpPr>
        <p:spPr>
          <a:xfrm>
            <a:off x="10606766" y="3511296"/>
            <a:ext cx="0" cy="402336"/>
          </a:xfrm>
          <a:prstGeom prst="line">
            <a:avLst/>
          </a:prstGeom>
          <a:noFill/>
          <a:ln w="19050">
            <a:solidFill>
              <a:srgbClr val="4A5A6B"/>
            </a:solidFill>
            <a:prstDash val="solid"/>
            <a:tailEnd type="triangle"/>
          </a:ln>
        </p:spPr>
      </p:sp>
      <p:sp>
        <p:nvSpPr>
          <p:cNvPr id="41" name="Shape 39"/>
          <p:cNvSpPr/>
          <p:nvPr/>
        </p:nvSpPr>
        <p:spPr>
          <a:xfrm>
            <a:off x="2029968" y="5138928"/>
            <a:ext cx="8131759" cy="713232"/>
          </a:xfrm>
          <a:prstGeom prst="roundRect">
            <a:avLst>
              <a:gd name="adj" fmla="val 8974"/>
            </a:avLst>
          </a:prstGeom>
          <a:solidFill>
            <a:srgbClr val="1B2530"/>
          </a:solidFill>
          <a:ln w="12700">
            <a:solidFill>
              <a:srgbClr val="F5A524"/>
            </a:solidFill>
            <a:prstDash val="solid"/>
          </a:ln>
        </p:spPr>
      </p:sp>
      <p:sp>
        <p:nvSpPr>
          <p:cNvPr id="42" name="Text 40"/>
          <p:cNvSpPr txBox="1"/>
          <p:nvPr/>
        </p:nvSpPr>
        <p:spPr>
          <a:xfrm>
            <a:off x="2157984" y="5257800"/>
            <a:ext cx="7875727" cy="256032"/>
          </a:xfrm>
          <a:prstGeom prst="rect">
            <a:avLst/>
          </a:prstGeom>
          <a:noFill/>
          <a:ln/>
        </p:spPr>
        <p:txBody>
          <a:bodyPr wrap="square" lIns="0" tIns="0" rIns="0" bIns="0" rtlCol="0" anchor="ctr"/>
          <a:lstStyle/>
          <a:p>
            <a:pPr algn="ctr" indent="0" marL="0">
              <a:buNone/>
            </a:pPr>
            <a:r>
              <a:rPr lang="en-US" sz="1250" b="1" dirty="0">
                <a:solidFill>
                  <a:srgbClr val="F5A524"/>
                </a:solidFill>
                <a:latin typeface="Calibri" pitchFamily="34" charset="0"/>
                <a:ea typeface="Calibri" pitchFamily="34" charset="-122"/>
                <a:cs typeface="Calibri" pitchFamily="34" charset="-120"/>
              </a:rPr>
              <a:t>One JSON-serialisable payload  →  dashboard + /export</a:t>
            </a:r>
            <a:endParaRPr lang="en-US" sz="1250" dirty="0"/>
          </a:p>
        </p:txBody>
      </p:sp>
      <p:sp>
        <p:nvSpPr>
          <p:cNvPr id="43" name="Text 41"/>
          <p:cNvSpPr txBox="1"/>
          <p:nvPr/>
        </p:nvSpPr>
        <p:spPr>
          <a:xfrm>
            <a:off x="2121408" y="5522976"/>
            <a:ext cx="7948879" cy="256032"/>
          </a:xfrm>
          <a:prstGeom prst="rect">
            <a:avLst/>
          </a:prstGeom>
          <a:noFill/>
          <a:ln/>
        </p:spPr>
        <p:txBody>
          <a:bodyPr wrap="square" lIns="0" tIns="0" rIns="0" bIns="0" rtlCol="0" anchor="ctr"/>
          <a:lstStyle/>
          <a:p>
            <a:pPr algn="ctr" indent="0" marL="0">
              <a:lnSpc>
                <a:spcPct val="104000"/>
              </a:lnSpc>
              <a:buNone/>
            </a:pPr>
            <a:r>
              <a:rPr lang="en-US" sz="950" dirty="0">
                <a:solidFill>
                  <a:srgbClr val="93A0AD"/>
                </a:solidFill>
                <a:latin typeface="Calibri" pitchFamily="34" charset="0"/>
                <a:ea typeface="Calibri" pitchFamily="34" charset="-122"/>
                <a:cs typeface="Calibri" pitchFamily="34" charset="-120"/>
              </a:rPr>
              <a:t>per-stage timing log · parse stats · every stage independently fault-isolated</a:t>
            </a:r>
            <a:endParaRPr lang="en-US" sz="950" dirty="0"/>
          </a:p>
        </p:txBody>
      </p:sp>
      <p:sp>
        <p:nvSpPr>
          <p:cNvPr id="44" name="Shape 42"/>
          <p:cNvSpPr/>
          <p:nvPr/>
        </p:nvSpPr>
        <p:spPr>
          <a:xfrm>
            <a:off x="1584930" y="4846320"/>
            <a:ext cx="993678" cy="256032"/>
          </a:xfrm>
          <a:prstGeom prst="line">
            <a:avLst/>
          </a:prstGeom>
          <a:noFill/>
          <a:ln w="19050">
            <a:solidFill>
              <a:srgbClr val="4A5A6B"/>
            </a:solidFill>
            <a:prstDash val="solid"/>
            <a:tailEnd type="triangle"/>
          </a:ln>
        </p:spPr>
      </p:sp>
      <p:sp>
        <p:nvSpPr>
          <p:cNvPr id="45" name="Shape 43"/>
          <p:cNvSpPr/>
          <p:nvPr/>
        </p:nvSpPr>
        <p:spPr>
          <a:xfrm>
            <a:off x="3840389" y="4846320"/>
            <a:ext cx="0" cy="256032"/>
          </a:xfrm>
          <a:prstGeom prst="line">
            <a:avLst/>
          </a:prstGeom>
          <a:noFill/>
          <a:ln w="19050">
            <a:solidFill>
              <a:srgbClr val="4A5A6B"/>
            </a:solidFill>
            <a:prstDash val="solid"/>
            <a:tailEnd type="triangle"/>
          </a:ln>
        </p:spPr>
      </p:sp>
      <p:sp>
        <p:nvSpPr>
          <p:cNvPr id="46" name="Shape 44"/>
          <p:cNvSpPr/>
          <p:nvPr/>
        </p:nvSpPr>
        <p:spPr>
          <a:xfrm>
            <a:off x="6095848" y="4846320"/>
            <a:ext cx="0" cy="256032"/>
          </a:xfrm>
          <a:prstGeom prst="line">
            <a:avLst/>
          </a:prstGeom>
          <a:noFill/>
          <a:ln w="19050">
            <a:solidFill>
              <a:srgbClr val="4A5A6B"/>
            </a:solidFill>
            <a:prstDash val="solid"/>
            <a:tailEnd type="triangle"/>
          </a:ln>
        </p:spPr>
      </p:sp>
      <p:sp>
        <p:nvSpPr>
          <p:cNvPr id="47" name="Shape 45"/>
          <p:cNvSpPr/>
          <p:nvPr/>
        </p:nvSpPr>
        <p:spPr>
          <a:xfrm>
            <a:off x="8351307" y="4846320"/>
            <a:ext cx="0" cy="256032"/>
          </a:xfrm>
          <a:prstGeom prst="line">
            <a:avLst/>
          </a:prstGeom>
          <a:noFill/>
          <a:ln w="19050">
            <a:solidFill>
              <a:srgbClr val="4A5A6B"/>
            </a:solidFill>
            <a:prstDash val="solid"/>
            <a:tailEnd type="triangle"/>
          </a:ln>
        </p:spPr>
      </p:sp>
      <p:sp>
        <p:nvSpPr>
          <p:cNvPr id="48" name="Shape 46"/>
          <p:cNvSpPr/>
          <p:nvPr/>
        </p:nvSpPr>
        <p:spPr>
          <a:xfrm>
            <a:off x="10606766" y="4846320"/>
            <a:ext cx="-993678" cy="256032"/>
          </a:xfrm>
          <a:prstGeom prst="line">
            <a:avLst/>
          </a:prstGeom>
          <a:noFill/>
          <a:ln w="19050">
            <a:solidFill>
              <a:srgbClr val="4A5A6B"/>
            </a:solidFill>
            <a:prstDash val="solid"/>
            <a:tailEnd type="triangle"/>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20" kern="0" dirty="0">
                <a:solidFill>
                  <a:srgbClr val="A86B12"/>
                </a:solidFill>
                <a:latin typeface="Calibri" pitchFamily="34" charset="0"/>
                <a:ea typeface="Calibri" pitchFamily="34" charset="-122"/>
                <a:cs typeface="Calibri" pitchFamily="34" charset="-120"/>
              </a:rPr>
              <a:t>DATASET</a:t>
            </a:r>
            <a:endParaRPr lang="en-US" sz="105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300" b="1" dirty="0">
                <a:solidFill>
                  <a:srgbClr val="10151C"/>
                </a:solidFill>
                <a:latin typeface="Cambria" pitchFamily="34" charset="0"/>
                <a:ea typeface="Cambria" pitchFamily="34" charset="-122"/>
                <a:cs typeface="Cambria" pitchFamily="34" charset="-120"/>
              </a:rPr>
              <a:t>A synthetic corpus we can grade ourselves</a:t>
            </a:r>
            <a:endParaRPr lang="en-US" sz="3300" dirty="0"/>
          </a:p>
        </p:txBody>
      </p:sp>
      <p:sp>
        <p:nvSpPr>
          <p:cNvPr id="4" name="Text 2"/>
          <p:cNvSpPr txBox="1"/>
          <p:nvPr/>
        </p:nvSpPr>
        <p:spPr>
          <a:xfrm>
            <a:off x="566928" y="1188720"/>
            <a:ext cx="10874959" cy="310896"/>
          </a:xfrm>
          <a:prstGeom prst="rect">
            <a:avLst/>
          </a:prstGeom>
          <a:noFill/>
          <a:ln/>
        </p:spPr>
        <p:txBody>
          <a:bodyPr wrap="square" lIns="0" tIns="0" rIns="0" bIns="0" rtlCol="0" anchor="ctr"/>
          <a:lstStyle/>
          <a:p>
            <a:pPr indent="0" marL="0">
              <a:buNone/>
            </a:pPr>
            <a:r>
              <a:rPr lang="en-US" sz="1300" dirty="0">
                <a:solidFill>
                  <a:srgbClr val="76838F"/>
                </a:solidFill>
                <a:latin typeface="Calibri" pitchFamily="34" charset="0"/>
                <a:ea typeface="Calibri" pitchFamily="34" charset="-122"/>
                <a:cs typeface="Calibri" pitchFamily="34" charset="-120"/>
              </a:rPr>
              <a:t>Real regression logs come with no answer key. We generated ours, so every discovery can be scored against known truth.</a:t>
            </a:r>
            <a:endParaRPr lang="en-US" sz="1300" dirty="0"/>
          </a:p>
        </p:txBody>
      </p:sp>
      <p:sp>
        <p:nvSpPr>
          <p:cNvPr id="5" name="Text 3"/>
          <p:cNvSpPr txBox="1"/>
          <p:nvPr/>
        </p:nvSpPr>
        <p:spPr>
          <a:xfrm>
            <a:off x="566928" y="6327648"/>
            <a:ext cx="5486400" cy="274320"/>
          </a:xfrm>
          <a:prstGeom prst="rect">
            <a:avLst/>
          </a:prstGeom>
          <a:noFill/>
          <a:ln/>
        </p:spPr>
        <p:txBody>
          <a:bodyPr wrap="square" lIns="0" tIns="0" rIns="0" bIns="0" rtlCol="0" anchor="ctr"/>
          <a:lstStyle/>
          <a:p>
            <a:pPr algn="l" indent="0" marL="0">
              <a:buNone/>
            </a:pPr>
            <a:r>
              <a:rPr lang="en-US" sz="900" dirty="0">
                <a:solidFill>
                  <a:srgbClr val="76838F"/>
                </a:solidFill>
                <a:latin typeface="Calibri" pitchFamily="34" charset="0"/>
                <a:ea typeface="Calibri" pitchFamily="34" charset="-122"/>
                <a:cs typeface="Calibri" pitchFamily="34" charset="-120"/>
              </a:rPr>
              <a:t>UVM Configuration Intelligence  ·  Team Asterix</a:t>
            </a:r>
            <a:endParaRPr lang="en-US" sz="900" dirty="0"/>
          </a:p>
        </p:txBody>
      </p:sp>
      <p:sp>
        <p:nvSpPr>
          <p:cNvPr id="6" name="Text 4"/>
          <p:cNvSpPr txBox="1"/>
          <p:nvPr/>
        </p:nvSpPr>
        <p:spPr>
          <a:xfrm>
            <a:off x="10527487" y="6327648"/>
            <a:ext cx="1097280" cy="274320"/>
          </a:xfrm>
          <a:prstGeom prst="rect">
            <a:avLst/>
          </a:prstGeom>
          <a:noFill/>
          <a:ln/>
        </p:spPr>
        <p:txBody>
          <a:bodyPr wrap="square" lIns="0" tIns="0" rIns="0" bIns="0" rtlCol="0" anchor="ctr"/>
          <a:lstStyle/>
          <a:p>
            <a:pPr algn="r" indent="0" marL="0">
              <a:buNone/>
            </a:pPr>
            <a:r>
              <a:rPr lang="en-US" sz="900" b="1" dirty="0">
                <a:solidFill>
                  <a:srgbClr val="76838F"/>
                </a:solidFill>
                <a:latin typeface="Calibri" pitchFamily="34" charset="0"/>
                <a:ea typeface="Calibri" pitchFamily="34" charset="-122"/>
                <a:cs typeface="Calibri" pitchFamily="34" charset="-120"/>
              </a:rPr>
              <a:t>05</a:t>
            </a:r>
            <a:endParaRPr lang="en-US" sz="900" dirty="0"/>
          </a:p>
        </p:txBody>
      </p:sp>
      <p:sp>
        <p:nvSpPr>
          <p:cNvPr id="7" name="Shape 5"/>
          <p:cNvSpPr/>
          <p:nvPr/>
        </p:nvSpPr>
        <p:spPr>
          <a:xfrm>
            <a:off x="566928" y="1700784"/>
            <a:ext cx="6537960" cy="4114800"/>
          </a:xfrm>
          <a:prstGeom prst="roundRect">
            <a:avLst>
              <a:gd name="adj" fmla="val 1333"/>
            </a:avLst>
          </a:prstGeom>
          <a:solidFill>
            <a:srgbClr val="F7F9FB"/>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8" name="Text 6"/>
          <p:cNvSpPr txBox="1"/>
          <p:nvPr/>
        </p:nvSpPr>
        <p:spPr>
          <a:xfrm>
            <a:off x="859536" y="1920240"/>
            <a:ext cx="5943600" cy="292608"/>
          </a:xfrm>
          <a:prstGeom prst="rect">
            <a:avLst/>
          </a:prstGeom>
          <a:noFill/>
          <a:ln/>
        </p:spPr>
        <p:txBody>
          <a:bodyPr wrap="square" lIns="0" tIns="0" rIns="0" bIns="0" rtlCol="0" anchor="ctr"/>
          <a:lstStyle/>
          <a:p>
            <a:pPr indent="0" marL="0">
              <a:buNone/>
            </a:pPr>
            <a:r>
              <a:rPr lang="en-US" sz="1650" b="1" dirty="0">
                <a:solidFill>
                  <a:srgbClr val="10151C"/>
                </a:solidFill>
                <a:latin typeface="Cambria" pitchFamily="34" charset="0"/>
                <a:ea typeface="Cambria" pitchFamily="34" charset="-122"/>
                <a:cs typeface="Cambria" pitchFamily="34" charset="-120"/>
              </a:rPr>
              <a:t>How the corpus is generated</a:t>
            </a:r>
            <a:endParaRPr lang="en-US" sz="1650" dirty="0"/>
          </a:p>
        </p:txBody>
      </p:sp>
      <p:sp>
        <p:nvSpPr>
          <p:cNvPr id="9" name="Text 7"/>
          <p:cNvSpPr txBox="1"/>
          <p:nvPr/>
        </p:nvSpPr>
        <p:spPr>
          <a:xfrm>
            <a:off x="859536" y="2340864"/>
            <a:ext cx="5943600" cy="2743200"/>
          </a:xfrm>
          <a:prstGeom prst="rect">
            <a:avLst/>
          </a:prstGeom>
          <a:noFill/>
          <a:ln/>
        </p:spPr>
        <p:txBody>
          <a:bodyPr wrap="square" lIns="0" tIns="0" rIns="0" bIns="0" rtlCol="0" anchor="ctr"/>
          <a:lstStyle/>
          <a:p>
            <a:pPr marL="342900" indent="-342900">
              <a:lnSpc>
                <a:spcPct val="100000"/>
              </a:lnSpc>
              <a:spcAft>
                <a:spcPts val="900"/>
              </a:spcAft>
              <a:buSzPct val="100000"/>
              <a:buChar char="•"/>
            </a:pPr>
            <a:r>
              <a:rPr lang="en-US" sz="1200" dirty="0">
                <a:solidFill>
                  <a:srgbClr val="3A4757"/>
                </a:solidFill>
                <a:latin typeface="Calibri" pitchFamily="34" charset="0"/>
                <a:ea typeface="Calibri" pitchFamily="34" charset="-122"/>
                <a:cs typeface="Calibri" pitchFamily="34" charset="-120"/>
              </a:rPr>
              <a:t>Grammar first: log_format.py is the single source of truth for the log syntax — the generator writes it and the parser reads it, so the two cannot drift apart.</a:t>
            </a:r>
            <a:endParaRPr lang="en-US" sz="1200" dirty="0"/>
          </a:p>
          <a:p>
            <a:pPr marL="342900" indent="-342900">
              <a:lnSpc>
                <a:spcPct val="100000"/>
              </a:lnSpc>
              <a:spcAft>
                <a:spcPts val="900"/>
              </a:spcAft>
              <a:buSzPct val="100000"/>
              <a:buChar char="•"/>
            </a:pPr>
            <a:r>
              <a:rPr lang="en-US" sz="1200" dirty="0">
                <a:solidFill>
                  <a:srgbClr val="3A4757"/>
                </a:solidFill>
                <a:latin typeface="Calibri" pitchFamily="34" charset="0"/>
                <a:ea typeface="Calibri" pitchFamily="34" charset="-122"/>
                <a:cs typeface="Calibri" pitchFamily="34" charset="-120"/>
              </a:rPr>
              <a:t>Vectorised sampling: all 50,000 runs are drawn with NumPy over a weighted configuration space; only the final text rendering loops.</a:t>
            </a:r>
            <a:endParaRPr lang="en-US" sz="1200" dirty="0"/>
          </a:p>
          <a:p>
            <a:pPr marL="342900" indent="-342900">
              <a:lnSpc>
                <a:spcPct val="100000"/>
              </a:lnSpc>
              <a:spcAft>
                <a:spcPts val="900"/>
              </a:spcAft>
              <a:buSzPct val="100000"/>
              <a:buChar char="•"/>
            </a:pPr>
            <a:r>
              <a:rPr lang="en-US" sz="1200" dirty="0">
                <a:solidFill>
                  <a:srgbClr val="3A4757"/>
                </a:solidFill>
                <a:latin typeface="Calibri" pitchFamily="34" charset="0"/>
                <a:ea typeface="Calibri" pitchFamily="34" charset="-122"/>
                <a:cs typeface="Calibri" pitchFamily="34" charset="-120"/>
              </a:rPr>
              <a:t>Deliberately lopsided weights so the model faces a realistic, imbalanced design space rather than a uniform grid.</a:t>
            </a:r>
            <a:endParaRPr lang="en-US" sz="1200" dirty="0"/>
          </a:p>
          <a:p>
            <a:pPr marL="342900" indent="-342900">
              <a:lnSpc>
                <a:spcPct val="100000"/>
              </a:lnSpc>
              <a:spcAft>
                <a:spcPts val="900"/>
              </a:spcAft>
              <a:buSzPct val="100000"/>
              <a:buChar char="•"/>
            </a:pPr>
            <a:r>
              <a:rPr lang="en-US" sz="1200" dirty="0">
                <a:solidFill>
                  <a:srgbClr val="3A4757"/>
                </a:solidFill>
                <a:latin typeface="Calibri" pitchFamily="34" charset="0"/>
                <a:ea typeface="Calibri" pitchFamily="34" charset="-122"/>
                <a:cs typeface="Calibri" pitchFamily="34" charset="-120"/>
              </a:rPr>
              <a:t>Failure probability is composed rule-by-rule, then the verdict, error trace, UVM report summary and metrics are rendered to match.</a:t>
            </a:r>
            <a:endParaRPr lang="en-US" sz="1200" dirty="0"/>
          </a:p>
          <a:p>
            <a:pPr marL="342900" indent="-342900">
              <a:lnSpc>
                <a:spcPct val="100000"/>
              </a:lnSpc>
              <a:spcAft>
                <a:spcPts val="900"/>
              </a:spcAft>
              <a:buSzPct val="100000"/>
              <a:buChar char="•"/>
            </a:pPr>
            <a:r>
              <a:rPr lang="en-US" sz="1200" dirty="0">
                <a:solidFill>
                  <a:srgbClr val="3A4757"/>
                </a:solidFill>
                <a:latin typeface="Calibri" pitchFamily="34" charset="0"/>
                <a:ea typeface="Calibri" pitchFamily="34" charset="-122"/>
                <a:cs typeface="Calibri" pitchFamily="34" charset="-120"/>
              </a:rPr>
              <a:t>Base failure probability is fixed at 1.2 % so a clean configuration sits below the 2 % ceiling the recommender optimises against.</a:t>
            </a:r>
            <a:endParaRPr lang="en-US" sz="1200" dirty="0"/>
          </a:p>
        </p:txBody>
      </p:sp>
      <p:sp>
        <p:nvSpPr>
          <p:cNvPr id="10" name="Text 8"/>
          <p:cNvSpPr txBox="1"/>
          <p:nvPr/>
        </p:nvSpPr>
        <p:spPr>
          <a:xfrm>
            <a:off x="859536" y="5285232"/>
            <a:ext cx="5943600" cy="310896"/>
          </a:xfrm>
          <a:prstGeom prst="rect">
            <a:avLst/>
          </a:prstGeom>
          <a:solidFill>
            <a:srgbClr val="EAEEF3"/>
          </a:solidFill>
          <a:ln/>
        </p:spPr>
        <p:txBody>
          <a:bodyPr wrap="square" lIns="508" tIns="508" rIns="508" bIns="508" rtlCol="0" anchor="ctr"/>
          <a:lstStyle/>
          <a:p>
            <a:pPr indent="0" marL="0">
              <a:buNone/>
            </a:pPr>
            <a:r>
              <a:rPr lang="en-US" sz="1100" dirty="0">
                <a:solidFill>
                  <a:srgbClr val="10151C"/>
                </a:solidFill>
                <a:latin typeface="Courier New" pitchFamily="34" charset="0"/>
                <a:ea typeface="Courier New" pitchFamily="34" charset="-122"/>
                <a:cs typeface="Courier New" pitchFamily="34" charset="-120"/>
              </a:rPr>
              <a:t>python -m uvm_intel.generate_logs --n-runs 50000 --parts 10</a:t>
            </a:r>
            <a:endParaRPr lang="en-US" sz="1100" dirty="0"/>
          </a:p>
        </p:txBody>
      </p:sp>
      <p:sp>
        <p:nvSpPr>
          <p:cNvPr id="11" name="Shape 9"/>
          <p:cNvSpPr/>
          <p:nvPr/>
        </p:nvSpPr>
        <p:spPr>
          <a:xfrm>
            <a:off x="7379208" y="1700784"/>
            <a:ext cx="4245559" cy="2395728"/>
          </a:xfrm>
          <a:prstGeom prst="roundRect">
            <a:avLst>
              <a:gd name="adj" fmla="val 2290"/>
            </a:avLst>
          </a:prstGeom>
          <a:solidFill>
            <a:srgbClr val="FFFFFF"/>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12" name="Text 10"/>
          <p:cNvSpPr txBox="1"/>
          <p:nvPr/>
        </p:nvSpPr>
        <p:spPr>
          <a:xfrm>
            <a:off x="7616952" y="1847088"/>
            <a:ext cx="3770071" cy="274320"/>
          </a:xfrm>
          <a:prstGeom prst="rect">
            <a:avLst/>
          </a:prstGeom>
          <a:noFill/>
          <a:ln/>
        </p:spPr>
        <p:txBody>
          <a:bodyPr wrap="square" lIns="0" tIns="0" rIns="0" bIns="0" rtlCol="0" anchor="ctr"/>
          <a:lstStyle/>
          <a:p>
            <a:pPr indent="0" marL="0">
              <a:buNone/>
            </a:pPr>
            <a:r>
              <a:rPr lang="en-US" sz="1350" b="1" dirty="0">
                <a:solidFill>
                  <a:srgbClr val="10151C"/>
                </a:solidFill>
                <a:latin typeface="Cambria" pitchFamily="34" charset="0"/>
                <a:ea typeface="Cambria" pitchFamily="34" charset="-122"/>
                <a:cs typeface="Cambria" pitchFamily="34" charset="-120"/>
              </a:rPr>
              <a:t>Verdict split across 50,000 runs</a:t>
            </a:r>
            <a:endParaRPr lang="en-US" sz="1350" dirty="0"/>
          </a:p>
        </p:txBody>
      </p:sp>
      <p:graphicFrame>
        <p:nvGraphicFramePr>
          <p:cNvPr id="13" name="Chart 0" descr=""/>
          <p:cNvGraphicFramePr/>
          <p:nvPr/>
        </p:nvGraphicFramePr>
        <p:xfrm>
          <a:off x="7470648" y="2121408"/>
          <a:ext cx="4062679" cy="1847088"/>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7379208" y="4224528"/>
            <a:ext cx="2013052" cy="274320"/>
          </a:xfrm>
          <a:prstGeom prst="rect">
            <a:avLst/>
          </a:prstGeom>
          <a:noFill/>
          <a:ln/>
        </p:spPr>
        <p:txBody>
          <a:bodyPr wrap="square" lIns="0" tIns="0" rIns="0" bIns="0" rtlCol="0" anchor="ctr"/>
          <a:lstStyle/>
          <a:p>
            <a:pPr indent="0" marL="0">
              <a:buNone/>
            </a:pPr>
            <a:r>
              <a:rPr lang="en-US" sz="1900" b="1" dirty="0">
                <a:solidFill>
                  <a:srgbClr val="A86B12"/>
                </a:solidFill>
                <a:latin typeface="Cambria" pitchFamily="34" charset="0"/>
                <a:ea typeface="Cambria" pitchFamily="34" charset="-122"/>
                <a:cs typeface="Cambria" pitchFamily="34" charset="-120"/>
              </a:rPr>
              <a:t>11</a:t>
            </a:r>
            <a:endParaRPr lang="en-US" sz="1900" dirty="0"/>
          </a:p>
        </p:txBody>
      </p:sp>
      <p:sp>
        <p:nvSpPr>
          <p:cNvPr id="15" name="Text 12"/>
          <p:cNvSpPr txBox="1"/>
          <p:nvPr/>
        </p:nvSpPr>
        <p:spPr>
          <a:xfrm>
            <a:off x="7379208" y="4498848"/>
            <a:ext cx="2013052" cy="219456"/>
          </a:xfrm>
          <a:prstGeom prst="rect">
            <a:avLst/>
          </a:prstGeom>
          <a:noFill/>
          <a:ln/>
        </p:spPr>
        <p:txBody>
          <a:bodyPr wrap="square" lIns="0" tIns="0" rIns="0" bIns="0" rtlCol="0" anchor="ctr"/>
          <a:lstStyle/>
          <a:p>
            <a:pPr indent="0" marL="0">
              <a:buNone/>
            </a:pPr>
            <a:r>
              <a:rPr lang="en-US" sz="1000" dirty="0">
                <a:solidFill>
                  <a:srgbClr val="76838F"/>
                </a:solidFill>
                <a:latin typeface="Calibri" pitchFamily="34" charset="0"/>
                <a:ea typeface="Calibri" pitchFamily="34" charset="-122"/>
                <a:cs typeface="Calibri" pitchFamily="34" charset="-120"/>
              </a:rPr>
              <a:t>configuration knobs</a:t>
            </a:r>
            <a:endParaRPr lang="en-US" sz="1000" dirty="0"/>
          </a:p>
        </p:txBody>
      </p:sp>
      <p:sp>
        <p:nvSpPr>
          <p:cNvPr id="16" name="Text 13"/>
          <p:cNvSpPr txBox="1"/>
          <p:nvPr/>
        </p:nvSpPr>
        <p:spPr>
          <a:xfrm>
            <a:off x="9611716" y="4224528"/>
            <a:ext cx="2013052" cy="274320"/>
          </a:xfrm>
          <a:prstGeom prst="rect">
            <a:avLst/>
          </a:prstGeom>
          <a:noFill/>
          <a:ln/>
        </p:spPr>
        <p:txBody>
          <a:bodyPr wrap="square" lIns="0" tIns="0" rIns="0" bIns="0" rtlCol="0" anchor="ctr"/>
          <a:lstStyle/>
          <a:p>
            <a:pPr indent="0" marL="0">
              <a:buNone/>
            </a:pPr>
            <a:r>
              <a:rPr lang="en-US" sz="1900" b="1" dirty="0">
                <a:solidFill>
                  <a:srgbClr val="A86B12"/>
                </a:solidFill>
                <a:latin typeface="Cambria" pitchFamily="34" charset="0"/>
                <a:ea typeface="Cambria" pitchFamily="34" charset="-122"/>
                <a:cs typeface="Cambria" pitchFamily="34" charset="-120"/>
              </a:rPr>
              <a:t>2</a:t>
            </a:r>
            <a:endParaRPr lang="en-US" sz="1900" dirty="0"/>
          </a:p>
        </p:txBody>
      </p:sp>
      <p:sp>
        <p:nvSpPr>
          <p:cNvPr id="17" name="Text 14"/>
          <p:cNvSpPr txBox="1"/>
          <p:nvPr/>
        </p:nvSpPr>
        <p:spPr>
          <a:xfrm>
            <a:off x="9611716" y="4498848"/>
            <a:ext cx="2013052" cy="219456"/>
          </a:xfrm>
          <a:prstGeom prst="rect">
            <a:avLst/>
          </a:prstGeom>
          <a:noFill/>
          <a:ln/>
        </p:spPr>
        <p:txBody>
          <a:bodyPr wrap="square" lIns="0" tIns="0" rIns="0" bIns="0" rtlCol="0" anchor="ctr"/>
          <a:lstStyle/>
          <a:p>
            <a:pPr indent="0" marL="0">
              <a:buNone/>
            </a:pPr>
            <a:r>
              <a:rPr lang="en-US" sz="1000" dirty="0">
                <a:solidFill>
                  <a:srgbClr val="76838F"/>
                </a:solidFill>
                <a:latin typeface="Calibri" pitchFamily="34" charset="0"/>
                <a:ea typeface="Calibri" pitchFamily="34" charset="-122"/>
                <a:cs typeface="Calibri" pitchFamily="34" charset="-120"/>
              </a:rPr>
              <a:t>environment readings</a:t>
            </a:r>
            <a:endParaRPr lang="en-US" sz="1000" dirty="0"/>
          </a:p>
        </p:txBody>
      </p:sp>
      <p:sp>
        <p:nvSpPr>
          <p:cNvPr id="18" name="Text 15"/>
          <p:cNvSpPr txBox="1"/>
          <p:nvPr/>
        </p:nvSpPr>
        <p:spPr>
          <a:xfrm>
            <a:off x="7379208" y="4901184"/>
            <a:ext cx="2013052" cy="274320"/>
          </a:xfrm>
          <a:prstGeom prst="rect">
            <a:avLst/>
          </a:prstGeom>
          <a:noFill/>
          <a:ln/>
        </p:spPr>
        <p:txBody>
          <a:bodyPr wrap="square" lIns="0" tIns="0" rIns="0" bIns="0" rtlCol="0" anchor="ctr"/>
          <a:lstStyle/>
          <a:p>
            <a:pPr indent="0" marL="0">
              <a:buNone/>
            </a:pPr>
            <a:r>
              <a:rPr lang="en-US" sz="1900" b="1" dirty="0">
                <a:solidFill>
                  <a:srgbClr val="A86B12"/>
                </a:solidFill>
                <a:latin typeface="Cambria" pitchFamily="34" charset="0"/>
                <a:ea typeface="Cambria" pitchFamily="34" charset="-122"/>
                <a:cs typeface="Cambria" pitchFamily="34" charset="-120"/>
              </a:rPr>
              <a:t>8</a:t>
            </a:r>
            <a:endParaRPr lang="en-US" sz="1900" dirty="0"/>
          </a:p>
        </p:txBody>
      </p:sp>
      <p:sp>
        <p:nvSpPr>
          <p:cNvPr id="19" name="Text 16"/>
          <p:cNvSpPr txBox="1"/>
          <p:nvPr/>
        </p:nvSpPr>
        <p:spPr>
          <a:xfrm>
            <a:off x="7379208" y="5175504"/>
            <a:ext cx="2013052" cy="219456"/>
          </a:xfrm>
          <a:prstGeom prst="rect">
            <a:avLst/>
          </a:prstGeom>
          <a:noFill/>
          <a:ln/>
        </p:spPr>
        <p:txBody>
          <a:bodyPr wrap="square" lIns="0" tIns="0" rIns="0" bIns="0" rtlCol="0" anchor="ctr"/>
          <a:lstStyle/>
          <a:p>
            <a:pPr indent="0" marL="0">
              <a:buNone/>
            </a:pPr>
            <a:r>
              <a:rPr lang="en-US" sz="1000" dirty="0">
                <a:solidFill>
                  <a:srgbClr val="76838F"/>
                </a:solidFill>
                <a:latin typeface="Calibri" pitchFamily="34" charset="0"/>
                <a:ea typeface="Calibri" pitchFamily="34" charset="-122"/>
                <a:cs typeface="Calibri" pitchFamily="34" charset="-120"/>
              </a:rPr>
              <a:t>UVM test sequences</a:t>
            </a:r>
            <a:endParaRPr lang="en-US" sz="1000" dirty="0"/>
          </a:p>
        </p:txBody>
      </p:sp>
      <p:sp>
        <p:nvSpPr>
          <p:cNvPr id="20" name="Text 17"/>
          <p:cNvSpPr txBox="1"/>
          <p:nvPr/>
        </p:nvSpPr>
        <p:spPr>
          <a:xfrm>
            <a:off x="9611716" y="4901184"/>
            <a:ext cx="2013052" cy="274320"/>
          </a:xfrm>
          <a:prstGeom prst="rect">
            <a:avLst/>
          </a:prstGeom>
          <a:noFill/>
          <a:ln/>
        </p:spPr>
        <p:txBody>
          <a:bodyPr wrap="square" lIns="0" tIns="0" rIns="0" bIns="0" rtlCol="0" anchor="ctr"/>
          <a:lstStyle/>
          <a:p>
            <a:pPr indent="0" marL="0">
              <a:buNone/>
            </a:pPr>
            <a:r>
              <a:rPr lang="en-US" sz="1900" b="1" dirty="0">
                <a:solidFill>
                  <a:srgbClr val="A86B12"/>
                </a:solidFill>
                <a:latin typeface="Cambria" pitchFamily="34" charset="0"/>
                <a:ea typeface="Cambria" pitchFamily="34" charset="-122"/>
                <a:cs typeface="Cambria" pitchFamily="34" charset="-120"/>
              </a:rPr>
              <a:t>7</a:t>
            </a:r>
            <a:endParaRPr lang="en-US" sz="1900" dirty="0"/>
          </a:p>
        </p:txBody>
      </p:sp>
      <p:sp>
        <p:nvSpPr>
          <p:cNvPr id="21" name="Text 18"/>
          <p:cNvSpPr txBox="1"/>
          <p:nvPr/>
        </p:nvSpPr>
        <p:spPr>
          <a:xfrm>
            <a:off x="9611716" y="5175504"/>
            <a:ext cx="2013052" cy="219456"/>
          </a:xfrm>
          <a:prstGeom prst="rect">
            <a:avLst/>
          </a:prstGeom>
          <a:noFill/>
          <a:ln/>
        </p:spPr>
        <p:txBody>
          <a:bodyPr wrap="square" lIns="0" tIns="0" rIns="0" bIns="0" rtlCol="0" anchor="ctr"/>
          <a:lstStyle/>
          <a:p>
            <a:pPr indent="0" marL="0">
              <a:buNone/>
            </a:pPr>
            <a:r>
              <a:rPr lang="en-US" sz="1000" dirty="0">
                <a:solidFill>
                  <a:srgbClr val="76838F"/>
                </a:solidFill>
                <a:latin typeface="Calibri" pitchFamily="34" charset="0"/>
                <a:ea typeface="Calibri" pitchFamily="34" charset="-122"/>
                <a:cs typeface="Calibri" pitchFamily="34" charset="-120"/>
              </a:rPr>
              <a:t>error-tag taxonomy</a:t>
            </a:r>
            <a:endParaRPr lang="en-US" sz="1000" dirty="0"/>
          </a:p>
        </p:txBody>
      </p:sp>
      <p:sp>
        <p:nvSpPr>
          <p:cNvPr id="22" name="Text 19"/>
          <p:cNvSpPr txBox="1"/>
          <p:nvPr/>
        </p:nvSpPr>
        <p:spPr>
          <a:xfrm>
            <a:off x="7379208" y="5577840"/>
            <a:ext cx="2013052" cy="274320"/>
          </a:xfrm>
          <a:prstGeom prst="rect">
            <a:avLst/>
          </a:prstGeom>
          <a:noFill/>
          <a:ln/>
        </p:spPr>
        <p:txBody>
          <a:bodyPr wrap="square" lIns="0" tIns="0" rIns="0" bIns="0" rtlCol="0" anchor="ctr"/>
          <a:lstStyle/>
          <a:p>
            <a:pPr indent="0" marL="0">
              <a:buNone/>
            </a:pPr>
            <a:r>
              <a:rPr lang="en-US" sz="1900" b="1" dirty="0">
                <a:solidFill>
                  <a:srgbClr val="A86B12"/>
                </a:solidFill>
                <a:latin typeface="Cambria" pitchFamily="34" charset="0"/>
                <a:ea typeface="Cambria" pitchFamily="34" charset="-122"/>
                <a:cs typeface="Cambria" pitchFamily="34" charset="-120"/>
              </a:rPr>
              <a:t>4</a:t>
            </a:r>
            <a:endParaRPr lang="en-US" sz="1900" dirty="0"/>
          </a:p>
        </p:txBody>
      </p:sp>
      <p:sp>
        <p:nvSpPr>
          <p:cNvPr id="23" name="Text 20"/>
          <p:cNvSpPr txBox="1"/>
          <p:nvPr/>
        </p:nvSpPr>
        <p:spPr>
          <a:xfrm>
            <a:off x="7379208" y="5852160"/>
            <a:ext cx="2013052" cy="219456"/>
          </a:xfrm>
          <a:prstGeom prst="rect">
            <a:avLst/>
          </a:prstGeom>
          <a:noFill/>
          <a:ln/>
        </p:spPr>
        <p:txBody>
          <a:bodyPr wrap="square" lIns="0" tIns="0" rIns="0" bIns="0" rtlCol="0" anchor="ctr"/>
          <a:lstStyle/>
          <a:p>
            <a:pPr indent="0" marL="0">
              <a:buNone/>
            </a:pPr>
            <a:r>
              <a:rPr lang="en-US" sz="1000" dirty="0">
                <a:solidFill>
                  <a:srgbClr val="76838F"/>
                </a:solidFill>
                <a:latin typeface="Calibri" pitchFamily="34" charset="0"/>
                <a:ea typeface="Calibri" pitchFamily="34" charset="-122"/>
                <a:cs typeface="Calibri" pitchFamily="34" charset="-120"/>
              </a:rPr>
              <a:t>outcome metrics</a:t>
            </a:r>
            <a:endParaRPr lang="en-US" sz="1000" dirty="0"/>
          </a:p>
        </p:txBody>
      </p:sp>
      <p:sp>
        <p:nvSpPr>
          <p:cNvPr id="24" name="Text 21"/>
          <p:cNvSpPr txBox="1"/>
          <p:nvPr/>
        </p:nvSpPr>
        <p:spPr>
          <a:xfrm>
            <a:off x="9611716" y="5577840"/>
            <a:ext cx="2013052" cy="274320"/>
          </a:xfrm>
          <a:prstGeom prst="rect">
            <a:avLst/>
          </a:prstGeom>
          <a:noFill/>
          <a:ln/>
        </p:spPr>
        <p:txBody>
          <a:bodyPr wrap="square" lIns="0" tIns="0" rIns="0" bIns="0" rtlCol="0" anchor="ctr"/>
          <a:lstStyle/>
          <a:p>
            <a:pPr indent="0" marL="0">
              <a:buNone/>
            </a:pPr>
            <a:r>
              <a:rPr lang="en-US" sz="1900" b="1" dirty="0">
                <a:solidFill>
                  <a:srgbClr val="A86B12"/>
                </a:solidFill>
                <a:latin typeface="Cambria" pitchFamily="34" charset="0"/>
                <a:ea typeface="Cambria" pitchFamily="34" charset="-122"/>
                <a:cs typeface="Cambria" pitchFamily="34" charset="-120"/>
              </a:rPr>
              <a:t>~56 MB</a:t>
            </a:r>
            <a:endParaRPr lang="en-US" sz="1900" dirty="0"/>
          </a:p>
        </p:txBody>
      </p:sp>
      <p:sp>
        <p:nvSpPr>
          <p:cNvPr id="25" name="Text 22"/>
          <p:cNvSpPr txBox="1"/>
          <p:nvPr/>
        </p:nvSpPr>
        <p:spPr>
          <a:xfrm>
            <a:off x="9611716" y="5852160"/>
            <a:ext cx="2013052" cy="219456"/>
          </a:xfrm>
          <a:prstGeom prst="rect">
            <a:avLst/>
          </a:prstGeom>
          <a:noFill/>
          <a:ln/>
        </p:spPr>
        <p:txBody>
          <a:bodyPr wrap="square" lIns="0" tIns="0" rIns="0" bIns="0" rtlCol="0" anchor="ctr"/>
          <a:lstStyle/>
          <a:p>
            <a:pPr indent="0" marL="0">
              <a:buNone/>
            </a:pPr>
            <a:r>
              <a:rPr lang="en-US" sz="1000" dirty="0">
                <a:solidFill>
                  <a:srgbClr val="76838F"/>
                </a:solidFill>
                <a:latin typeface="Calibri" pitchFamily="34" charset="0"/>
                <a:ea typeface="Calibri" pitchFamily="34" charset="-122"/>
                <a:cs typeface="Calibri" pitchFamily="34" charset="-120"/>
              </a:rPr>
              <a:t>corpus, 10 files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20" kern="0" dirty="0">
                <a:solidFill>
                  <a:srgbClr val="A86B12"/>
                </a:solidFill>
                <a:latin typeface="Calibri" pitchFamily="34" charset="0"/>
                <a:ea typeface="Calibri" pitchFamily="34" charset="-122"/>
                <a:cs typeface="Calibri" pitchFamily="34" charset="-120"/>
              </a:rPr>
              <a:t>GROUND TRUTH</a:t>
            </a:r>
            <a:endParaRPr lang="en-US" sz="105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300" b="1" dirty="0">
                <a:solidFill>
                  <a:srgbClr val="10151C"/>
                </a:solidFill>
                <a:latin typeface="Cambria" pitchFamily="34" charset="0"/>
                <a:ea typeface="Cambria" pitchFamily="34" charset="-122"/>
                <a:cs typeface="Cambria" pitchFamily="34" charset="-120"/>
              </a:rPr>
              <a:t>Seven failure rules, planted on purpose</a:t>
            </a:r>
            <a:endParaRPr lang="en-US" sz="3300" dirty="0"/>
          </a:p>
        </p:txBody>
      </p:sp>
      <p:sp>
        <p:nvSpPr>
          <p:cNvPr id="4" name="Text 2"/>
          <p:cNvSpPr txBox="1"/>
          <p:nvPr/>
        </p:nvSpPr>
        <p:spPr>
          <a:xfrm>
            <a:off x="566928" y="1188720"/>
            <a:ext cx="10874959" cy="310896"/>
          </a:xfrm>
          <a:prstGeom prst="rect">
            <a:avLst/>
          </a:prstGeom>
          <a:noFill/>
          <a:ln/>
        </p:spPr>
        <p:txBody>
          <a:bodyPr wrap="square" lIns="0" tIns="0" rIns="0" bIns="0" rtlCol="0" anchor="ctr"/>
          <a:lstStyle/>
          <a:p>
            <a:pPr indent="0" marL="0">
              <a:buNone/>
            </a:pPr>
            <a:r>
              <a:rPr lang="en-US" sz="1300" dirty="0">
                <a:solidFill>
                  <a:srgbClr val="76838F"/>
                </a:solidFill>
                <a:latin typeface="Calibri" pitchFamily="34" charset="0"/>
                <a:ea typeface="Calibri" pitchFamily="34" charset="-122"/>
                <a:cs typeface="Calibri" pitchFamily="34" charset="-120"/>
              </a:rPr>
              <a:t>Written to data/uvm_ground_truth.json at generation time — the pipeline is graded on whether it rediscovers them.</a:t>
            </a:r>
            <a:endParaRPr lang="en-US" sz="1300" dirty="0"/>
          </a:p>
        </p:txBody>
      </p:sp>
      <p:sp>
        <p:nvSpPr>
          <p:cNvPr id="5" name="Text 3"/>
          <p:cNvSpPr txBox="1"/>
          <p:nvPr/>
        </p:nvSpPr>
        <p:spPr>
          <a:xfrm>
            <a:off x="566928" y="6327648"/>
            <a:ext cx="5486400" cy="274320"/>
          </a:xfrm>
          <a:prstGeom prst="rect">
            <a:avLst/>
          </a:prstGeom>
          <a:noFill/>
          <a:ln/>
        </p:spPr>
        <p:txBody>
          <a:bodyPr wrap="square" lIns="0" tIns="0" rIns="0" bIns="0" rtlCol="0" anchor="ctr"/>
          <a:lstStyle/>
          <a:p>
            <a:pPr algn="l" indent="0" marL="0">
              <a:buNone/>
            </a:pPr>
            <a:r>
              <a:rPr lang="en-US" sz="900" dirty="0">
                <a:solidFill>
                  <a:srgbClr val="76838F"/>
                </a:solidFill>
                <a:latin typeface="Calibri" pitchFamily="34" charset="0"/>
                <a:ea typeface="Calibri" pitchFamily="34" charset="-122"/>
                <a:cs typeface="Calibri" pitchFamily="34" charset="-120"/>
              </a:rPr>
              <a:t>UVM Configuration Intelligence  ·  Team Asterix</a:t>
            </a:r>
            <a:endParaRPr lang="en-US" sz="900" dirty="0"/>
          </a:p>
        </p:txBody>
      </p:sp>
      <p:sp>
        <p:nvSpPr>
          <p:cNvPr id="6" name="Text 4"/>
          <p:cNvSpPr txBox="1"/>
          <p:nvPr/>
        </p:nvSpPr>
        <p:spPr>
          <a:xfrm>
            <a:off x="10527487" y="6327648"/>
            <a:ext cx="1097280" cy="274320"/>
          </a:xfrm>
          <a:prstGeom prst="rect">
            <a:avLst/>
          </a:prstGeom>
          <a:noFill/>
          <a:ln/>
        </p:spPr>
        <p:txBody>
          <a:bodyPr wrap="square" lIns="0" tIns="0" rIns="0" bIns="0" rtlCol="0" anchor="ctr"/>
          <a:lstStyle/>
          <a:p>
            <a:pPr algn="r" indent="0" marL="0">
              <a:buNone/>
            </a:pPr>
            <a:r>
              <a:rPr lang="en-US" sz="900" b="1" dirty="0">
                <a:solidFill>
                  <a:srgbClr val="76838F"/>
                </a:solidFill>
                <a:latin typeface="Calibri" pitchFamily="34" charset="0"/>
                <a:ea typeface="Calibri" pitchFamily="34" charset="-122"/>
                <a:cs typeface="Calibri" pitchFamily="34" charset="-120"/>
              </a:rPr>
              <a:t>06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7818120" cy="914400"/>
        </p:xfrm>
        <a:graphic>
          <a:graphicData uri="http://schemas.openxmlformats.org/drawingml/2006/table">
            <a:tbl>
              <a:tblPr/>
              <a:tblGrid>
                <a:gridCol w="548640"/>
                <a:gridCol w="3246120"/>
                <a:gridCol w="2057400"/>
                <a:gridCol w="685800"/>
                <a:gridCol w="685800"/>
                <a:gridCol w="594360"/>
              </a:tblGrid>
              <a:tr h="36576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Rule</a:t>
                      </a:r>
                      <a:endParaRPr lang="en-US" sz="110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10151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Condition</a:t>
                      </a:r>
                      <a:endParaRPr lang="en-US" sz="110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10151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Effect on failure</a:t>
                      </a:r>
                      <a:endParaRPr lang="en-US" sz="110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10151C"/>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Runs</a:t>
                      </a:r>
                      <a:endParaRPr lang="en-US" sz="110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10151C"/>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Fail rate</a:t>
                      </a:r>
                      <a:endParaRPr lang="en-US" sz="110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10151C"/>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Lift</a:t>
                      </a:r>
                      <a:endParaRPr lang="en-US" sz="110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10151C"/>
                    </a:solidFill>
                  </a:tcPr>
                </a:tc>
              </a:tr>
              <a:tr h="365760">
                <a:tc>
                  <a:txBody>
                    <a:bodyPr/>
                    <a:lstStyle/>
                    <a:p>
                      <a:pPr algn="l" indent="0" marL="0">
                        <a:buNone/>
                      </a:pPr>
                      <a:r>
                        <a:rPr lang="en-US" sz="1050" b="1" dirty="0">
                          <a:solidFill>
                            <a:srgbClr val="A86B12"/>
                          </a:solidFill>
                          <a:latin typeface="Calibri" pitchFamily="34" charset="0"/>
                          <a:ea typeface="Calibri" pitchFamily="34" charset="-122"/>
                          <a:cs typeface="Calibri" pitchFamily="34" charset="-120"/>
                        </a:rPr>
                        <a:t>R1</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AFBFC"/>
                    </a:solidFill>
                  </a:tcPr>
                </a:tc>
                <a:tc>
                  <a:txBody>
                    <a:bodyPr/>
                    <a:lstStyle/>
                    <a:p>
                      <a:pPr algn="l" indent="0" marL="0">
                        <a:buNone/>
                      </a:pPr>
                      <a:r>
                        <a:rPr lang="en-US" sz="1050" dirty="0">
                          <a:solidFill>
                            <a:srgbClr val="3A4757"/>
                          </a:solidFill>
                          <a:latin typeface="Calibri" pitchFamily="34" charset="0"/>
                          <a:ea typeface="Calibri" pitchFamily="34" charset="-122"/>
                          <a:cs typeface="Calibri" pitchFamily="34" charset="-120"/>
                        </a:rPr>
                        <a:t>test_name = Back_To_Back_Program + cache_policy = Adaptive</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757"/>
                          </a:solidFill>
                          <a:latin typeface="Calibri" pitchFamily="34" charset="0"/>
                          <a:ea typeface="Calibri" pitchFamily="34" charset="-122"/>
                          <a:cs typeface="Calibri" pitchFamily="34" charset="-120"/>
                        </a:rPr>
                        <a:t>set 0.85, FIFO_OVERFLOW</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AFBFC"/>
                    </a:solidFill>
                  </a:tcPr>
                </a:tc>
                <a:tc>
                  <a:txBody>
                    <a:bodyPr/>
                    <a:lstStyle/>
                    <a:p>
                      <a:pPr algn="r" indent="0" marL="0">
                        <a:buNone/>
                      </a:pPr>
                      <a:r>
                        <a:rPr lang="en-US" sz="1050" dirty="0">
                          <a:solidFill>
                            <a:srgbClr val="3A4757"/>
                          </a:solidFill>
                          <a:latin typeface="Calibri" pitchFamily="34" charset="0"/>
                          <a:ea typeface="Calibri" pitchFamily="34" charset="-122"/>
                          <a:cs typeface="Calibri" pitchFamily="34" charset="-120"/>
                        </a:rPr>
                        <a:t>2,891</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A4757"/>
                          </a:solidFill>
                          <a:latin typeface="Calibri" pitchFamily="34" charset="0"/>
                          <a:ea typeface="Calibri" pitchFamily="34" charset="-122"/>
                          <a:cs typeface="Calibri" pitchFamily="34" charset="-120"/>
                        </a:rPr>
                        <a:t>0.851</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AFBFC"/>
                    </a:solidFill>
                  </a:tcPr>
                </a:tc>
                <a:tc>
                  <a:txBody>
                    <a:bodyPr/>
                    <a:lstStyle/>
                    <a:p>
                      <a:pPr algn="r" indent="0" marL="0">
                        <a:buNone/>
                      </a:pPr>
                      <a:r>
                        <a:rPr lang="en-US" sz="1050" dirty="0">
                          <a:solidFill>
                            <a:srgbClr val="3A4757"/>
                          </a:solidFill>
                          <a:latin typeface="Calibri" pitchFamily="34" charset="0"/>
                          <a:ea typeface="Calibri" pitchFamily="34" charset="-122"/>
                          <a:cs typeface="Calibri" pitchFamily="34" charset="-120"/>
                        </a:rPr>
                        <a:t>4.19×</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A86B12"/>
                          </a:solidFill>
                          <a:latin typeface="Calibri" pitchFamily="34" charset="0"/>
                          <a:ea typeface="Calibri" pitchFamily="34" charset="-122"/>
                          <a:cs typeface="Calibri" pitchFamily="34" charset="-120"/>
                        </a:rPr>
                        <a:t>R2</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AFBFC"/>
                    </a:solidFill>
                  </a:tcPr>
                </a:tc>
                <a:tc>
                  <a:txBody>
                    <a:bodyPr/>
                    <a:lstStyle/>
                    <a:p>
                      <a:pPr algn="l" indent="0" marL="0">
                        <a:buNone/>
                      </a:pPr>
                      <a:r>
                        <a:rPr lang="en-US" sz="1050" dirty="0">
                          <a:solidFill>
                            <a:srgbClr val="3A4757"/>
                          </a:solidFill>
                          <a:latin typeface="Calibri" pitchFamily="34" charset="0"/>
                          <a:ea typeface="Calibri" pitchFamily="34" charset="-122"/>
                          <a:cs typeface="Calibri" pitchFamily="34" charset="-120"/>
                        </a:rPr>
                        <a:t>test_mode_enabled = 1</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757"/>
                          </a:solidFill>
                          <a:latin typeface="Calibri" pitchFamily="34" charset="0"/>
                          <a:ea typeface="Calibri" pitchFamily="34" charset="-122"/>
                          <a:cs typeface="Calibri" pitchFamily="34" charset="-120"/>
                        </a:rPr>
                        <a:t>+0.35</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AFBFC"/>
                    </a:solidFill>
                  </a:tcPr>
                </a:tc>
                <a:tc>
                  <a:txBody>
                    <a:bodyPr/>
                    <a:lstStyle/>
                    <a:p>
                      <a:pPr algn="r" indent="0" marL="0">
                        <a:buNone/>
                      </a:pPr>
                      <a:r>
                        <a:rPr lang="en-US" sz="1050" dirty="0">
                          <a:solidFill>
                            <a:srgbClr val="3A4757"/>
                          </a:solidFill>
                          <a:latin typeface="Calibri" pitchFamily="34" charset="0"/>
                          <a:ea typeface="Calibri" pitchFamily="34" charset="-122"/>
                          <a:cs typeface="Calibri" pitchFamily="34" charset="-120"/>
                        </a:rPr>
                        <a:t>13,999</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A4757"/>
                          </a:solidFill>
                          <a:latin typeface="Calibri" pitchFamily="34" charset="0"/>
                          <a:ea typeface="Calibri" pitchFamily="34" charset="-122"/>
                          <a:cs typeface="Calibri" pitchFamily="34" charset="-120"/>
                        </a:rPr>
                        <a:t>0.473</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AFBFC"/>
                    </a:solidFill>
                  </a:tcPr>
                </a:tc>
                <a:tc>
                  <a:txBody>
                    <a:bodyPr/>
                    <a:lstStyle/>
                    <a:p>
                      <a:pPr algn="r" indent="0" marL="0">
                        <a:buNone/>
                      </a:pPr>
                      <a:r>
                        <a:rPr lang="en-US" sz="1050" dirty="0">
                          <a:solidFill>
                            <a:srgbClr val="3A4757"/>
                          </a:solidFill>
                          <a:latin typeface="Calibri" pitchFamily="34" charset="0"/>
                          <a:ea typeface="Calibri" pitchFamily="34" charset="-122"/>
                          <a:cs typeface="Calibri" pitchFamily="34" charset="-120"/>
                        </a:rPr>
                        <a:t>3.16×</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A86B12"/>
                          </a:solidFill>
                          <a:latin typeface="Calibri" pitchFamily="34" charset="0"/>
                          <a:ea typeface="Calibri" pitchFamily="34" charset="-122"/>
                          <a:cs typeface="Calibri" pitchFamily="34" charset="-120"/>
                        </a:rPr>
                        <a:t>R3</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AFBFC"/>
                    </a:solidFill>
                  </a:tcPr>
                </a:tc>
                <a:tc>
                  <a:txBody>
                    <a:bodyPr/>
                    <a:lstStyle/>
                    <a:p>
                      <a:pPr algn="l" indent="0" marL="0">
                        <a:buNone/>
                      </a:pPr>
                      <a:r>
                        <a:rPr lang="en-US" sz="1050" dirty="0">
                          <a:solidFill>
                            <a:srgbClr val="3A4757"/>
                          </a:solidFill>
                          <a:latin typeface="Calibri" pitchFamily="34" charset="0"/>
                          <a:ea typeface="Calibri" pitchFamily="34" charset="-122"/>
                          <a:cs typeface="Calibri" pitchFamily="34" charset="-120"/>
                        </a:rPr>
                        <a:t>queue_depth ≥ 32 + ecc_mode = Disabled</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757"/>
                          </a:solidFill>
                          <a:latin typeface="Calibri" pitchFamily="34" charset="0"/>
                          <a:ea typeface="Calibri" pitchFamily="34" charset="-122"/>
                          <a:cs typeface="Calibri" pitchFamily="34" charset="-120"/>
                        </a:rPr>
                        <a:t>+0.35, ECC_UNCORRECTABLE</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AFBFC"/>
                    </a:solidFill>
                  </a:tcPr>
                </a:tc>
                <a:tc>
                  <a:txBody>
                    <a:bodyPr/>
                    <a:lstStyle/>
                    <a:p>
                      <a:pPr algn="r" indent="0" marL="0">
                        <a:buNone/>
                      </a:pPr>
                      <a:r>
                        <a:rPr lang="en-US" sz="1050" dirty="0">
                          <a:solidFill>
                            <a:srgbClr val="3A4757"/>
                          </a:solidFill>
                          <a:latin typeface="Calibri" pitchFamily="34" charset="0"/>
                          <a:ea typeface="Calibri" pitchFamily="34" charset="-122"/>
                          <a:cs typeface="Calibri" pitchFamily="34" charset="-120"/>
                        </a:rPr>
                        <a:t>1,976</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A4757"/>
                          </a:solidFill>
                          <a:latin typeface="Calibri" pitchFamily="34" charset="0"/>
                          <a:ea typeface="Calibri" pitchFamily="34" charset="-122"/>
                          <a:cs typeface="Calibri" pitchFamily="34" charset="-120"/>
                        </a:rPr>
                        <a:t>0.574</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AFBFC"/>
                    </a:solidFill>
                  </a:tcPr>
                </a:tc>
                <a:tc>
                  <a:txBody>
                    <a:bodyPr/>
                    <a:lstStyle/>
                    <a:p>
                      <a:pPr algn="r" indent="0" marL="0">
                        <a:buNone/>
                      </a:pPr>
                      <a:r>
                        <a:rPr lang="en-US" sz="1050" dirty="0">
                          <a:solidFill>
                            <a:srgbClr val="3A4757"/>
                          </a:solidFill>
                          <a:latin typeface="Calibri" pitchFamily="34" charset="0"/>
                          <a:ea typeface="Calibri" pitchFamily="34" charset="-122"/>
                          <a:cs typeface="Calibri" pitchFamily="34" charset="-120"/>
                        </a:rPr>
                        <a:t>2.53×</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A86B12"/>
                          </a:solidFill>
                          <a:latin typeface="Calibri" pitchFamily="34" charset="0"/>
                          <a:ea typeface="Calibri" pitchFamily="34" charset="-122"/>
                          <a:cs typeface="Calibri" pitchFamily="34" charset="-120"/>
                        </a:rPr>
                        <a:t>R4</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AFBFC"/>
                    </a:solidFill>
                  </a:tcPr>
                </a:tc>
                <a:tc>
                  <a:txBody>
                    <a:bodyPr/>
                    <a:lstStyle/>
                    <a:p>
                      <a:pPr algn="l" indent="0" marL="0">
                        <a:buNone/>
                      </a:pPr>
                      <a:r>
                        <a:rPr lang="en-US" sz="1050" dirty="0">
                          <a:solidFill>
                            <a:srgbClr val="3A4757"/>
                          </a:solidFill>
                          <a:latin typeface="Calibri" pitchFamily="34" charset="0"/>
                          <a:ea typeface="Calibri" pitchFamily="34" charset="-122"/>
                          <a:cs typeface="Calibri" pitchFamily="34" charset="-120"/>
                        </a:rPr>
                        <a:t>temperature_c &gt; 85 + voltage_mv &lt; 1100</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757"/>
                          </a:solidFill>
                          <a:latin typeface="Calibri" pitchFamily="34" charset="0"/>
                          <a:ea typeface="Calibri" pitchFamily="34" charset="-122"/>
                          <a:cs typeface="Calibri" pitchFamily="34" charset="-120"/>
                        </a:rPr>
                        <a:t>+0.30, RETENTION_FAIL</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AFBFC"/>
                    </a:solidFill>
                  </a:tcPr>
                </a:tc>
                <a:tc>
                  <a:txBody>
                    <a:bodyPr/>
                    <a:lstStyle/>
                    <a:p>
                      <a:pPr algn="r" indent="0" marL="0">
                        <a:buNone/>
                      </a:pPr>
                      <a:r>
                        <a:rPr lang="en-US" sz="1050" dirty="0">
                          <a:solidFill>
                            <a:srgbClr val="3A4757"/>
                          </a:solidFill>
                          <a:latin typeface="Calibri" pitchFamily="34" charset="0"/>
                          <a:ea typeface="Calibri" pitchFamily="34" charset="-122"/>
                          <a:cs typeface="Calibri" pitchFamily="34" charset="-120"/>
                        </a:rPr>
                        <a:t>281</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A4757"/>
                          </a:solidFill>
                          <a:latin typeface="Calibri" pitchFamily="34" charset="0"/>
                          <a:ea typeface="Calibri" pitchFamily="34" charset="-122"/>
                          <a:cs typeface="Calibri" pitchFamily="34" charset="-120"/>
                        </a:rPr>
                        <a:t>0.559</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AFBFC"/>
                    </a:solidFill>
                  </a:tcPr>
                </a:tc>
                <a:tc>
                  <a:txBody>
                    <a:bodyPr/>
                    <a:lstStyle/>
                    <a:p>
                      <a:pPr algn="r" indent="0" marL="0">
                        <a:buNone/>
                      </a:pPr>
                      <a:r>
                        <a:rPr lang="en-US" sz="1050" dirty="0">
                          <a:solidFill>
                            <a:srgbClr val="3A4757"/>
                          </a:solidFill>
                          <a:latin typeface="Calibri" pitchFamily="34" charset="0"/>
                          <a:ea typeface="Calibri" pitchFamily="34" charset="-122"/>
                          <a:cs typeface="Calibri" pitchFamily="34" charset="-120"/>
                        </a:rPr>
                        <a:t>2.34×</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A86B12"/>
                          </a:solidFill>
                          <a:latin typeface="Calibri" pitchFamily="34" charset="0"/>
                          <a:ea typeface="Calibri" pitchFamily="34" charset="-122"/>
                          <a:cs typeface="Calibri" pitchFamily="34" charset="-120"/>
                        </a:rPr>
                        <a:t>R5</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AFBFC"/>
                    </a:solidFill>
                  </a:tcPr>
                </a:tc>
                <a:tc>
                  <a:txBody>
                    <a:bodyPr/>
                    <a:lstStyle/>
                    <a:p>
                      <a:pPr algn="l" indent="0" marL="0">
                        <a:buNone/>
                      </a:pPr>
                      <a:r>
                        <a:rPr lang="en-US" sz="1050" dirty="0">
                          <a:solidFill>
                            <a:srgbClr val="3A4757"/>
                          </a:solidFill>
                          <a:latin typeface="Calibri" pitchFamily="34" charset="0"/>
                          <a:ea typeface="Calibri" pitchFamily="34" charset="-122"/>
                          <a:cs typeface="Calibri" pitchFamily="34" charset="-120"/>
                        </a:rPr>
                        <a:t>num_planes = 4 + burst_length = 64 + scrambler_enable = 1</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757"/>
                          </a:solidFill>
                          <a:latin typeface="Calibri" pitchFamily="34" charset="0"/>
                          <a:ea typeface="Calibri" pitchFamily="34" charset="-122"/>
                          <a:cs typeface="Calibri" pitchFamily="34" charset="-120"/>
                        </a:rPr>
                        <a:t>set 0.98, deterministic</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AFBFC"/>
                    </a:solidFill>
                  </a:tcPr>
                </a:tc>
                <a:tc>
                  <a:txBody>
                    <a:bodyPr/>
                    <a:lstStyle/>
                    <a:p>
                      <a:pPr algn="r" indent="0" marL="0">
                        <a:buNone/>
                      </a:pPr>
                      <a:r>
                        <a:rPr lang="en-US" sz="1050" dirty="0">
                          <a:solidFill>
                            <a:srgbClr val="3A4757"/>
                          </a:solidFill>
                          <a:latin typeface="Calibri" pitchFamily="34" charset="0"/>
                          <a:ea typeface="Calibri" pitchFamily="34" charset="-122"/>
                          <a:cs typeface="Calibri" pitchFamily="34" charset="-120"/>
                        </a:rPr>
                        <a:t>815</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A4757"/>
                          </a:solidFill>
                          <a:latin typeface="Calibri" pitchFamily="34" charset="0"/>
                          <a:ea typeface="Calibri" pitchFamily="34" charset="-122"/>
                          <a:cs typeface="Calibri" pitchFamily="34" charset="-120"/>
                        </a:rPr>
                        <a:t>0.987</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AFBFC"/>
                    </a:solidFill>
                  </a:tcPr>
                </a:tc>
                <a:tc>
                  <a:txBody>
                    <a:bodyPr/>
                    <a:lstStyle/>
                    <a:p>
                      <a:pPr algn="r" indent="0" marL="0">
                        <a:buNone/>
                      </a:pPr>
                      <a:r>
                        <a:rPr lang="en-US" sz="1050" dirty="0">
                          <a:solidFill>
                            <a:srgbClr val="3A4757"/>
                          </a:solidFill>
                          <a:latin typeface="Calibri" pitchFamily="34" charset="0"/>
                          <a:ea typeface="Calibri" pitchFamily="34" charset="-122"/>
                          <a:cs typeface="Calibri" pitchFamily="34" charset="-120"/>
                        </a:rPr>
                        <a:t>4.33×</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A86B12"/>
                          </a:solidFill>
                          <a:latin typeface="Calibri" pitchFamily="34" charset="0"/>
                          <a:ea typeface="Calibri" pitchFamily="34" charset="-122"/>
                          <a:cs typeface="Calibri" pitchFamily="34" charset="-120"/>
                        </a:rPr>
                        <a:t>R6</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AFBFC"/>
                    </a:solidFill>
                  </a:tcPr>
                </a:tc>
                <a:tc>
                  <a:txBody>
                    <a:bodyPr/>
                    <a:lstStyle/>
                    <a:p>
                      <a:pPr algn="l" indent="0" marL="0">
                        <a:buNone/>
                      </a:pPr>
                      <a:r>
                        <a:rPr lang="en-US" sz="1050" dirty="0">
                          <a:solidFill>
                            <a:srgbClr val="3A4757"/>
                          </a:solidFill>
                          <a:latin typeface="Calibri" pitchFamily="34" charset="0"/>
                          <a:ea typeface="Calibri" pitchFamily="34" charset="-122"/>
                          <a:cs typeface="Calibri" pitchFamily="34" charset="-120"/>
                        </a:rPr>
                        <a:t>clock_freq_mhz ≥ 1000 + prefetch_depth &gt; 8</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757"/>
                          </a:solidFill>
                          <a:latin typeface="Calibri" pitchFamily="34" charset="0"/>
                          <a:ea typeface="Calibri" pitchFamily="34" charset="-122"/>
                          <a:cs typeface="Calibri" pitchFamily="34" charset="-120"/>
                        </a:rPr>
                        <a:t>+0.30, TIMEOUT</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AFBFC"/>
                    </a:solidFill>
                  </a:tcPr>
                </a:tc>
                <a:tc>
                  <a:txBody>
                    <a:bodyPr/>
                    <a:lstStyle/>
                    <a:p>
                      <a:pPr algn="r" indent="0" marL="0">
                        <a:buNone/>
                      </a:pPr>
                      <a:r>
                        <a:rPr lang="en-US" sz="1050" dirty="0">
                          <a:solidFill>
                            <a:srgbClr val="3A4757"/>
                          </a:solidFill>
                          <a:latin typeface="Calibri" pitchFamily="34" charset="0"/>
                          <a:ea typeface="Calibri" pitchFamily="34" charset="-122"/>
                          <a:cs typeface="Calibri" pitchFamily="34" charset="-120"/>
                        </a:rPr>
                        <a:t>8,014</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A4757"/>
                          </a:solidFill>
                          <a:latin typeface="Calibri" pitchFamily="34" charset="0"/>
                          <a:ea typeface="Calibri" pitchFamily="34" charset="-122"/>
                          <a:cs typeface="Calibri" pitchFamily="34" charset="-120"/>
                        </a:rPr>
                        <a:t>0.475</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AFBFC"/>
                    </a:solidFill>
                  </a:tcPr>
                </a:tc>
                <a:tc>
                  <a:txBody>
                    <a:bodyPr/>
                    <a:lstStyle/>
                    <a:p>
                      <a:pPr algn="r" indent="0" marL="0">
                        <a:buNone/>
                      </a:pPr>
                      <a:r>
                        <a:rPr lang="en-US" sz="1050" dirty="0">
                          <a:solidFill>
                            <a:srgbClr val="3A4757"/>
                          </a:solidFill>
                          <a:latin typeface="Calibri" pitchFamily="34" charset="0"/>
                          <a:ea typeface="Calibri" pitchFamily="34" charset="-122"/>
                          <a:cs typeface="Calibri" pitchFamily="34" charset="-120"/>
                        </a:rPr>
                        <a:t>2.43×</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A86B12"/>
                          </a:solidFill>
                          <a:latin typeface="Calibri" pitchFamily="34" charset="0"/>
                          <a:ea typeface="Calibri" pitchFamily="34" charset="-122"/>
                          <a:cs typeface="Calibri" pitchFamily="34" charset="-120"/>
                        </a:rPr>
                        <a:t>R7</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AFBFC"/>
                    </a:solidFill>
                  </a:tcPr>
                </a:tc>
                <a:tc>
                  <a:txBody>
                    <a:bodyPr/>
                    <a:lstStyle/>
                    <a:p>
                      <a:pPr algn="l" indent="0" marL="0">
                        <a:buNone/>
                      </a:pPr>
                      <a:r>
                        <a:rPr lang="en-US" sz="1050" dirty="0">
                          <a:solidFill>
                            <a:srgbClr val="3A4757"/>
                          </a:solidFill>
                          <a:latin typeface="Calibri" pitchFamily="34" charset="0"/>
                          <a:ea typeface="Calibri" pitchFamily="34" charset="-122"/>
                          <a:cs typeface="Calibri" pitchFamily="34" charset="-120"/>
                        </a:rPr>
                        <a:t>cache_policy = Disabled + queue_depth ≥ 16</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757"/>
                          </a:solidFill>
                          <a:latin typeface="Calibri" pitchFamily="34" charset="0"/>
                          <a:ea typeface="Calibri" pitchFamily="34" charset="-122"/>
                          <a:cs typeface="Calibri" pitchFamily="34" charset="-120"/>
                        </a:rPr>
                        <a:t>+0.30, DATA_MISMATCH</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AFBFC"/>
                    </a:solidFill>
                  </a:tcPr>
                </a:tc>
                <a:tc>
                  <a:txBody>
                    <a:bodyPr/>
                    <a:lstStyle/>
                    <a:p>
                      <a:pPr algn="r" indent="0" marL="0">
                        <a:buNone/>
                      </a:pPr>
                      <a:r>
                        <a:rPr lang="en-US" sz="1050" dirty="0">
                          <a:solidFill>
                            <a:srgbClr val="3A4757"/>
                          </a:solidFill>
                          <a:latin typeface="Calibri" pitchFamily="34" charset="0"/>
                          <a:ea typeface="Calibri" pitchFamily="34" charset="-122"/>
                          <a:cs typeface="Calibri" pitchFamily="34" charset="-120"/>
                        </a:rPr>
                        <a:t>2,800</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A4757"/>
                          </a:solidFill>
                          <a:latin typeface="Calibri" pitchFamily="34" charset="0"/>
                          <a:ea typeface="Calibri" pitchFamily="34" charset="-122"/>
                          <a:cs typeface="Calibri" pitchFamily="34" charset="-120"/>
                        </a:rPr>
                        <a:t>0.493</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AFBFC"/>
                    </a:solidFill>
                  </a:tcPr>
                </a:tc>
                <a:tc>
                  <a:txBody>
                    <a:bodyPr/>
                    <a:lstStyle/>
                    <a:p>
                      <a:pPr algn="r" indent="0" marL="0">
                        <a:buNone/>
                      </a:pPr>
                      <a:r>
                        <a:rPr lang="en-US" sz="1050" dirty="0">
                          <a:solidFill>
                            <a:srgbClr val="3A4757"/>
                          </a:solidFill>
                          <a:latin typeface="Calibri" pitchFamily="34" charset="0"/>
                          <a:ea typeface="Calibri" pitchFamily="34" charset="-122"/>
                          <a:cs typeface="Calibri" pitchFamily="34" charset="-120"/>
                        </a:rPr>
                        <a:t>2.19×</a:t>
                      </a:r>
                      <a:endParaRPr lang="en-US" sz="1050" dirty="0">
                        <a:latin typeface="Calibri" charset="0"/>
                        <a:ea typeface="Calibri" charset="0"/>
                        <a:cs typeface="Calibri" charset="0"/>
                      </a:endParaRPr>
                    </a:p>
                  </a:txBody>
                  <a:tcPr marL="54864" marR="54864" marT="54864" marB="54864" anchor="ctr">
                    <a:lnL w="12700" cap="flat" cmpd="sng" algn="ctr">
                      <a:solidFill>
                        <a:srgbClr val="E3E9EF"/>
                      </a:solidFill>
                      <a:prstDash val="solid"/>
                      <a:round/>
                      <a:headEnd type="none" w="med" len="med"/>
                      <a:tailEnd type="none" w="med" len="med"/>
                    </a:lnL>
                    <a:lnR w="12700" cap="flat" cmpd="sng" algn="ctr">
                      <a:solidFill>
                        <a:srgbClr val="E3E9EF"/>
                      </a:solidFill>
                      <a:prstDash val="solid"/>
                      <a:round/>
                      <a:headEnd type="none" w="med" len="med"/>
                      <a:tailEnd type="none" w="med" len="med"/>
                    </a:lnR>
                    <a:lnT w="12700" cap="flat" cmpd="sng" algn="ctr">
                      <a:solidFill>
                        <a:srgbClr val="E3E9EF"/>
                      </a:solidFill>
                      <a:prstDash val="solid"/>
                      <a:round/>
                      <a:headEnd type="none" w="med" len="med"/>
                      <a:tailEnd type="none" w="med" len="med"/>
                    </a:lnT>
                    <a:lnB w="12700" cap="flat" cmpd="sng" algn="ctr">
                      <a:solidFill>
                        <a:srgbClr val="E3E9EF"/>
                      </a:solidFill>
                      <a:prstDash val="solid"/>
                      <a:round/>
                      <a:headEnd type="none" w="med" len="med"/>
                      <a:tailEnd type="none" w="med" len="med"/>
                    </a:lnB>
                    <a:solidFill>
                      <a:srgbClr val="FFFFFF"/>
                    </a:solidFill>
                  </a:tcPr>
                </a:tc>
              </a:tr>
            </a:tbl>
          </a:graphicData>
        </a:graphic>
      </p:graphicFrame>
      <p:sp>
        <p:nvSpPr>
          <p:cNvPr id="8" name="Shape 5"/>
          <p:cNvSpPr/>
          <p:nvPr/>
        </p:nvSpPr>
        <p:spPr>
          <a:xfrm>
            <a:off x="8659368" y="1737360"/>
            <a:ext cx="2965399" cy="1783080"/>
          </a:xfrm>
          <a:prstGeom prst="roundRect">
            <a:avLst>
              <a:gd name="adj" fmla="val 3077"/>
            </a:avLst>
          </a:prstGeom>
          <a:solidFill>
            <a:srgbClr val="FFFFFF"/>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9" name="Shape 6"/>
          <p:cNvSpPr/>
          <p:nvPr/>
        </p:nvSpPr>
        <p:spPr>
          <a:xfrm>
            <a:off x="8897112" y="1938528"/>
            <a:ext cx="420624" cy="420624"/>
          </a:xfrm>
          <a:prstGeom prst="roundRect">
            <a:avLst>
              <a:gd name="adj" fmla="val 47826"/>
            </a:avLst>
          </a:prstGeom>
          <a:solidFill>
            <a:srgbClr val="E5484D"/>
          </a:solidFill>
          <a:ln w="12700">
            <a:solidFill>
              <a:srgbClr val="E5484D"/>
            </a:solidFill>
            <a:prstDash val="solid"/>
          </a:ln>
        </p:spPr>
      </p:sp>
      <p:sp>
        <p:nvSpPr>
          <p:cNvPr id="10" name="Text 7"/>
          <p:cNvSpPr txBox="1"/>
          <p:nvPr/>
        </p:nvSpPr>
        <p:spPr>
          <a:xfrm>
            <a:off x="8897112" y="1938528"/>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R5</a:t>
            </a:r>
            <a:endParaRPr lang="en-US" sz="1250" dirty="0"/>
          </a:p>
        </p:txBody>
      </p:sp>
      <p:sp>
        <p:nvSpPr>
          <p:cNvPr id="11" name="Text 8"/>
          <p:cNvSpPr txBox="1"/>
          <p:nvPr/>
        </p:nvSpPr>
        <p:spPr>
          <a:xfrm>
            <a:off x="9427464" y="1975104"/>
            <a:ext cx="1959559" cy="274320"/>
          </a:xfrm>
          <a:prstGeom prst="rect">
            <a:avLst/>
          </a:prstGeom>
          <a:noFill/>
          <a:ln/>
        </p:spPr>
        <p:txBody>
          <a:bodyPr wrap="square" lIns="0" tIns="0" rIns="0" bIns="0" rtlCol="0" anchor="ctr"/>
          <a:lstStyle/>
          <a:p>
            <a:pPr indent="0" marL="0">
              <a:buNone/>
            </a:pPr>
            <a:r>
              <a:rPr lang="en-US" sz="1450" b="1" dirty="0">
                <a:solidFill>
                  <a:srgbClr val="10151C"/>
                </a:solidFill>
                <a:latin typeface="Cambria" pitchFamily="34" charset="0"/>
                <a:ea typeface="Cambria" pitchFamily="34" charset="-122"/>
                <a:cs typeface="Cambria" pitchFamily="34" charset="-120"/>
              </a:rPr>
              <a:t>The planted RTL bug</a:t>
            </a:r>
            <a:endParaRPr lang="en-US" sz="1450" dirty="0"/>
          </a:p>
        </p:txBody>
      </p:sp>
      <p:sp>
        <p:nvSpPr>
          <p:cNvPr id="12" name="Text 9"/>
          <p:cNvSpPr txBox="1"/>
          <p:nvPr/>
        </p:nvSpPr>
        <p:spPr>
          <a:xfrm>
            <a:off x="8897112" y="2450592"/>
            <a:ext cx="2489911" cy="914400"/>
          </a:xfrm>
          <a:prstGeom prst="rect">
            <a:avLst/>
          </a:prstGeom>
          <a:noFill/>
          <a:ln/>
        </p:spPr>
        <p:txBody>
          <a:bodyPr wrap="square" lIns="0" tIns="0" rIns="0" bIns="0" rtlCol="0" anchor="ctr"/>
          <a:lstStyle/>
          <a:p>
            <a:pPr indent="0" marL="0">
              <a:lnSpc>
                <a:spcPct val="108000"/>
              </a:lnSpc>
              <a:buNone/>
            </a:pPr>
            <a:r>
              <a:rPr lang="en-US" sz="1150" dirty="0">
                <a:solidFill>
                  <a:srgbClr val="3A4757"/>
                </a:solidFill>
                <a:latin typeface="Calibri" pitchFamily="34" charset="0"/>
                <a:ea typeface="Calibri" pitchFamily="34" charset="-122"/>
                <a:cs typeface="Calibri" pitchFamily="34" charset="-120"/>
              </a:rPr>
              <a:t>R5 emits a byte-identical error trace on every hit, whatever the seed. It is the target the fingerprinting stage has to isolate from ordinary flakes.</a:t>
            </a:r>
            <a:endParaRPr lang="en-US" sz="1150" dirty="0"/>
          </a:p>
        </p:txBody>
      </p:sp>
      <p:sp>
        <p:nvSpPr>
          <p:cNvPr id="13" name="Shape 10"/>
          <p:cNvSpPr/>
          <p:nvPr/>
        </p:nvSpPr>
        <p:spPr>
          <a:xfrm>
            <a:off x="8659368" y="3648456"/>
            <a:ext cx="2965399" cy="2121408"/>
          </a:xfrm>
          <a:prstGeom prst="roundRect">
            <a:avLst>
              <a:gd name="adj" fmla="val 2586"/>
            </a:avLst>
          </a:prstGeom>
          <a:solidFill>
            <a:srgbClr val="FFFFFF"/>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14" name="Shape 11"/>
          <p:cNvSpPr/>
          <p:nvPr/>
        </p:nvSpPr>
        <p:spPr>
          <a:xfrm>
            <a:off x="8897112" y="3849624"/>
            <a:ext cx="420624" cy="420624"/>
          </a:xfrm>
          <a:prstGeom prst="roundRect">
            <a:avLst>
              <a:gd name="adj" fmla="val 47826"/>
            </a:avLst>
          </a:prstGeom>
          <a:solidFill>
            <a:srgbClr val="1FB6A6"/>
          </a:solidFill>
          <a:ln w="12700">
            <a:solidFill>
              <a:srgbClr val="1FB6A6"/>
            </a:solidFill>
            <a:prstDash val="solid"/>
          </a:ln>
        </p:spPr>
      </p:sp>
      <p:sp>
        <p:nvSpPr>
          <p:cNvPr id="15" name="Text 12"/>
          <p:cNvSpPr txBox="1"/>
          <p:nvPr/>
        </p:nvSpPr>
        <p:spPr>
          <a:xfrm>
            <a:off x="8897112" y="3849624"/>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16" name="Text 13"/>
          <p:cNvSpPr txBox="1"/>
          <p:nvPr/>
        </p:nvSpPr>
        <p:spPr>
          <a:xfrm>
            <a:off x="9427464" y="3886200"/>
            <a:ext cx="1959559" cy="274320"/>
          </a:xfrm>
          <a:prstGeom prst="rect">
            <a:avLst/>
          </a:prstGeom>
          <a:noFill/>
          <a:ln/>
        </p:spPr>
        <p:txBody>
          <a:bodyPr wrap="square" lIns="0" tIns="0" rIns="0" bIns="0" rtlCol="0" anchor="ctr"/>
          <a:lstStyle/>
          <a:p>
            <a:pPr indent="0" marL="0">
              <a:buNone/>
            </a:pPr>
            <a:r>
              <a:rPr lang="en-US" sz="1450" b="1" dirty="0">
                <a:solidFill>
                  <a:srgbClr val="10151C"/>
                </a:solidFill>
                <a:latin typeface="Cambria" pitchFamily="34" charset="0"/>
                <a:ea typeface="Cambria" pitchFamily="34" charset="-122"/>
                <a:cs typeface="Cambria" pitchFamily="34" charset="-120"/>
              </a:rPr>
              <a:t>Graded, not guessed</a:t>
            </a:r>
            <a:endParaRPr lang="en-US" sz="1450" dirty="0"/>
          </a:p>
        </p:txBody>
      </p:sp>
      <p:sp>
        <p:nvSpPr>
          <p:cNvPr id="17" name="Text 14"/>
          <p:cNvSpPr txBox="1"/>
          <p:nvPr/>
        </p:nvSpPr>
        <p:spPr>
          <a:xfrm>
            <a:off x="8897112" y="4352544"/>
            <a:ext cx="2489911" cy="1280160"/>
          </a:xfrm>
          <a:prstGeom prst="rect">
            <a:avLst/>
          </a:prstGeom>
          <a:noFill/>
          <a:ln/>
        </p:spPr>
        <p:txBody>
          <a:bodyPr wrap="square" lIns="0" tIns="0" rIns="0" bIns="0" rtlCol="0" anchor="ctr"/>
          <a:lstStyle/>
          <a:p>
            <a:pPr marL="342900" indent="-342900">
              <a:lnSpc>
                <a:spcPct val="100000"/>
              </a:lnSpc>
              <a:spcAft>
                <a:spcPts val="800"/>
              </a:spcAft>
              <a:buSzPct val="100000"/>
              <a:buChar char="•"/>
            </a:pPr>
            <a:r>
              <a:rPr lang="en-US" sz="1150" dirty="0">
                <a:solidFill>
                  <a:srgbClr val="3A4757"/>
                </a:solidFill>
                <a:latin typeface="Calibri" pitchFamily="34" charset="0"/>
                <a:ea typeface="Calibri" pitchFamily="34" charset="-122"/>
                <a:cs typeface="Calibri" pitchFamily="34" charset="-120"/>
              </a:rPr>
              <a:t>R1 and R2 are the two rules named in the problem brief.</a:t>
            </a:r>
            <a:endParaRPr lang="en-US" sz="1150" dirty="0"/>
          </a:p>
          <a:p>
            <a:pPr marL="342900" indent="-342900">
              <a:lnSpc>
                <a:spcPct val="100000"/>
              </a:lnSpc>
              <a:spcAft>
                <a:spcPts val="800"/>
              </a:spcAft>
              <a:buSzPct val="100000"/>
              <a:buChar char="•"/>
            </a:pPr>
            <a:r>
              <a:rPr lang="en-US" sz="1150" dirty="0">
                <a:solidFill>
                  <a:srgbClr val="3A4757"/>
                </a:solidFill>
                <a:latin typeface="Calibri" pitchFamily="34" charset="0"/>
                <a:ea typeface="Calibri" pitchFamily="34" charset="-122"/>
                <a:cs typeface="Calibri" pitchFamily="34" charset="-120"/>
              </a:rPr>
              <a:t>Every lift figure shown is measured on the corpus, not assumed.</a:t>
            </a:r>
            <a:endParaRPr lang="en-US" sz="1150" dirty="0"/>
          </a:p>
          <a:p>
            <a:pPr marL="342900" indent="-342900">
              <a:lnSpc>
                <a:spcPct val="100000"/>
              </a:lnSpc>
              <a:spcAft>
                <a:spcPts val="800"/>
              </a:spcAft>
              <a:buSzPct val="100000"/>
              <a:buChar char="•"/>
            </a:pPr>
            <a:r>
              <a:rPr lang="en-US" sz="1150" dirty="0">
                <a:solidFill>
                  <a:srgbClr val="3A4757"/>
                </a:solidFill>
                <a:latin typeface="Calibri" pitchFamily="34" charset="0"/>
                <a:ea typeface="Calibri" pitchFamily="34" charset="-122"/>
                <a:cs typeface="Calibri" pitchFamily="34" charset="-120"/>
              </a:rPr>
              <a:t>Any future model change is re-scored against the same answer key.</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20" kern="0" dirty="0">
                <a:solidFill>
                  <a:srgbClr val="A86B12"/>
                </a:solidFill>
                <a:latin typeface="Calibri" pitchFamily="34" charset="0"/>
                <a:ea typeface="Calibri" pitchFamily="34" charset="-122"/>
                <a:cs typeface="Calibri" pitchFamily="34" charset="-120"/>
              </a:rPr>
              <a:t>MODEL</a:t>
            </a:r>
            <a:endParaRPr lang="en-US" sz="105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300" b="1" dirty="0">
                <a:solidFill>
                  <a:srgbClr val="10151C"/>
                </a:solidFill>
                <a:latin typeface="Cambria" pitchFamily="34" charset="0"/>
                <a:ea typeface="Cambria" pitchFamily="34" charset="-122"/>
                <a:cs typeface="Cambria" pitchFamily="34" charset="-120"/>
              </a:rPr>
              <a:t>Failure-risk classifier with SHAP attribution</a:t>
            </a:r>
            <a:endParaRPr lang="en-US" sz="3300" dirty="0"/>
          </a:p>
        </p:txBody>
      </p:sp>
      <p:sp>
        <p:nvSpPr>
          <p:cNvPr id="4" name="Text 2"/>
          <p:cNvSpPr txBox="1"/>
          <p:nvPr/>
        </p:nvSpPr>
        <p:spPr>
          <a:xfrm>
            <a:off x="566928" y="1188720"/>
            <a:ext cx="10874959" cy="310896"/>
          </a:xfrm>
          <a:prstGeom prst="rect">
            <a:avLst/>
          </a:prstGeom>
          <a:noFill/>
          <a:ln/>
        </p:spPr>
        <p:txBody>
          <a:bodyPr wrap="square" lIns="0" tIns="0" rIns="0" bIns="0" rtlCol="0" anchor="ctr"/>
          <a:lstStyle/>
          <a:p>
            <a:pPr indent="0" marL="0">
              <a:buNone/>
            </a:pPr>
            <a:r>
              <a:rPr lang="en-US" sz="1300" dirty="0">
                <a:solidFill>
                  <a:srgbClr val="76838F"/>
                </a:solidFill>
                <a:latin typeface="Calibri" pitchFamily="34" charset="0"/>
                <a:ea typeface="Calibri" pitchFamily="34" charset="-122"/>
                <a:cs typeface="Calibri" pitchFamily="34" charset="-120"/>
              </a:rPr>
              <a:t>LightGBM gradient boosting on configuration knobs only — the settings an engineer can actually change.</a:t>
            </a:r>
            <a:endParaRPr lang="en-US" sz="1300" dirty="0"/>
          </a:p>
        </p:txBody>
      </p:sp>
      <p:sp>
        <p:nvSpPr>
          <p:cNvPr id="5" name="Text 3"/>
          <p:cNvSpPr txBox="1"/>
          <p:nvPr/>
        </p:nvSpPr>
        <p:spPr>
          <a:xfrm>
            <a:off x="566928" y="6327648"/>
            <a:ext cx="5486400" cy="274320"/>
          </a:xfrm>
          <a:prstGeom prst="rect">
            <a:avLst/>
          </a:prstGeom>
          <a:noFill/>
          <a:ln/>
        </p:spPr>
        <p:txBody>
          <a:bodyPr wrap="square" lIns="0" tIns="0" rIns="0" bIns="0" rtlCol="0" anchor="ctr"/>
          <a:lstStyle/>
          <a:p>
            <a:pPr algn="l" indent="0" marL="0">
              <a:buNone/>
            </a:pPr>
            <a:r>
              <a:rPr lang="en-US" sz="900" dirty="0">
                <a:solidFill>
                  <a:srgbClr val="76838F"/>
                </a:solidFill>
                <a:latin typeface="Calibri" pitchFamily="34" charset="0"/>
                <a:ea typeface="Calibri" pitchFamily="34" charset="-122"/>
                <a:cs typeface="Calibri" pitchFamily="34" charset="-120"/>
              </a:rPr>
              <a:t>UVM Configuration Intelligence  ·  Team Asterix</a:t>
            </a:r>
            <a:endParaRPr lang="en-US" sz="900" dirty="0"/>
          </a:p>
        </p:txBody>
      </p:sp>
      <p:sp>
        <p:nvSpPr>
          <p:cNvPr id="6" name="Text 4"/>
          <p:cNvSpPr txBox="1"/>
          <p:nvPr/>
        </p:nvSpPr>
        <p:spPr>
          <a:xfrm>
            <a:off x="10527487" y="6327648"/>
            <a:ext cx="1097280" cy="274320"/>
          </a:xfrm>
          <a:prstGeom prst="rect">
            <a:avLst/>
          </a:prstGeom>
          <a:noFill/>
          <a:ln/>
        </p:spPr>
        <p:txBody>
          <a:bodyPr wrap="square" lIns="0" tIns="0" rIns="0" bIns="0" rtlCol="0" anchor="ctr"/>
          <a:lstStyle/>
          <a:p>
            <a:pPr algn="r" indent="0" marL="0">
              <a:buNone/>
            </a:pPr>
            <a:r>
              <a:rPr lang="en-US" sz="900" b="1" dirty="0">
                <a:solidFill>
                  <a:srgbClr val="76838F"/>
                </a:solidFill>
                <a:latin typeface="Calibri" pitchFamily="34" charset="0"/>
                <a:ea typeface="Calibri" pitchFamily="34" charset="-122"/>
                <a:cs typeface="Calibri" pitchFamily="34" charset="-120"/>
              </a:rPr>
              <a:t>07</a:t>
            </a:r>
            <a:endParaRPr lang="en-US" sz="900" dirty="0"/>
          </a:p>
        </p:txBody>
      </p:sp>
      <p:sp>
        <p:nvSpPr>
          <p:cNvPr id="7" name="Shape 5"/>
          <p:cNvSpPr/>
          <p:nvPr/>
        </p:nvSpPr>
        <p:spPr>
          <a:xfrm>
            <a:off x="566928" y="1755648"/>
            <a:ext cx="5806440" cy="4041648"/>
          </a:xfrm>
          <a:prstGeom prst="roundRect">
            <a:avLst>
              <a:gd name="adj" fmla="val 1357"/>
            </a:avLst>
          </a:prstGeom>
          <a:solidFill>
            <a:srgbClr val="F7F9FB"/>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8" name="Text 6"/>
          <p:cNvSpPr txBox="1"/>
          <p:nvPr/>
        </p:nvSpPr>
        <p:spPr>
          <a:xfrm>
            <a:off x="859536" y="1975104"/>
            <a:ext cx="5212080" cy="292608"/>
          </a:xfrm>
          <a:prstGeom prst="rect">
            <a:avLst/>
          </a:prstGeom>
          <a:noFill/>
          <a:ln/>
        </p:spPr>
        <p:txBody>
          <a:bodyPr wrap="square" lIns="0" tIns="0" rIns="0" bIns="0" rtlCol="0" anchor="ctr"/>
          <a:lstStyle/>
          <a:p>
            <a:pPr indent="0" marL="0">
              <a:buNone/>
            </a:pPr>
            <a:r>
              <a:rPr lang="en-US" sz="1650" b="1" dirty="0">
                <a:solidFill>
                  <a:srgbClr val="10151C"/>
                </a:solidFill>
                <a:latin typeface="Cambria" pitchFamily="34" charset="0"/>
                <a:ea typeface="Cambria" pitchFamily="34" charset="-122"/>
                <a:cs typeface="Cambria" pitchFamily="34" charset="-120"/>
              </a:rPr>
              <a:t>Design decisions that matter</a:t>
            </a:r>
            <a:endParaRPr lang="en-US" sz="1650" dirty="0"/>
          </a:p>
        </p:txBody>
      </p:sp>
      <p:sp>
        <p:nvSpPr>
          <p:cNvPr id="9" name="Text 7"/>
          <p:cNvSpPr txBox="1"/>
          <p:nvPr/>
        </p:nvSpPr>
        <p:spPr>
          <a:xfrm>
            <a:off x="859536" y="2395728"/>
            <a:ext cx="5212080" cy="3200400"/>
          </a:xfrm>
          <a:prstGeom prst="rect">
            <a:avLst/>
          </a:prstGeom>
          <a:noFill/>
          <a:ln/>
        </p:spPr>
        <p:txBody>
          <a:bodyPr wrap="square" lIns="0" tIns="0" rIns="0" bIns="0" rtlCol="0" anchor="ctr"/>
          <a:lstStyle/>
          <a:p>
            <a:pPr marL="342900" indent="-342900">
              <a:lnSpc>
                <a:spcPct val="100000"/>
              </a:lnSpc>
              <a:spcAft>
                <a:spcPts val="900"/>
              </a:spcAft>
              <a:buSzPct val="100000"/>
              <a:buChar char="•"/>
            </a:pPr>
            <a:r>
              <a:rPr lang="en-US" sz="1200" dirty="0">
                <a:solidFill>
                  <a:srgbClr val="3A4757"/>
                </a:solidFill>
                <a:latin typeface="Calibri" pitchFamily="34" charset="0"/>
                <a:ea typeface="Calibri" pitchFamily="34" charset="-122"/>
                <a:cs typeface="Calibri" pitchFamily="34" charset="-120"/>
              </a:rPr>
              <a:t>Leakage guard: every outcome column — execution_time_ms, throughput_mbps, cycles, UVM error counts, verdict, error tags, traces — is excluded from the feature set by construction.</a:t>
            </a:r>
            <a:endParaRPr lang="en-US" sz="1200" dirty="0"/>
          </a:p>
          <a:p>
            <a:pPr marL="342900" indent="-342900">
              <a:lnSpc>
                <a:spcPct val="100000"/>
              </a:lnSpc>
              <a:spcAft>
                <a:spcPts val="900"/>
              </a:spcAft>
              <a:buSzPct val="100000"/>
              <a:buChar char="•"/>
            </a:pPr>
            <a:r>
              <a:rPr lang="en-US" sz="1200" dirty="0">
                <a:solidFill>
                  <a:srgbClr val="3A4757"/>
                </a:solidFill>
                <a:latin typeface="Calibri" pitchFamily="34" charset="0"/>
                <a:ea typeface="Calibri" pitchFamily="34" charset="-122"/>
                <a:cs typeface="Calibri" pitchFamily="34" charset="-120"/>
              </a:rPr>
              <a:t>seed and run_id are dropped too: a seed is not a setting anyone can ship.</a:t>
            </a:r>
            <a:endParaRPr lang="en-US" sz="1200" dirty="0"/>
          </a:p>
          <a:p>
            <a:pPr marL="342900" indent="-342900">
              <a:lnSpc>
                <a:spcPct val="100000"/>
              </a:lnSpc>
              <a:spcAft>
                <a:spcPts val="900"/>
              </a:spcAft>
              <a:buSzPct val="100000"/>
              <a:buChar char="•"/>
            </a:pPr>
            <a:r>
              <a:rPr lang="en-US" sz="1200" dirty="0">
                <a:solidFill>
                  <a:srgbClr val="3A4757"/>
                </a:solidFill>
                <a:latin typeface="Calibri" pitchFamily="34" charset="0"/>
                <a:ea typeface="Calibri" pitchFamily="34" charset="-122"/>
                <a:cs typeface="Calibri" pitchFamily="34" charset="-120"/>
              </a:rPr>
              <a:t>Categorical knobs are cast to pandas category and handled natively by LightGBM — no one-hot blow-up.</a:t>
            </a:r>
            <a:endParaRPr lang="en-US" sz="1200" dirty="0"/>
          </a:p>
          <a:p>
            <a:pPr marL="342900" indent="-342900">
              <a:lnSpc>
                <a:spcPct val="100000"/>
              </a:lnSpc>
              <a:spcAft>
                <a:spcPts val="900"/>
              </a:spcAft>
              <a:buSzPct val="100000"/>
              <a:buChar char="•"/>
            </a:pPr>
            <a:r>
              <a:rPr lang="en-US" sz="1200" dirty="0">
                <a:solidFill>
                  <a:srgbClr val="3A4757"/>
                </a:solidFill>
                <a:latin typeface="Calibri" pitchFamily="34" charset="0"/>
                <a:ea typeface="Calibri" pitchFamily="34" charset="-122"/>
                <a:cs typeface="Calibri" pitchFamily="34" charset="-120"/>
              </a:rPr>
              <a:t>SHAP TreeExplainer gives global importance and per-value attribution, so the output is 'cache_policy = Adaptive raises risk', not just 'cache_policy matters'.</a:t>
            </a:r>
            <a:endParaRPr lang="en-US" sz="1200" dirty="0"/>
          </a:p>
          <a:p>
            <a:pPr marL="342900" indent="-342900">
              <a:lnSpc>
                <a:spcPct val="100000"/>
              </a:lnSpc>
              <a:spcAft>
                <a:spcPts val="900"/>
              </a:spcAft>
              <a:buSzPct val="100000"/>
              <a:buChar char="•"/>
            </a:pPr>
            <a:r>
              <a:rPr lang="en-US" sz="1200" dirty="0">
                <a:solidFill>
                  <a:srgbClr val="3A4757"/>
                </a:solidFill>
                <a:latin typeface="Calibri" pitchFamily="34" charset="0"/>
                <a:ea typeface="Calibri" pitchFamily="34" charset="-122"/>
                <a:cs typeface="Calibri" pitchFamily="34" charset="-120"/>
              </a:rPr>
              <a:t>Held-out split reports ROC-AUC, average precision, accuracy, F1, ROC curve and confusion matrix — all surfaced in the dashboard.</a:t>
            </a:r>
            <a:endParaRPr lang="en-US" sz="1200" dirty="0"/>
          </a:p>
        </p:txBody>
      </p:sp>
      <p:sp>
        <p:nvSpPr>
          <p:cNvPr id="10" name="Shape 8"/>
          <p:cNvSpPr/>
          <p:nvPr/>
        </p:nvSpPr>
        <p:spPr>
          <a:xfrm>
            <a:off x="6647688" y="1755648"/>
            <a:ext cx="4977079" cy="1152144"/>
          </a:xfrm>
          <a:prstGeom prst="roundRect">
            <a:avLst>
              <a:gd name="adj" fmla="val 4762"/>
            </a:avLst>
          </a:prstGeom>
          <a:solidFill>
            <a:srgbClr val="10151C"/>
          </a:solidFill>
          <a:ln w="12700">
            <a:solidFill>
              <a:srgbClr val="10151C"/>
            </a:solidFill>
            <a:prstDash val="solid"/>
          </a:ln>
          <a:effectLst>
            <a:outerShdw sx="100000" sy="100000" kx="0" ky="0" algn="bl" rotWithShape="0" blurRad="127000" dist="25400" dir="5400000">
              <a:srgbClr val="8A96A3">
                <a:alpha val="16000"/>
              </a:srgbClr>
            </a:outerShdw>
          </a:effectLst>
        </p:spPr>
      </p:sp>
      <p:sp>
        <p:nvSpPr>
          <p:cNvPr id="11" name="Text 9"/>
          <p:cNvSpPr txBox="1"/>
          <p:nvPr/>
        </p:nvSpPr>
        <p:spPr>
          <a:xfrm>
            <a:off x="6922008" y="1883664"/>
            <a:ext cx="1828800" cy="658368"/>
          </a:xfrm>
          <a:prstGeom prst="rect">
            <a:avLst/>
          </a:prstGeom>
          <a:noFill/>
          <a:ln/>
        </p:spPr>
        <p:txBody>
          <a:bodyPr wrap="square" lIns="0" tIns="0" rIns="0" bIns="0" rtlCol="0" anchor="ctr"/>
          <a:lstStyle/>
          <a:p>
            <a:pPr indent="0" marL="0">
              <a:buNone/>
            </a:pPr>
            <a:r>
              <a:rPr lang="en-US" sz="4000" b="1" dirty="0">
                <a:solidFill>
                  <a:srgbClr val="F5A524"/>
                </a:solidFill>
                <a:latin typeface="Cambria" pitchFamily="34" charset="0"/>
                <a:ea typeface="Cambria" pitchFamily="34" charset="-122"/>
                <a:cs typeface="Cambria" pitchFamily="34" charset="-120"/>
              </a:rPr>
              <a:t>0.88</a:t>
            </a:r>
            <a:endParaRPr lang="en-US" sz="4000" dirty="0"/>
          </a:p>
        </p:txBody>
      </p:sp>
      <p:sp>
        <p:nvSpPr>
          <p:cNvPr id="12" name="Text 10"/>
          <p:cNvSpPr txBox="1"/>
          <p:nvPr/>
        </p:nvSpPr>
        <p:spPr>
          <a:xfrm>
            <a:off x="8796528" y="1975104"/>
            <a:ext cx="2553919" cy="640080"/>
          </a:xfrm>
          <a:prstGeom prst="rect">
            <a:avLst/>
          </a:prstGeom>
          <a:noFill/>
          <a:ln/>
        </p:spPr>
        <p:txBody>
          <a:bodyPr wrap="square" lIns="0" tIns="0" rIns="0" bIns="0" rtlCol="0" anchor="ctr"/>
          <a:lstStyle/>
          <a:p>
            <a:pPr indent="0" marL="0">
              <a:lnSpc>
                <a:spcPct val="110000"/>
              </a:lnSpc>
              <a:buNone/>
            </a:pPr>
            <a:r>
              <a:rPr lang="en-US" sz="1200" dirty="0">
                <a:solidFill>
                  <a:srgbClr val="AEB9C4"/>
                </a:solidFill>
                <a:latin typeface="Calibri" pitchFamily="34" charset="0"/>
                <a:ea typeface="Calibri" pitchFamily="34" charset="-122"/>
                <a:cs typeface="Calibri" pitchFamily="34" charset="-120"/>
              </a:rPr>
              <a:t>Typical held-out ROC-AUC</a:t>
            </a:r>
            <a:endParaRPr lang="en-US" sz="1200" dirty="0"/>
          </a:p>
          <a:p>
            <a:pPr indent="0" marL="0">
              <a:lnSpc>
                <a:spcPct val="110000"/>
              </a:lnSpc>
              <a:buNone/>
            </a:pPr>
            <a:r>
              <a:rPr lang="en-US" sz="1200" dirty="0">
                <a:solidFill>
                  <a:srgbClr val="AEB9C4"/>
                </a:solidFill>
                <a:latin typeface="Calibri" pitchFamily="34" charset="0"/>
                <a:ea typeface="Calibri" pitchFamily="34" charset="-122"/>
                <a:cs typeface="Calibri" pitchFamily="34" charset="-120"/>
              </a:rPr>
              <a:t>on the bundled 50k corpus</a:t>
            </a:r>
            <a:endParaRPr lang="en-US" sz="1200" dirty="0"/>
          </a:p>
        </p:txBody>
      </p:sp>
      <p:sp>
        <p:nvSpPr>
          <p:cNvPr id="13" name="Shape 11"/>
          <p:cNvSpPr/>
          <p:nvPr/>
        </p:nvSpPr>
        <p:spPr>
          <a:xfrm>
            <a:off x="6647688" y="3035808"/>
            <a:ext cx="4977079" cy="2761488"/>
          </a:xfrm>
          <a:prstGeom prst="roundRect">
            <a:avLst>
              <a:gd name="adj" fmla="val 1987"/>
            </a:avLst>
          </a:prstGeom>
          <a:solidFill>
            <a:srgbClr val="FFFFFF"/>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14" name="Text 12"/>
          <p:cNvSpPr txBox="1"/>
          <p:nvPr/>
        </p:nvSpPr>
        <p:spPr>
          <a:xfrm>
            <a:off x="6903720" y="3200400"/>
            <a:ext cx="4465015" cy="274320"/>
          </a:xfrm>
          <a:prstGeom prst="rect">
            <a:avLst/>
          </a:prstGeom>
          <a:noFill/>
          <a:ln/>
        </p:spPr>
        <p:txBody>
          <a:bodyPr wrap="square" lIns="0" tIns="0" rIns="0" bIns="0" rtlCol="0" anchor="ctr"/>
          <a:lstStyle/>
          <a:p>
            <a:pPr indent="0" marL="0">
              <a:buNone/>
            </a:pPr>
            <a:r>
              <a:rPr lang="en-US" sz="1400" b="1" dirty="0">
                <a:solidFill>
                  <a:srgbClr val="10151C"/>
                </a:solidFill>
                <a:latin typeface="Cambria" pitchFamily="34" charset="0"/>
                <a:ea typeface="Cambria" pitchFamily="34" charset="-122"/>
                <a:cs typeface="Cambria" pitchFamily="34" charset="-120"/>
              </a:rPr>
              <a:t>Signal strength the model has to learn</a:t>
            </a:r>
            <a:endParaRPr lang="en-US" sz="1400" dirty="0"/>
          </a:p>
        </p:txBody>
      </p:sp>
      <p:sp>
        <p:nvSpPr>
          <p:cNvPr id="15" name="Text 13"/>
          <p:cNvSpPr txBox="1"/>
          <p:nvPr/>
        </p:nvSpPr>
        <p:spPr>
          <a:xfrm>
            <a:off x="6903720" y="3456432"/>
            <a:ext cx="4465015" cy="237744"/>
          </a:xfrm>
          <a:prstGeom prst="rect">
            <a:avLst/>
          </a:prstGeom>
          <a:noFill/>
          <a:ln/>
        </p:spPr>
        <p:txBody>
          <a:bodyPr wrap="square" lIns="0" tIns="0" rIns="0" bIns="0" rtlCol="0" anchor="ctr"/>
          <a:lstStyle/>
          <a:p>
            <a:pPr indent="0" marL="0">
              <a:buNone/>
            </a:pPr>
            <a:r>
              <a:rPr lang="en-US" sz="1050" dirty="0">
                <a:solidFill>
                  <a:srgbClr val="76838F"/>
                </a:solidFill>
                <a:latin typeface="Calibri" pitchFamily="34" charset="0"/>
                <a:ea typeface="Calibri" pitchFamily="34" charset="-122"/>
                <a:cs typeface="Calibri" pitchFamily="34" charset="-120"/>
              </a:rPr>
              <a:t>Observed failure-rate lift per embedded rule</a:t>
            </a:r>
            <a:endParaRPr lang="en-US" sz="1050" dirty="0"/>
          </a:p>
        </p:txBody>
      </p:sp>
      <p:graphicFrame>
        <p:nvGraphicFramePr>
          <p:cNvPr id="16" name="Chart 0" descr=""/>
          <p:cNvGraphicFramePr/>
          <p:nvPr/>
        </p:nvGraphicFramePr>
        <p:xfrm>
          <a:off x="6693408" y="3675888"/>
          <a:ext cx="4839919" cy="2029968"/>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20" kern="0" dirty="0">
                <a:solidFill>
                  <a:srgbClr val="A86B12"/>
                </a:solidFill>
                <a:latin typeface="Calibri" pitchFamily="34" charset="0"/>
                <a:ea typeface="Calibri" pitchFamily="34" charset="-122"/>
                <a:cs typeface="Calibri" pitchFamily="34" charset="-120"/>
              </a:rPr>
              <a:t>ANALYTICS ENGINE</a:t>
            </a:r>
            <a:endParaRPr lang="en-US" sz="105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300" b="1" dirty="0">
                <a:solidFill>
                  <a:srgbClr val="10151C"/>
                </a:solidFill>
                <a:latin typeface="Cambria" pitchFamily="34" charset="0"/>
                <a:ea typeface="Cambria" pitchFamily="34" charset="-122"/>
                <a:cs typeface="Cambria" pitchFamily="34" charset="-120"/>
              </a:rPr>
              <a:t>Four techniques behind the four analysis tabs</a:t>
            </a:r>
            <a:endParaRPr lang="en-US" sz="3300" dirty="0"/>
          </a:p>
        </p:txBody>
      </p:sp>
      <p:sp>
        <p:nvSpPr>
          <p:cNvPr id="4" name="Text 2"/>
          <p:cNvSpPr txBox="1"/>
          <p:nvPr/>
        </p:nvSpPr>
        <p:spPr>
          <a:xfrm>
            <a:off x="566928" y="6327648"/>
            <a:ext cx="5486400" cy="274320"/>
          </a:xfrm>
          <a:prstGeom prst="rect">
            <a:avLst/>
          </a:prstGeom>
          <a:noFill/>
          <a:ln/>
        </p:spPr>
        <p:txBody>
          <a:bodyPr wrap="square" lIns="0" tIns="0" rIns="0" bIns="0" rtlCol="0" anchor="ctr"/>
          <a:lstStyle/>
          <a:p>
            <a:pPr algn="l" indent="0" marL="0">
              <a:buNone/>
            </a:pPr>
            <a:r>
              <a:rPr lang="en-US" sz="900" dirty="0">
                <a:solidFill>
                  <a:srgbClr val="76838F"/>
                </a:solidFill>
                <a:latin typeface="Calibri" pitchFamily="34" charset="0"/>
                <a:ea typeface="Calibri" pitchFamily="34" charset="-122"/>
                <a:cs typeface="Calibri" pitchFamily="34" charset="-120"/>
              </a:rPr>
              <a:t>UVM Configuration Intelligence  ·  Team Asterix</a:t>
            </a:r>
            <a:endParaRPr lang="en-US" sz="900" dirty="0"/>
          </a:p>
        </p:txBody>
      </p:sp>
      <p:sp>
        <p:nvSpPr>
          <p:cNvPr id="5" name="Text 3"/>
          <p:cNvSpPr txBox="1"/>
          <p:nvPr/>
        </p:nvSpPr>
        <p:spPr>
          <a:xfrm>
            <a:off x="10527487" y="6327648"/>
            <a:ext cx="1097280" cy="274320"/>
          </a:xfrm>
          <a:prstGeom prst="rect">
            <a:avLst/>
          </a:prstGeom>
          <a:noFill/>
          <a:ln/>
        </p:spPr>
        <p:txBody>
          <a:bodyPr wrap="square" lIns="0" tIns="0" rIns="0" bIns="0" rtlCol="0" anchor="ctr"/>
          <a:lstStyle/>
          <a:p>
            <a:pPr algn="r" indent="0" marL="0">
              <a:buNone/>
            </a:pPr>
            <a:r>
              <a:rPr lang="en-US" sz="900" b="1" dirty="0">
                <a:solidFill>
                  <a:srgbClr val="76838F"/>
                </a:solidFill>
                <a:latin typeface="Calibri" pitchFamily="34" charset="0"/>
                <a:ea typeface="Calibri" pitchFamily="34" charset="-122"/>
                <a:cs typeface="Calibri" pitchFamily="34" charset="-120"/>
              </a:rPr>
              <a:t>08</a:t>
            </a:r>
            <a:endParaRPr lang="en-US" sz="900" dirty="0"/>
          </a:p>
        </p:txBody>
      </p:sp>
      <p:sp>
        <p:nvSpPr>
          <p:cNvPr id="6" name="Shape 4"/>
          <p:cNvSpPr/>
          <p:nvPr/>
        </p:nvSpPr>
        <p:spPr>
          <a:xfrm>
            <a:off x="566928" y="1572768"/>
            <a:ext cx="5391760" cy="2121408"/>
          </a:xfrm>
          <a:prstGeom prst="roundRect">
            <a:avLst>
              <a:gd name="adj" fmla="val 2586"/>
            </a:avLst>
          </a:prstGeom>
          <a:solidFill>
            <a:srgbClr val="F7F9FB"/>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7" name="Shape 5"/>
          <p:cNvSpPr/>
          <p:nvPr/>
        </p:nvSpPr>
        <p:spPr>
          <a:xfrm>
            <a:off x="822960" y="1810512"/>
            <a:ext cx="329184" cy="329184"/>
          </a:xfrm>
          <a:prstGeom prst="roundRect">
            <a:avLst>
              <a:gd name="adj" fmla="val 61111"/>
            </a:avLst>
          </a:prstGeom>
          <a:solidFill>
            <a:srgbClr val="E5484D"/>
          </a:solidFill>
          <a:ln w="12700">
            <a:solidFill>
              <a:srgbClr val="E5484D"/>
            </a:solidFill>
            <a:prstDash val="solid"/>
          </a:ln>
        </p:spPr>
      </p:sp>
      <p:sp>
        <p:nvSpPr>
          <p:cNvPr id="8" name="Text 6"/>
          <p:cNvSpPr txBox="1"/>
          <p:nvPr/>
        </p:nvSpPr>
        <p:spPr>
          <a:xfrm>
            <a:off x="822960" y="181051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a:t>
            </a:r>
            <a:endParaRPr lang="en-US" sz="1250" dirty="0"/>
          </a:p>
        </p:txBody>
      </p:sp>
      <p:sp>
        <p:nvSpPr>
          <p:cNvPr id="9" name="Text 7"/>
          <p:cNvSpPr txBox="1"/>
          <p:nvPr/>
        </p:nvSpPr>
        <p:spPr>
          <a:xfrm>
            <a:off x="1261872" y="1819656"/>
            <a:ext cx="4477360" cy="292608"/>
          </a:xfrm>
          <a:prstGeom prst="rect">
            <a:avLst/>
          </a:prstGeom>
          <a:noFill/>
          <a:ln/>
        </p:spPr>
        <p:txBody>
          <a:bodyPr wrap="square" lIns="0" tIns="0" rIns="0" bIns="0" rtlCol="0" anchor="ctr"/>
          <a:lstStyle/>
          <a:p>
            <a:pPr indent="0" marL="0">
              <a:buNone/>
            </a:pPr>
            <a:r>
              <a:rPr lang="en-US" sz="1550" b="1" dirty="0">
                <a:solidFill>
                  <a:srgbClr val="10151C"/>
                </a:solidFill>
                <a:latin typeface="Cambria" pitchFamily="34" charset="0"/>
                <a:ea typeface="Cambria" pitchFamily="34" charset="-122"/>
                <a:cs typeface="Cambria" pitchFamily="34" charset="-120"/>
              </a:rPr>
              <a:t>Failure fingerprinting</a:t>
            </a:r>
            <a:endParaRPr lang="en-US" sz="1550" dirty="0"/>
          </a:p>
        </p:txBody>
      </p:sp>
      <p:sp>
        <p:nvSpPr>
          <p:cNvPr id="10" name="Text 8"/>
          <p:cNvSpPr txBox="1"/>
          <p:nvPr/>
        </p:nvSpPr>
        <p:spPr>
          <a:xfrm>
            <a:off x="841248" y="2249424"/>
            <a:ext cx="4843120" cy="1005840"/>
          </a:xfrm>
          <a:prstGeom prst="rect">
            <a:avLst/>
          </a:prstGeom>
          <a:noFill/>
          <a:ln/>
        </p:spPr>
        <p:txBody>
          <a:bodyPr wrap="square" lIns="0" tIns="0" rIns="0" bIns="0" rtlCol="0" anchor="ctr"/>
          <a:lstStyle/>
          <a:p>
            <a:pPr marL="342900" indent="-342900">
              <a:lnSpc>
                <a:spcPct val="100000"/>
              </a:lnSpc>
              <a:spcAft>
                <a:spcPts val="500"/>
              </a:spcAft>
              <a:buSzPct val="100000"/>
              <a:buChar char="•"/>
            </a:pPr>
            <a:r>
              <a:rPr lang="en-US" sz="1100" dirty="0">
                <a:solidFill>
                  <a:srgbClr val="3A4757"/>
                </a:solidFill>
                <a:latin typeface="Calibri" pitchFamily="34" charset="0"/>
                <a:ea typeface="Calibri" pitchFamily="34" charset="-122"/>
                <a:cs typeface="Calibri" pitchFamily="34" charset="-120"/>
              </a:rPr>
              <a:t>Every error message is masked to a seed-invariant template — 0x0004a2c0 → &lt;ADDR&gt;, 32 → &lt;N&gt;.</a:t>
            </a:r>
            <a:endParaRPr lang="en-US" sz="1100" dirty="0"/>
          </a:p>
          <a:p>
            <a:pPr marL="342900" indent="-342900">
              <a:lnSpc>
                <a:spcPct val="100000"/>
              </a:lnSpc>
              <a:spcAft>
                <a:spcPts val="500"/>
              </a:spcAft>
              <a:buSzPct val="100000"/>
              <a:buChar char="•"/>
            </a:pPr>
            <a:r>
              <a:rPr lang="en-US" sz="1100" dirty="0">
                <a:solidFill>
                  <a:srgbClr val="3A4757"/>
                </a:solidFill>
                <a:latin typeface="Calibri" pitchFamily="34" charset="0"/>
                <a:ea typeface="Calibri" pitchFamily="34" charset="-122"/>
                <a:cs typeface="Calibri" pitchFamily="34" charset="-120"/>
              </a:rPr>
              <a:t>TF-IDF is fitted over distinct templates, not runs: a 50k corpus collapses to ~7 templates, so DBSCAN stays trivial.</a:t>
            </a:r>
            <a:endParaRPr lang="en-US" sz="1100" dirty="0"/>
          </a:p>
          <a:p>
            <a:pPr marL="342900" indent="-342900">
              <a:lnSpc>
                <a:spcPct val="100000"/>
              </a:lnSpc>
              <a:spcAft>
                <a:spcPts val="500"/>
              </a:spcAft>
              <a:buSzPct val="100000"/>
              <a:buChar char="•"/>
            </a:pPr>
            <a:r>
              <a:rPr lang="en-US" sz="1100" dirty="0">
                <a:solidFill>
                  <a:srgbClr val="3A4757"/>
                </a:solidFill>
                <a:latin typeface="Calibri" pitchFamily="34" charset="0"/>
                <a:ea typeface="Calibri" pitchFamily="34" charset="-122"/>
                <a:cs typeface="Calibri" pitchFamily="34" charset="-120"/>
              </a:rPr>
              <a:t>determinism = 1 − (distinct raw traces ÷ runs in cluster).</a:t>
            </a:r>
            <a:endParaRPr lang="en-US" sz="1100" dirty="0"/>
          </a:p>
        </p:txBody>
      </p:sp>
      <p:sp>
        <p:nvSpPr>
          <p:cNvPr id="11" name="Text 9"/>
          <p:cNvSpPr txBox="1"/>
          <p:nvPr/>
        </p:nvSpPr>
        <p:spPr>
          <a:xfrm>
            <a:off x="841248" y="3090672"/>
            <a:ext cx="4843120" cy="512064"/>
          </a:xfrm>
          <a:prstGeom prst="rect">
            <a:avLst/>
          </a:prstGeom>
          <a:noFill/>
          <a:ln/>
        </p:spPr>
        <p:txBody>
          <a:bodyPr wrap="square" lIns="0" tIns="0" rIns="0" bIns="0" rtlCol="0" anchor="ctr"/>
          <a:lstStyle/>
          <a:p>
            <a:pPr indent="0" marL="0">
              <a:lnSpc>
                <a:spcPct val="105000"/>
              </a:lnSpc>
              <a:buNone/>
            </a:pPr>
            <a:r>
              <a:rPr lang="en-US" sz="900" dirty="0">
                <a:solidFill>
                  <a:srgbClr val="A86B12"/>
                </a:solidFill>
                <a:latin typeface="Courier New" pitchFamily="34" charset="0"/>
                <a:ea typeface="Courier New" pitchFamily="34" charset="-122"/>
                <a:cs typeface="Courier New" pitchFamily="34" charset="-120"/>
              </a:rPr>
              <a:t>c1  n=804  PROTOCOL_VIOLATION  det=0.999  →  deterministic RTL bug</a:t>
            </a:r>
            <a:endParaRPr lang="en-US" sz="900" dirty="0"/>
          </a:p>
          <a:p>
            <a:pPr indent="0" marL="0">
              <a:lnSpc>
                <a:spcPct val="105000"/>
              </a:lnSpc>
              <a:buNone/>
            </a:pPr>
            <a:r>
              <a:rPr lang="en-US" sz="900" dirty="0">
                <a:solidFill>
                  <a:srgbClr val="A86B12"/>
                </a:solidFill>
                <a:latin typeface="Courier New" pitchFamily="34" charset="0"/>
                <a:ea typeface="Courier New" pitchFamily="34" charset="-122"/>
                <a:cs typeface="Courier New" pitchFamily="34" charset="-120"/>
              </a:rPr>
              <a:t>c2  n=3040  TIMEOUT  det=0.000  →  seed-dependent noise</a:t>
            </a:r>
            <a:endParaRPr lang="en-US" sz="900" dirty="0"/>
          </a:p>
        </p:txBody>
      </p:sp>
      <p:sp>
        <p:nvSpPr>
          <p:cNvPr id="12" name="Shape 10"/>
          <p:cNvSpPr/>
          <p:nvPr/>
        </p:nvSpPr>
        <p:spPr>
          <a:xfrm>
            <a:off x="6233008" y="1572768"/>
            <a:ext cx="5391760" cy="2121408"/>
          </a:xfrm>
          <a:prstGeom prst="roundRect">
            <a:avLst>
              <a:gd name="adj" fmla="val 2586"/>
            </a:avLst>
          </a:prstGeom>
          <a:solidFill>
            <a:srgbClr val="F7F9FB"/>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13" name="Shape 11"/>
          <p:cNvSpPr/>
          <p:nvPr/>
        </p:nvSpPr>
        <p:spPr>
          <a:xfrm>
            <a:off x="6489040" y="1810512"/>
            <a:ext cx="329184" cy="329184"/>
          </a:xfrm>
          <a:prstGeom prst="roundRect">
            <a:avLst>
              <a:gd name="adj" fmla="val 61111"/>
            </a:avLst>
          </a:prstGeom>
          <a:solidFill>
            <a:srgbClr val="1FB6A6"/>
          </a:solidFill>
          <a:ln w="12700">
            <a:solidFill>
              <a:srgbClr val="1FB6A6"/>
            </a:solidFill>
            <a:prstDash val="solid"/>
          </a:ln>
        </p:spPr>
      </p:sp>
      <p:sp>
        <p:nvSpPr>
          <p:cNvPr id="14" name="Text 12"/>
          <p:cNvSpPr txBox="1"/>
          <p:nvPr/>
        </p:nvSpPr>
        <p:spPr>
          <a:xfrm>
            <a:off x="6489040" y="181051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t>
            </a:r>
            <a:endParaRPr lang="en-US" sz="1250" dirty="0"/>
          </a:p>
        </p:txBody>
      </p:sp>
      <p:sp>
        <p:nvSpPr>
          <p:cNvPr id="15" name="Text 13"/>
          <p:cNvSpPr txBox="1"/>
          <p:nvPr/>
        </p:nvSpPr>
        <p:spPr>
          <a:xfrm>
            <a:off x="6927952" y="1819656"/>
            <a:ext cx="4477360" cy="292608"/>
          </a:xfrm>
          <a:prstGeom prst="rect">
            <a:avLst/>
          </a:prstGeom>
          <a:noFill/>
          <a:ln/>
        </p:spPr>
        <p:txBody>
          <a:bodyPr wrap="square" lIns="0" tIns="0" rIns="0" bIns="0" rtlCol="0" anchor="ctr"/>
          <a:lstStyle/>
          <a:p>
            <a:pPr indent="0" marL="0">
              <a:buNone/>
            </a:pPr>
            <a:r>
              <a:rPr lang="en-US" sz="1550" b="1" dirty="0">
                <a:solidFill>
                  <a:srgbClr val="10151C"/>
                </a:solidFill>
                <a:latin typeface="Cambria" pitchFamily="34" charset="0"/>
                <a:ea typeface="Cambria" pitchFamily="34" charset="-122"/>
                <a:cs typeface="Cambria" pitchFamily="34" charset="-120"/>
              </a:rPr>
              <a:t>Trade-off frontier</a:t>
            </a:r>
            <a:endParaRPr lang="en-US" sz="1550" dirty="0"/>
          </a:p>
        </p:txBody>
      </p:sp>
      <p:sp>
        <p:nvSpPr>
          <p:cNvPr id="16" name="Text 14"/>
          <p:cNvSpPr txBox="1"/>
          <p:nvPr/>
        </p:nvSpPr>
        <p:spPr>
          <a:xfrm>
            <a:off x="6507328" y="2249424"/>
            <a:ext cx="4843120" cy="1005840"/>
          </a:xfrm>
          <a:prstGeom prst="rect">
            <a:avLst/>
          </a:prstGeom>
          <a:noFill/>
          <a:ln/>
        </p:spPr>
        <p:txBody>
          <a:bodyPr wrap="square" lIns="0" tIns="0" rIns="0" bIns="0" rtlCol="0" anchor="ctr"/>
          <a:lstStyle/>
          <a:p>
            <a:pPr marL="342900" indent="-342900">
              <a:lnSpc>
                <a:spcPct val="100000"/>
              </a:lnSpc>
              <a:spcAft>
                <a:spcPts val="500"/>
              </a:spcAft>
              <a:buSzPct val="100000"/>
              <a:buChar char="•"/>
            </a:pPr>
            <a:r>
              <a:rPr lang="en-US" sz="1100" dirty="0">
                <a:solidFill>
                  <a:srgbClr val="3A4757"/>
                </a:solidFill>
                <a:latin typeface="Calibri" pitchFamily="34" charset="0"/>
                <a:ea typeface="Calibri" pitchFamily="34" charset="-122"/>
                <a:cs typeface="Calibri" pitchFamily="34" charset="-120"/>
              </a:rPr>
              <a:t>Pareto frontier over throughput versus predicted risk.</a:t>
            </a:r>
            <a:endParaRPr lang="en-US" sz="1100" dirty="0"/>
          </a:p>
          <a:p>
            <a:pPr marL="342900" indent="-342900">
              <a:lnSpc>
                <a:spcPct val="100000"/>
              </a:lnSpc>
              <a:spcAft>
                <a:spcPts val="500"/>
              </a:spcAft>
              <a:buSzPct val="100000"/>
              <a:buChar char="•"/>
            </a:pPr>
            <a:r>
              <a:rPr lang="en-US" sz="1100" dirty="0">
                <a:solidFill>
                  <a:srgbClr val="3A4757"/>
                </a:solidFill>
                <a:latin typeface="Calibri" pitchFamily="34" charset="0"/>
                <a:ea typeface="Calibri" pitchFamily="34" charset="-122"/>
                <a:cs typeface="Calibri" pitchFamily="34" charset="-120"/>
              </a:rPr>
              <a:t>Points are grouped on the top-4 SHAP-ranked discrete settings — continuous readings would make every run its own configuration.</a:t>
            </a:r>
            <a:endParaRPr lang="en-US" sz="1100" dirty="0"/>
          </a:p>
          <a:p>
            <a:pPr marL="342900" indent="-342900">
              <a:lnSpc>
                <a:spcPct val="100000"/>
              </a:lnSpc>
              <a:spcAft>
                <a:spcPts val="500"/>
              </a:spcAft>
              <a:buSzPct val="100000"/>
              <a:buChar char="•"/>
            </a:pPr>
            <a:r>
              <a:rPr lang="en-US" sz="1100" dirty="0">
                <a:solidFill>
                  <a:srgbClr val="3A4757"/>
                </a:solidFill>
                <a:latin typeface="Calibri" pitchFamily="34" charset="0"/>
                <a:ea typeface="Calibri" pitchFamily="34" charset="-122"/>
                <a:cs typeface="Calibri" pitchFamily="34" charset="-120"/>
              </a:rPr>
              <a:t>Yields 318 configurations of 3–109 runs each.</a:t>
            </a:r>
            <a:endParaRPr lang="en-US" sz="1100" dirty="0"/>
          </a:p>
        </p:txBody>
      </p:sp>
      <p:sp>
        <p:nvSpPr>
          <p:cNvPr id="17" name="Text 15"/>
          <p:cNvSpPr txBox="1"/>
          <p:nvPr/>
        </p:nvSpPr>
        <p:spPr>
          <a:xfrm>
            <a:off x="6507328" y="3090672"/>
            <a:ext cx="4843120" cy="512064"/>
          </a:xfrm>
          <a:prstGeom prst="rect">
            <a:avLst/>
          </a:prstGeom>
          <a:noFill/>
          <a:ln/>
        </p:spPr>
        <p:txBody>
          <a:bodyPr wrap="square" lIns="0" tIns="0" rIns="0" bIns="0" rtlCol="0" anchor="ctr"/>
          <a:lstStyle/>
          <a:p>
            <a:pPr indent="0" marL="0">
              <a:lnSpc>
                <a:spcPct val="105000"/>
              </a:lnSpc>
              <a:buNone/>
            </a:pPr>
            <a:r>
              <a:rPr lang="en-US" sz="900" dirty="0">
                <a:solidFill>
                  <a:srgbClr val="A86B12"/>
                </a:solidFill>
                <a:latin typeface="Courier New" pitchFamily="34" charset="0"/>
                <a:ea typeface="Courier New" pitchFamily="34" charset="-122"/>
                <a:cs typeface="Courier New" pitchFamily="34" charset="-120"/>
              </a:rPr>
              <a:t>Predicted risk tracks observed failure rate: 0.139 vs 0.139.</a:t>
            </a:r>
            <a:endParaRPr lang="en-US" sz="900" dirty="0"/>
          </a:p>
        </p:txBody>
      </p:sp>
      <p:sp>
        <p:nvSpPr>
          <p:cNvPr id="18" name="Shape 16"/>
          <p:cNvSpPr/>
          <p:nvPr/>
        </p:nvSpPr>
        <p:spPr>
          <a:xfrm>
            <a:off x="566928" y="3913632"/>
            <a:ext cx="5391760" cy="2121408"/>
          </a:xfrm>
          <a:prstGeom prst="roundRect">
            <a:avLst>
              <a:gd name="adj" fmla="val 2586"/>
            </a:avLst>
          </a:prstGeom>
          <a:solidFill>
            <a:srgbClr val="F7F9FB"/>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19" name="Shape 17"/>
          <p:cNvSpPr/>
          <p:nvPr/>
        </p:nvSpPr>
        <p:spPr>
          <a:xfrm>
            <a:off x="822960" y="4151376"/>
            <a:ext cx="329184" cy="329184"/>
          </a:xfrm>
          <a:prstGeom prst="roundRect">
            <a:avLst>
              <a:gd name="adj" fmla="val 61111"/>
            </a:avLst>
          </a:prstGeom>
          <a:solidFill>
            <a:srgbClr val="1FB6A6"/>
          </a:solidFill>
          <a:ln w="12700">
            <a:solidFill>
              <a:srgbClr val="1FB6A6"/>
            </a:solidFill>
            <a:prstDash val="solid"/>
          </a:ln>
        </p:spPr>
      </p:sp>
      <p:sp>
        <p:nvSpPr>
          <p:cNvPr id="20" name="Text 18"/>
          <p:cNvSpPr txBox="1"/>
          <p:nvPr/>
        </p:nvSpPr>
        <p:spPr>
          <a:xfrm>
            <a:off x="822960" y="415137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a:t>
            </a:r>
            <a:endParaRPr lang="en-US" sz="1250" dirty="0"/>
          </a:p>
        </p:txBody>
      </p:sp>
      <p:sp>
        <p:nvSpPr>
          <p:cNvPr id="21" name="Text 19"/>
          <p:cNvSpPr txBox="1"/>
          <p:nvPr/>
        </p:nvSpPr>
        <p:spPr>
          <a:xfrm>
            <a:off x="1261872" y="4160520"/>
            <a:ext cx="4477360" cy="292608"/>
          </a:xfrm>
          <a:prstGeom prst="rect">
            <a:avLst/>
          </a:prstGeom>
          <a:noFill/>
          <a:ln/>
        </p:spPr>
        <p:txBody>
          <a:bodyPr wrap="square" lIns="0" tIns="0" rIns="0" bIns="0" rtlCol="0" anchor="ctr"/>
          <a:lstStyle/>
          <a:p>
            <a:pPr indent="0" marL="0">
              <a:buNone/>
            </a:pPr>
            <a:r>
              <a:rPr lang="en-US" sz="1550" b="1" dirty="0">
                <a:solidFill>
                  <a:srgbClr val="10151C"/>
                </a:solidFill>
                <a:latin typeface="Cambria" pitchFamily="34" charset="0"/>
                <a:ea typeface="Cambria" pitchFamily="34" charset="-122"/>
                <a:cs typeface="Cambria" pitchFamily="34" charset="-120"/>
              </a:rPr>
              <a:t>Recommender</a:t>
            </a:r>
            <a:endParaRPr lang="en-US" sz="1550" dirty="0"/>
          </a:p>
        </p:txBody>
      </p:sp>
      <p:sp>
        <p:nvSpPr>
          <p:cNvPr id="22" name="Text 20"/>
          <p:cNvSpPr txBox="1"/>
          <p:nvPr/>
        </p:nvSpPr>
        <p:spPr>
          <a:xfrm>
            <a:off x="841248" y="4590288"/>
            <a:ext cx="4843120" cy="1005840"/>
          </a:xfrm>
          <a:prstGeom prst="rect">
            <a:avLst/>
          </a:prstGeom>
          <a:noFill/>
          <a:ln/>
        </p:spPr>
        <p:txBody>
          <a:bodyPr wrap="square" lIns="0" tIns="0" rIns="0" bIns="0" rtlCol="0" anchor="ctr"/>
          <a:lstStyle/>
          <a:p>
            <a:pPr marL="342900" indent="-342900">
              <a:lnSpc>
                <a:spcPct val="100000"/>
              </a:lnSpc>
              <a:spcAft>
                <a:spcPts val="500"/>
              </a:spcAft>
              <a:buSzPct val="100000"/>
              <a:buChar char="•"/>
            </a:pPr>
            <a:r>
              <a:rPr lang="en-US" sz="1100" dirty="0">
                <a:solidFill>
                  <a:srgbClr val="3A4757"/>
                </a:solidFill>
                <a:latin typeface="Calibri" pitchFamily="34" charset="0"/>
                <a:ea typeface="Calibri" pitchFamily="34" charset="-122"/>
                <a:cs typeface="Calibri" pitchFamily="34" charset="-120"/>
              </a:rPr>
              <a:t>Optuna TPE search over two surrogates: the risk classifier and a throughput regressor fitted on passing runs only.</a:t>
            </a:r>
            <a:endParaRPr lang="en-US" sz="1100" dirty="0"/>
          </a:p>
          <a:p>
            <a:pPr marL="342900" indent="-342900">
              <a:lnSpc>
                <a:spcPct val="100000"/>
              </a:lnSpc>
              <a:spcAft>
                <a:spcPts val="500"/>
              </a:spcAft>
              <a:buSzPct val="100000"/>
              <a:buChar char="•"/>
            </a:pPr>
            <a:r>
              <a:rPr lang="en-US" sz="1100" dirty="0">
                <a:solidFill>
                  <a:srgbClr val="3A4757"/>
                </a:solidFill>
                <a:latin typeface="Calibri" pitchFamily="34" charset="0"/>
                <a:ea typeface="Calibri" pitchFamily="34" charset="-122"/>
                <a:cs typeface="Calibri" pitchFamily="34" charset="-120"/>
              </a:rPr>
              <a:t>Objective is 'throughput when it works', not throughput averaged with degraded failures.</a:t>
            </a:r>
            <a:endParaRPr lang="en-US" sz="1100" dirty="0"/>
          </a:p>
          <a:p>
            <a:pPr marL="342900" indent="-342900">
              <a:lnSpc>
                <a:spcPct val="100000"/>
              </a:lnSpc>
              <a:spcAft>
                <a:spcPts val="500"/>
              </a:spcAft>
              <a:buSzPct val="100000"/>
              <a:buChar char="•"/>
            </a:pPr>
            <a:r>
              <a:rPr lang="en-US" sz="1100" dirty="0">
                <a:solidFill>
                  <a:srgbClr val="3A4757"/>
                </a:solidFill>
                <a:latin typeface="Calibri" pitchFamily="34" charset="0"/>
                <a:ea typeface="Calibri" pitchFamily="34" charset="-122"/>
                <a:cs typeface="Calibri" pitchFamily="34" charset="-120"/>
              </a:rPr>
              <a:t>Maximise throughput subject to predicted risk ≤ 2 %, applied as a penalty so TPE learns the constraint shape.</a:t>
            </a:r>
            <a:endParaRPr lang="en-US" sz="1100" dirty="0"/>
          </a:p>
        </p:txBody>
      </p:sp>
      <p:sp>
        <p:nvSpPr>
          <p:cNvPr id="23" name="Text 21"/>
          <p:cNvSpPr txBox="1"/>
          <p:nvPr/>
        </p:nvSpPr>
        <p:spPr>
          <a:xfrm>
            <a:off x="841248" y="5431536"/>
            <a:ext cx="4843120" cy="512064"/>
          </a:xfrm>
          <a:prstGeom prst="rect">
            <a:avLst/>
          </a:prstGeom>
          <a:noFill/>
          <a:ln/>
        </p:spPr>
        <p:txBody>
          <a:bodyPr wrap="square" lIns="0" tIns="0" rIns="0" bIns="0" rtlCol="0" anchor="ctr"/>
          <a:lstStyle/>
          <a:p>
            <a:pPr indent="0" marL="0">
              <a:lnSpc>
                <a:spcPct val="105000"/>
              </a:lnSpc>
              <a:buNone/>
            </a:pPr>
            <a:r>
              <a:rPr lang="en-US" sz="900" dirty="0">
                <a:solidFill>
                  <a:srgbClr val="A86B12"/>
                </a:solidFill>
                <a:latin typeface="Courier New" pitchFamily="34" charset="0"/>
                <a:ea typeface="Courier New" pitchFamily="34" charset="-122"/>
                <a:cs typeface="Courier New" pitchFamily="34" charset="-120"/>
              </a:rPr>
              <a:t>If the ceiling is unreachable the API says so and returns the lowest-risk configs found.</a:t>
            </a:r>
            <a:endParaRPr lang="en-US" sz="900" dirty="0"/>
          </a:p>
        </p:txBody>
      </p:sp>
      <p:sp>
        <p:nvSpPr>
          <p:cNvPr id="24" name="Shape 22"/>
          <p:cNvSpPr/>
          <p:nvPr/>
        </p:nvSpPr>
        <p:spPr>
          <a:xfrm>
            <a:off x="6233008" y="3913632"/>
            <a:ext cx="5391760" cy="2121408"/>
          </a:xfrm>
          <a:prstGeom prst="roundRect">
            <a:avLst>
              <a:gd name="adj" fmla="val 2586"/>
            </a:avLst>
          </a:prstGeom>
          <a:solidFill>
            <a:srgbClr val="F7F9FB"/>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25" name="Shape 23"/>
          <p:cNvSpPr/>
          <p:nvPr/>
        </p:nvSpPr>
        <p:spPr>
          <a:xfrm>
            <a:off x="6489040" y="4151376"/>
            <a:ext cx="329184" cy="329184"/>
          </a:xfrm>
          <a:prstGeom prst="roundRect">
            <a:avLst>
              <a:gd name="adj" fmla="val 61111"/>
            </a:avLst>
          </a:prstGeom>
          <a:solidFill>
            <a:srgbClr val="F5A524"/>
          </a:solidFill>
          <a:ln w="12700">
            <a:solidFill>
              <a:srgbClr val="F5A524"/>
            </a:solidFill>
            <a:prstDash val="solid"/>
          </a:ln>
        </p:spPr>
      </p:sp>
      <p:sp>
        <p:nvSpPr>
          <p:cNvPr id="26" name="Text 24"/>
          <p:cNvSpPr txBox="1"/>
          <p:nvPr/>
        </p:nvSpPr>
        <p:spPr>
          <a:xfrm>
            <a:off x="6489040" y="415137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t>
            </a:r>
            <a:endParaRPr lang="en-US" sz="1250" dirty="0"/>
          </a:p>
        </p:txBody>
      </p:sp>
      <p:sp>
        <p:nvSpPr>
          <p:cNvPr id="27" name="Text 25"/>
          <p:cNvSpPr txBox="1"/>
          <p:nvPr/>
        </p:nvSpPr>
        <p:spPr>
          <a:xfrm>
            <a:off x="6927952" y="4160520"/>
            <a:ext cx="4477360" cy="292608"/>
          </a:xfrm>
          <a:prstGeom prst="rect">
            <a:avLst/>
          </a:prstGeom>
          <a:noFill/>
          <a:ln/>
        </p:spPr>
        <p:txBody>
          <a:bodyPr wrap="square" lIns="0" tIns="0" rIns="0" bIns="0" rtlCol="0" anchor="ctr"/>
          <a:lstStyle/>
          <a:p>
            <a:pPr indent="0" marL="0">
              <a:buNone/>
            </a:pPr>
            <a:r>
              <a:rPr lang="en-US" sz="1550" b="1" dirty="0">
                <a:solidFill>
                  <a:srgbClr val="10151C"/>
                </a:solidFill>
                <a:latin typeface="Cambria" pitchFamily="34" charset="0"/>
                <a:ea typeface="Cambria" pitchFamily="34" charset="-122"/>
                <a:cs typeface="Cambria" pitchFamily="34" charset="-120"/>
              </a:rPr>
              <a:t>Config diff</a:t>
            </a:r>
            <a:endParaRPr lang="en-US" sz="1550" dirty="0"/>
          </a:p>
        </p:txBody>
      </p:sp>
      <p:sp>
        <p:nvSpPr>
          <p:cNvPr id="28" name="Text 26"/>
          <p:cNvSpPr txBox="1"/>
          <p:nvPr/>
        </p:nvSpPr>
        <p:spPr>
          <a:xfrm>
            <a:off x="6507328" y="4590288"/>
            <a:ext cx="4843120" cy="1005840"/>
          </a:xfrm>
          <a:prstGeom prst="rect">
            <a:avLst/>
          </a:prstGeom>
          <a:noFill/>
          <a:ln/>
        </p:spPr>
        <p:txBody>
          <a:bodyPr wrap="square" lIns="0" tIns="0" rIns="0" bIns="0" rtlCol="0" anchor="ctr"/>
          <a:lstStyle/>
          <a:p>
            <a:pPr marL="342900" indent="-342900">
              <a:lnSpc>
                <a:spcPct val="100000"/>
              </a:lnSpc>
              <a:spcAft>
                <a:spcPts val="500"/>
              </a:spcAft>
              <a:buSzPct val="100000"/>
              <a:buChar char="•"/>
            </a:pPr>
            <a:r>
              <a:rPr lang="en-US" sz="1100" dirty="0">
                <a:solidFill>
                  <a:srgbClr val="3A4757"/>
                </a:solidFill>
                <a:latin typeface="Calibri" pitchFamily="34" charset="0"/>
                <a:ea typeface="Calibri" pitchFamily="34" charset="-122"/>
                <a:cs typeface="Calibri" pitchFamily="34" charset="-120"/>
              </a:rPr>
              <a:t>Aggregate delta: how each setting's distribution shifts between passing and failing runs.</a:t>
            </a:r>
            <a:endParaRPr lang="en-US" sz="1100" dirty="0"/>
          </a:p>
          <a:p>
            <a:pPr marL="342900" indent="-342900">
              <a:lnSpc>
                <a:spcPct val="100000"/>
              </a:lnSpc>
              <a:spcAft>
                <a:spcPts val="500"/>
              </a:spcAft>
              <a:buSzPct val="100000"/>
              <a:buChar char="•"/>
            </a:pPr>
            <a:r>
              <a:rPr lang="en-US" sz="1100" dirty="0">
                <a:solidFill>
                  <a:srgbClr val="3A4757"/>
                </a:solidFill>
                <a:latin typeface="Calibri" pitchFamily="34" charset="0"/>
                <a:ea typeface="Calibri" pitchFamily="34" charset="-122"/>
                <a:cs typeface="Calibri" pitchFamily="34" charset="-120"/>
              </a:rPr>
              <a:t>Nearest-twin: each failing run is paired with its most similar passing run, recording exactly which settings differ.</a:t>
            </a:r>
            <a:endParaRPr lang="en-US" sz="1100" dirty="0"/>
          </a:p>
          <a:p>
            <a:pPr marL="342900" indent="-342900">
              <a:lnSpc>
                <a:spcPct val="100000"/>
              </a:lnSpc>
              <a:spcAft>
                <a:spcPts val="500"/>
              </a:spcAft>
              <a:buSzPct val="100000"/>
              <a:buChar char="•"/>
            </a:pPr>
            <a:r>
              <a:rPr lang="en-US" sz="1100" dirty="0">
                <a:solidFill>
                  <a:srgbClr val="3A4757"/>
                </a:solidFill>
                <a:latin typeface="Calibri" pitchFamily="34" charset="0"/>
                <a:ea typeface="Calibri" pitchFamily="34" charset="-122"/>
                <a:cs typeface="Calibri" pitchFamily="34" charset="-120"/>
              </a:rPr>
              <a:t>Both views are scoped to identical test sequences.</a:t>
            </a:r>
            <a:endParaRPr lang="en-US" sz="1100" dirty="0"/>
          </a:p>
        </p:txBody>
      </p:sp>
      <p:sp>
        <p:nvSpPr>
          <p:cNvPr id="29" name="Text 27"/>
          <p:cNvSpPr txBox="1"/>
          <p:nvPr/>
        </p:nvSpPr>
        <p:spPr>
          <a:xfrm>
            <a:off x="6507328" y="5431536"/>
            <a:ext cx="4843120" cy="512064"/>
          </a:xfrm>
          <a:prstGeom prst="rect">
            <a:avLst/>
          </a:prstGeom>
          <a:noFill/>
          <a:ln/>
        </p:spPr>
        <p:txBody>
          <a:bodyPr wrap="square" lIns="0" tIns="0" rIns="0" bIns="0" rtlCol="0" anchor="ctr"/>
          <a:lstStyle/>
          <a:p>
            <a:pPr indent="0" marL="0">
              <a:lnSpc>
                <a:spcPct val="105000"/>
              </a:lnSpc>
              <a:buNone/>
            </a:pPr>
            <a:r>
              <a:rPr lang="en-US" sz="900" dirty="0">
                <a:solidFill>
                  <a:srgbClr val="A86B12"/>
                </a:solidFill>
                <a:latin typeface="Courier New" pitchFamily="34" charset="0"/>
                <a:ea typeface="Courier New" pitchFamily="34" charset="-122"/>
                <a:cs typeface="Courier New" pitchFamily="34" charset="-120"/>
              </a:rPr>
              <a:t>Numeric fields only count as changed at ≥ 0.5 SD — otherwise voltage and temperature bury the settings that matter.</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20" kern="0" dirty="0">
                <a:solidFill>
                  <a:srgbClr val="A86B12"/>
                </a:solidFill>
                <a:latin typeface="Calibri" pitchFamily="34" charset="0"/>
                <a:ea typeface="Calibri" pitchFamily="34" charset="-122"/>
                <a:cs typeface="Calibri" pitchFamily="34" charset="-120"/>
              </a:rPr>
              <a:t>DASHBOARD · TAB 1 OF 7</a:t>
            </a:r>
            <a:endParaRPr lang="en-US" sz="105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300" b="1" dirty="0">
                <a:solidFill>
                  <a:srgbClr val="10151C"/>
                </a:solidFill>
                <a:latin typeface="Cambria" pitchFamily="34" charset="0"/>
                <a:ea typeface="Cambria" pitchFamily="34" charset="-122"/>
                <a:cs typeface="Cambria" pitchFamily="34" charset="-120"/>
              </a:rPr>
              <a:t>Executive Summary</a:t>
            </a:r>
            <a:endParaRPr lang="en-US" sz="3300" dirty="0"/>
          </a:p>
        </p:txBody>
      </p:sp>
      <p:sp>
        <p:nvSpPr>
          <p:cNvPr id="4" name="Text 2"/>
          <p:cNvSpPr txBox="1"/>
          <p:nvPr/>
        </p:nvSpPr>
        <p:spPr>
          <a:xfrm>
            <a:off x="566928" y="1188720"/>
            <a:ext cx="10874959" cy="310896"/>
          </a:xfrm>
          <a:prstGeom prst="rect">
            <a:avLst/>
          </a:prstGeom>
          <a:noFill/>
          <a:ln/>
        </p:spPr>
        <p:txBody>
          <a:bodyPr wrap="square" lIns="0" tIns="0" rIns="0" bIns="0" rtlCol="0" anchor="ctr"/>
          <a:lstStyle/>
          <a:p>
            <a:pPr indent="0" marL="0">
              <a:buNone/>
            </a:pPr>
            <a:r>
              <a:rPr lang="en-US" sz="1300" dirty="0">
                <a:solidFill>
                  <a:srgbClr val="76838F"/>
                </a:solidFill>
                <a:latin typeface="Calibri" pitchFamily="34" charset="0"/>
                <a:ea typeface="Calibri" pitchFamily="34" charset="-122"/>
                <a:cs typeface="Calibri" pitchFamily="34" charset="-120"/>
              </a:rPr>
              <a:t>The one screen a lead opens first: how bad is this regression, and what is driving it?</a:t>
            </a:r>
            <a:endParaRPr lang="en-US" sz="1300" dirty="0"/>
          </a:p>
        </p:txBody>
      </p:sp>
      <p:sp>
        <p:nvSpPr>
          <p:cNvPr id="5" name="Text 3"/>
          <p:cNvSpPr txBox="1"/>
          <p:nvPr/>
        </p:nvSpPr>
        <p:spPr>
          <a:xfrm>
            <a:off x="566928" y="6327648"/>
            <a:ext cx="5486400" cy="274320"/>
          </a:xfrm>
          <a:prstGeom prst="rect">
            <a:avLst/>
          </a:prstGeom>
          <a:noFill/>
          <a:ln/>
        </p:spPr>
        <p:txBody>
          <a:bodyPr wrap="square" lIns="0" tIns="0" rIns="0" bIns="0" rtlCol="0" anchor="ctr"/>
          <a:lstStyle/>
          <a:p>
            <a:pPr algn="l" indent="0" marL="0">
              <a:buNone/>
            </a:pPr>
            <a:r>
              <a:rPr lang="en-US" sz="900" dirty="0">
                <a:solidFill>
                  <a:srgbClr val="76838F"/>
                </a:solidFill>
                <a:latin typeface="Calibri" pitchFamily="34" charset="0"/>
                <a:ea typeface="Calibri" pitchFamily="34" charset="-122"/>
                <a:cs typeface="Calibri" pitchFamily="34" charset="-120"/>
              </a:rPr>
              <a:t>UVM Configuration Intelligence  ·  Team Asterix</a:t>
            </a:r>
            <a:endParaRPr lang="en-US" sz="900" dirty="0"/>
          </a:p>
        </p:txBody>
      </p:sp>
      <p:sp>
        <p:nvSpPr>
          <p:cNvPr id="6" name="Text 4"/>
          <p:cNvSpPr txBox="1"/>
          <p:nvPr/>
        </p:nvSpPr>
        <p:spPr>
          <a:xfrm>
            <a:off x="10527487" y="6327648"/>
            <a:ext cx="1097280" cy="274320"/>
          </a:xfrm>
          <a:prstGeom prst="rect">
            <a:avLst/>
          </a:prstGeom>
          <a:noFill/>
          <a:ln/>
        </p:spPr>
        <p:txBody>
          <a:bodyPr wrap="square" lIns="0" tIns="0" rIns="0" bIns="0" rtlCol="0" anchor="ctr"/>
          <a:lstStyle/>
          <a:p>
            <a:pPr algn="r" indent="0" marL="0">
              <a:buNone/>
            </a:pPr>
            <a:r>
              <a:rPr lang="en-US" sz="900" b="1" dirty="0">
                <a:solidFill>
                  <a:srgbClr val="76838F"/>
                </a:solidFill>
                <a:latin typeface="Calibri" pitchFamily="34" charset="0"/>
                <a:ea typeface="Calibri" pitchFamily="34" charset="-122"/>
                <a:cs typeface="Calibri" pitchFamily="34" charset="-120"/>
              </a:rPr>
              <a:t>09</a:t>
            </a:r>
            <a:endParaRPr lang="en-US" sz="900" dirty="0"/>
          </a:p>
        </p:txBody>
      </p:sp>
      <p:sp>
        <p:nvSpPr>
          <p:cNvPr id="7" name="Shape 5"/>
          <p:cNvSpPr/>
          <p:nvPr/>
        </p:nvSpPr>
        <p:spPr>
          <a:xfrm>
            <a:off x="566928" y="1755648"/>
            <a:ext cx="7406640" cy="4059936"/>
          </a:xfrm>
          <a:prstGeom prst="roundRect">
            <a:avLst>
              <a:gd name="adj" fmla="val 676"/>
            </a:avLst>
          </a:prstGeom>
          <a:solidFill>
            <a:srgbClr val="EEF2F6"/>
          </a:solidFill>
          <a:ln w="19050">
            <a:solidFill>
              <a:srgbClr val="B4C0CC"/>
            </a:solidFill>
            <a:prstDash val="dash"/>
          </a:ln>
        </p:spPr>
      </p:sp>
      <p:sp>
        <p:nvSpPr>
          <p:cNvPr id="8" name="Text 6"/>
          <p:cNvSpPr txBox="1"/>
          <p:nvPr/>
        </p:nvSpPr>
        <p:spPr>
          <a:xfrm>
            <a:off x="566928" y="3401568"/>
            <a:ext cx="7406640" cy="274320"/>
          </a:xfrm>
          <a:prstGeom prst="rect">
            <a:avLst/>
          </a:prstGeom>
          <a:noFill/>
          <a:ln/>
        </p:spPr>
        <p:txBody>
          <a:bodyPr wrap="square" lIns="0" tIns="0" rIns="0" bIns="0" rtlCol="0" anchor="ctr"/>
          <a:lstStyle/>
          <a:p>
            <a:pPr algn="ctr" indent="0" marL="0">
              <a:buNone/>
            </a:pPr>
            <a:r>
              <a:rPr lang="en-US" sz="1200" b="1" spc="200" kern="0" dirty="0">
                <a:solidFill>
                  <a:srgbClr val="8894A0"/>
                </a:solidFill>
                <a:latin typeface="Calibri" pitchFamily="34" charset="0"/>
                <a:ea typeface="Calibri" pitchFamily="34" charset="-122"/>
                <a:cs typeface="Calibri" pitchFamily="34" charset="-120"/>
              </a:rPr>
              <a:t>INSERT SCREENSHOT</a:t>
            </a:r>
            <a:endParaRPr lang="en-US" sz="1200" dirty="0"/>
          </a:p>
        </p:txBody>
      </p:sp>
      <p:sp>
        <p:nvSpPr>
          <p:cNvPr id="9" name="Text 7"/>
          <p:cNvSpPr txBox="1"/>
          <p:nvPr/>
        </p:nvSpPr>
        <p:spPr>
          <a:xfrm>
            <a:off x="749808" y="3712464"/>
            <a:ext cx="7040880" cy="310896"/>
          </a:xfrm>
          <a:prstGeom prst="rect">
            <a:avLst/>
          </a:prstGeom>
          <a:noFill/>
          <a:ln/>
        </p:spPr>
        <p:txBody>
          <a:bodyPr wrap="square" lIns="0" tIns="0" rIns="0" bIns="0" rtlCol="0" anchor="ctr"/>
          <a:lstStyle/>
          <a:p>
            <a:pPr algn="ctr" indent="0" marL="0">
              <a:buNone/>
            </a:pPr>
            <a:r>
              <a:rPr lang="en-US" sz="1350" b="1" dirty="0">
                <a:solidFill>
                  <a:srgbClr val="3A4757"/>
                </a:solidFill>
                <a:latin typeface="Calibri" pitchFamily="34" charset="0"/>
                <a:ea typeface="Calibri" pitchFamily="34" charset="-122"/>
                <a:cs typeface="Calibri" pitchFamily="34" charset="-120"/>
              </a:rPr>
              <a:t>Executive Summary tab — full view</a:t>
            </a:r>
            <a:endParaRPr lang="en-US" sz="1350" dirty="0"/>
          </a:p>
        </p:txBody>
      </p:sp>
      <p:sp>
        <p:nvSpPr>
          <p:cNvPr id="10" name="Text 8"/>
          <p:cNvSpPr txBox="1"/>
          <p:nvPr/>
        </p:nvSpPr>
        <p:spPr>
          <a:xfrm>
            <a:off x="795528" y="4041648"/>
            <a:ext cx="6949440" cy="329184"/>
          </a:xfrm>
          <a:prstGeom prst="rect">
            <a:avLst/>
          </a:prstGeom>
          <a:noFill/>
          <a:ln/>
        </p:spPr>
        <p:txBody>
          <a:bodyPr wrap="square" lIns="0" tIns="0" rIns="0" bIns="0" rtlCol="0" anchor="ctr"/>
          <a:lstStyle/>
          <a:p>
            <a:pPr algn="ctr" indent="0" marL="0">
              <a:buNone/>
            </a:pPr>
            <a:r>
              <a:rPr lang="en-US" sz="1050" dirty="0">
                <a:solidFill>
                  <a:srgbClr val="76838F"/>
                </a:solidFill>
                <a:latin typeface="Calibri" pitchFamily="34" charset="0"/>
                <a:ea typeface="Calibri" pitchFamily="34" charset="-122"/>
                <a:cs typeface="Calibri" pitchFamily="34" charset="-120"/>
              </a:rPr>
              <a:t>Capture the whole tab at 1440 px wide after running the bundled sample</a:t>
            </a:r>
            <a:endParaRPr lang="en-US" sz="1050" dirty="0"/>
          </a:p>
        </p:txBody>
      </p:sp>
      <p:sp>
        <p:nvSpPr>
          <p:cNvPr id="11" name="Shape 9"/>
          <p:cNvSpPr/>
          <p:nvPr/>
        </p:nvSpPr>
        <p:spPr>
          <a:xfrm>
            <a:off x="8247888" y="1755648"/>
            <a:ext cx="3376879" cy="4059936"/>
          </a:xfrm>
          <a:prstGeom prst="roundRect">
            <a:avLst>
              <a:gd name="adj" fmla="val 1625"/>
            </a:avLst>
          </a:prstGeom>
          <a:solidFill>
            <a:srgbClr val="FFFFFF"/>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12" name="Text 10"/>
          <p:cNvSpPr txBox="1"/>
          <p:nvPr/>
        </p:nvSpPr>
        <p:spPr>
          <a:xfrm>
            <a:off x="8503920" y="1938528"/>
            <a:ext cx="2864815" cy="274320"/>
          </a:xfrm>
          <a:prstGeom prst="rect">
            <a:avLst/>
          </a:prstGeom>
          <a:noFill/>
          <a:ln/>
        </p:spPr>
        <p:txBody>
          <a:bodyPr wrap="square" lIns="0" tIns="0" rIns="0" bIns="0" rtlCol="0" anchor="ctr"/>
          <a:lstStyle/>
          <a:p>
            <a:pPr indent="0" marL="0">
              <a:buNone/>
            </a:pPr>
            <a:r>
              <a:rPr lang="en-US" sz="1550" b="1" dirty="0">
                <a:solidFill>
                  <a:srgbClr val="10151C"/>
                </a:solidFill>
                <a:latin typeface="Cambria" pitchFamily="34" charset="0"/>
                <a:ea typeface="Cambria" pitchFamily="34" charset="-122"/>
                <a:cs typeface="Cambria" pitchFamily="34" charset="-120"/>
              </a:rPr>
              <a:t>What is on this screen</a:t>
            </a:r>
            <a:endParaRPr lang="en-US" sz="1550" dirty="0"/>
          </a:p>
        </p:txBody>
      </p:sp>
      <p:sp>
        <p:nvSpPr>
          <p:cNvPr id="13" name="Text 11"/>
          <p:cNvSpPr txBox="1"/>
          <p:nvPr/>
        </p:nvSpPr>
        <p:spPr>
          <a:xfrm>
            <a:off x="8503920" y="2340864"/>
            <a:ext cx="2864815" cy="3291840"/>
          </a:xfrm>
          <a:prstGeom prst="rect">
            <a:avLst/>
          </a:prstGeom>
          <a:noFill/>
          <a:ln/>
        </p:spPr>
        <p:txBody>
          <a:bodyPr wrap="square" lIns="0" tIns="0" rIns="0" bIns="0" rtlCol="0" anchor="ctr"/>
          <a:lstStyle/>
          <a:p>
            <a:pPr marL="342900" indent="-342900">
              <a:lnSpc>
                <a:spcPct val="100000"/>
              </a:lnSpc>
              <a:spcAft>
                <a:spcPts val="1000"/>
              </a:spcAft>
              <a:buSzPct val="100000"/>
              <a:buChar char="•"/>
            </a:pPr>
            <a:r>
              <a:rPr lang="en-US" sz="1150" dirty="0">
                <a:solidFill>
                  <a:srgbClr val="3A4757"/>
                </a:solidFill>
                <a:latin typeface="Calibri" pitchFamily="34" charset="0"/>
                <a:ea typeface="Calibri" pitchFamily="34" charset="-122"/>
                <a:cs typeface="Calibri" pitchFamily="34" charset="-120"/>
              </a:rPr>
              <a:t>KPI strip — runs parsed, pass/fail counts, failure rate, error lines.</a:t>
            </a:r>
            <a:endParaRPr lang="en-US" sz="1150" dirty="0"/>
          </a:p>
          <a:p>
            <a:pPr marL="342900" indent="-342900">
              <a:lnSpc>
                <a:spcPct val="100000"/>
              </a:lnSpc>
              <a:spcAft>
                <a:spcPts val="1000"/>
              </a:spcAft>
              <a:buSzPct val="100000"/>
              <a:buChar char="•"/>
            </a:pPr>
            <a:r>
              <a:rPr lang="en-US" sz="1150" dirty="0">
                <a:solidFill>
                  <a:srgbClr val="3A4757"/>
                </a:solidFill>
                <a:latin typeface="Calibri" pitchFamily="34" charset="0"/>
                <a:ea typeface="Calibri" pitchFamily="34" charset="-122"/>
                <a:cs typeface="Calibri" pitchFamily="34" charset="-120"/>
              </a:rPr>
              <a:t>Pass/fail donut and a risk-band histogram of predicted failure probability.</a:t>
            </a:r>
            <a:endParaRPr lang="en-US" sz="1150" dirty="0"/>
          </a:p>
          <a:p>
            <a:pPr marL="342900" indent="-342900">
              <a:lnSpc>
                <a:spcPct val="100000"/>
              </a:lnSpc>
              <a:spcAft>
                <a:spcPts val="1000"/>
              </a:spcAft>
              <a:buSzPct val="100000"/>
              <a:buChar char="•"/>
            </a:pPr>
            <a:r>
              <a:rPr lang="en-US" sz="1150" dirty="0">
                <a:solidFill>
                  <a:srgbClr val="3A4757"/>
                </a:solidFill>
                <a:latin typeface="Calibri" pitchFamily="34" charset="0"/>
                <a:ea typeface="Calibri" pitchFamily="34" charset="-122"/>
                <a:cs typeface="Calibri" pitchFamily="34" charset="-120"/>
              </a:rPr>
              <a:t>Global SHAP importance chart — the ranked cause list.</a:t>
            </a:r>
            <a:endParaRPr lang="en-US" sz="1150" dirty="0"/>
          </a:p>
          <a:p>
            <a:pPr marL="342900" indent="-342900">
              <a:lnSpc>
                <a:spcPct val="100000"/>
              </a:lnSpc>
              <a:spcAft>
                <a:spcPts val="1000"/>
              </a:spcAft>
              <a:buSzPct val="100000"/>
              <a:buChar char="•"/>
            </a:pPr>
            <a:r>
              <a:rPr lang="en-US" sz="1150" dirty="0">
                <a:solidFill>
                  <a:srgbClr val="3A4757"/>
                </a:solidFill>
                <a:latin typeface="Calibri" pitchFamily="34" charset="0"/>
                <a:ea typeface="Calibri" pitchFamily="34" charset="-122"/>
                <a:cs typeface="Calibri" pitchFamily="34" charset="-120"/>
              </a:rPr>
              <a:t>Failure-mode distribution across the seven error tags.</a:t>
            </a:r>
            <a:endParaRPr lang="en-US" sz="1150" dirty="0"/>
          </a:p>
          <a:p>
            <a:pPr marL="342900" indent="-342900">
              <a:lnSpc>
                <a:spcPct val="100000"/>
              </a:lnSpc>
              <a:spcAft>
                <a:spcPts val="1000"/>
              </a:spcAft>
              <a:buSzPct val="100000"/>
              <a:buChar char="•"/>
            </a:pPr>
            <a:r>
              <a:rPr lang="en-US" sz="1150" dirty="0">
                <a:solidFill>
                  <a:srgbClr val="3A4757"/>
                </a:solidFill>
                <a:latin typeface="Calibri" pitchFamily="34" charset="0"/>
                <a:ea typeface="Calibri" pitchFamily="34" charset="-122"/>
                <a:cs typeface="Calibri" pitchFamily="34" charset="-120"/>
              </a:rPr>
              <a:t>ROC curve, held-out metrics and confusion matrix for the risk model.</a:t>
            </a:r>
            <a:endParaRPr lang="en-US" sz="1150" dirty="0"/>
          </a:p>
          <a:p>
            <a:pPr marL="342900" indent="-342900">
              <a:lnSpc>
                <a:spcPct val="100000"/>
              </a:lnSpc>
              <a:spcAft>
                <a:spcPts val="1000"/>
              </a:spcAft>
              <a:buSzPct val="100000"/>
              <a:buChar char="•"/>
            </a:pPr>
            <a:r>
              <a:rPr lang="en-US" sz="1150" dirty="0">
                <a:solidFill>
                  <a:srgbClr val="3A4757"/>
                </a:solidFill>
                <a:latin typeface="Calibri" pitchFamily="34" charset="0"/>
                <a:ea typeface="Calibri" pitchFamily="34" charset="-122"/>
                <a:cs typeface="Calibri" pitchFamily="34" charset="-120"/>
              </a:rPr>
              <a:t>Mean execution time broken down by failure mode.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20" kern="0" dirty="0">
                <a:solidFill>
                  <a:srgbClr val="A86B12"/>
                </a:solidFill>
                <a:latin typeface="Calibri" pitchFamily="34" charset="0"/>
                <a:ea typeface="Calibri" pitchFamily="34" charset="-122"/>
                <a:cs typeface="Calibri" pitchFamily="34" charset="-120"/>
              </a:rPr>
              <a:t>DASHBOARD · TABS 2–3 OF 7</a:t>
            </a:r>
            <a:endParaRPr lang="en-US" sz="105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300" b="1" dirty="0">
                <a:solidFill>
                  <a:srgbClr val="10151C"/>
                </a:solidFill>
                <a:latin typeface="Cambria" pitchFamily="34" charset="0"/>
                <a:ea typeface="Cambria" pitchFamily="34" charset="-122"/>
                <a:cs typeface="Cambria" pitchFamily="34" charset="-120"/>
              </a:rPr>
              <a:t>Failure Fingerprints  ·  Trade-off Matrix</a:t>
            </a:r>
            <a:endParaRPr lang="en-US" sz="3300" dirty="0"/>
          </a:p>
        </p:txBody>
      </p:sp>
      <p:sp>
        <p:nvSpPr>
          <p:cNvPr id="4" name="Text 2"/>
          <p:cNvSpPr txBox="1"/>
          <p:nvPr/>
        </p:nvSpPr>
        <p:spPr>
          <a:xfrm>
            <a:off x="566928" y="6327648"/>
            <a:ext cx="5486400" cy="274320"/>
          </a:xfrm>
          <a:prstGeom prst="rect">
            <a:avLst/>
          </a:prstGeom>
          <a:noFill/>
          <a:ln/>
        </p:spPr>
        <p:txBody>
          <a:bodyPr wrap="square" lIns="0" tIns="0" rIns="0" bIns="0" rtlCol="0" anchor="ctr"/>
          <a:lstStyle/>
          <a:p>
            <a:pPr algn="l" indent="0" marL="0">
              <a:buNone/>
            </a:pPr>
            <a:r>
              <a:rPr lang="en-US" sz="900" dirty="0">
                <a:solidFill>
                  <a:srgbClr val="76838F"/>
                </a:solidFill>
                <a:latin typeface="Calibri" pitchFamily="34" charset="0"/>
                <a:ea typeface="Calibri" pitchFamily="34" charset="-122"/>
                <a:cs typeface="Calibri" pitchFamily="34" charset="-120"/>
              </a:rPr>
              <a:t>UVM Configuration Intelligence  ·  Team Asterix</a:t>
            </a:r>
            <a:endParaRPr lang="en-US" sz="900" dirty="0"/>
          </a:p>
        </p:txBody>
      </p:sp>
      <p:sp>
        <p:nvSpPr>
          <p:cNvPr id="5" name="Text 3"/>
          <p:cNvSpPr txBox="1"/>
          <p:nvPr/>
        </p:nvSpPr>
        <p:spPr>
          <a:xfrm>
            <a:off x="10527487" y="6327648"/>
            <a:ext cx="1097280" cy="274320"/>
          </a:xfrm>
          <a:prstGeom prst="rect">
            <a:avLst/>
          </a:prstGeom>
          <a:noFill/>
          <a:ln/>
        </p:spPr>
        <p:txBody>
          <a:bodyPr wrap="square" lIns="0" tIns="0" rIns="0" bIns="0" rtlCol="0" anchor="ctr"/>
          <a:lstStyle/>
          <a:p>
            <a:pPr algn="r" indent="0" marL="0">
              <a:buNone/>
            </a:pPr>
            <a:r>
              <a:rPr lang="en-US" sz="900" b="1" dirty="0">
                <a:solidFill>
                  <a:srgbClr val="76838F"/>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566928" y="1700784"/>
            <a:ext cx="5346040" cy="2889504"/>
          </a:xfrm>
          <a:prstGeom prst="roundRect">
            <a:avLst>
              <a:gd name="adj" fmla="val 949"/>
            </a:avLst>
          </a:prstGeom>
          <a:solidFill>
            <a:srgbClr val="EEF2F6"/>
          </a:solidFill>
          <a:ln w="19050">
            <a:solidFill>
              <a:srgbClr val="B4C0CC"/>
            </a:solidFill>
            <a:prstDash val="dash"/>
          </a:ln>
        </p:spPr>
      </p:sp>
      <p:sp>
        <p:nvSpPr>
          <p:cNvPr id="7" name="Text 5"/>
          <p:cNvSpPr txBox="1"/>
          <p:nvPr/>
        </p:nvSpPr>
        <p:spPr>
          <a:xfrm>
            <a:off x="566928" y="2761488"/>
            <a:ext cx="5346040" cy="274320"/>
          </a:xfrm>
          <a:prstGeom prst="rect">
            <a:avLst/>
          </a:prstGeom>
          <a:noFill/>
          <a:ln/>
        </p:spPr>
        <p:txBody>
          <a:bodyPr wrap="square" lIns="0" tIns="0" rIns="0" bIns="0" rtlCol="0" anchor="ctr"/>
          <a:lstStyle/>
          <a:p>
            <a:pPr algn="ctr" indent="0" marL="0">
              <a:buNone/>
            </a:pPr>
            <a:r>
              <a:rPr lang="en-US" sz="1200" b="1" spc="200" kern="0" dirty="0">
                <a:solidFill>
                  <a:srgbClr val="8894A0"/>
                </a:solidFill>
                <a:latin typeface="Calibri" pitchFamily="34" charset="0"/>
                <a:ea typeface="Calibri" pitchFamily="34" charset="-122"/>
                <a:cs typeface="Calibri" pitchFamily="34" charset="-120"/>
              </a:rPr>
              <a:t>INSERT SCREENSHOT</a:t>
            </a:r>
            <a:endParaRPr lang="en-US" sz="1200" dirty="0"/>
          </a:p>
        </p:txBody>
      </p:sp>
      <p:sp>
        <p:nvSpPr>
          <p:cNvPr id="8" name="Text 6"/>
          <p:cNvSpPr txBox="1"/>
          <p:nvPr/>
        </p:nvSpPr>
        <p:spPr>
          <a:xfrm>
            <a:off x="749808" y="3072384"/>
            <a:ext cx="4980280" cy="310896"/>
          </a:xfrm>
          <a:prstGeom prst="rect">
            <a:avLst/>
          </a:prstGeom>
          <a:noFill/>
          <a:ln/>
        </p:spPr>
        <p:txBody>
          <a:bodyPr wrap="square" lIns="0" tIns="0" rIns="0" bIns="0" rtlCol="0" anchor="ctr"/>
          <a:lstStyle/>
          <a:p>
            <a:pPr algn="ctr" indent="0" marL="0">
              <a:buNone/>
            </a:pPr>
            <a:r>
              <a:rPr lang="en-US" sz="1350" b="1" dirty="0">
                <a:solidFill>
                  <a:srgbClr val="3A4757"/>
                </a:solidFill>
                <a:latin typeface="Calibri" pitchFamily="34" charset="0"/>
                <a:ea typeface="Calibri" pitchFamily="34" charset="-122"/>
                <a:cs typeface="Calibri" pitchFamily="34" charset="-120"/>
              </a:rPr>
              <a:t>Failure Fingerprints tab</a:t>
            </a:r>
            <a:endParaRPr lang="en-US" sz="1350" dirty="0"/>
          </a:p>
        </p:txBody>
      </p:sp>
      <p:sp>
        <p:nvSpPr>
          <p:cNvPr id="9" name="Text 7"/>
          <p:cNvSpPr txBox="1"/>
          <p:nvPr/>
        </p:nvSpPr>
        <p:spPr>
          <a:xfrm>
            <a:off x="795528" y="3401568"/>
            <a:ext cx="4888840" cy="329184"/>
          </a:xfrm>
          <a:prstGeom prst="rect">
            <a:avLst/>
          </a:prstGeom>
          <a:noFill/>
          <a:ln/>
        </p:spPr>
        <p:txBody>
          <a:bodyPr wrap="square" lIns="0" tIns="0" rIns="0" bIns="0" rtlCol="0" anchor="ctr"/>
          <a:lstStyle/>
          <a:p>
            <a:pPr algn="ctr" indent="0" marL="0">
              <a:buNone/>
            </a:pPr>
            <a:r>
              <a:rPr lang="en-US" sz="1050" dirty="0">
                <a:solidFill>
                  <a:srgbClr val="76838F"/>
                </a:solidFill>
                <a:latin typeface="Calibri" pitchFamily="34" charset="0"/>
                <a:ea typeface="Calibri" pitchFamily="34" charset="-122"/>
                <a:cs typeface="Calibri" pitchFamily="34" charset="-120"/>
              </a:rPr>
              <a:t>Show the cluster map with a high-determinism cluster selected</a:t>
            </a:r>
            <a:endParaRPr lang="en-US" sz="1050" dirty="0"/>
          </a:p>
        </p:txBody>
      </p:sp>
      <p:sp>
        <p:nvSpPr>
          <p:cNvPr id="10" name="Shape 8"/>
          <p:cNvSpPr/>
          <p:nvPr/>
        </p:nvSpPr>
        <p:spPr>
          <a:xfrm>
            <a:off x="6278728" y="1700784"/>
            <a:ext cx="5346040" cy="2889504"/>
          </a:xfrm>
          <a:prstGeom prst="roundRect">
            <a:avLst>
              <a:gd name="adj" fmla="val 949"/>
            </a:avLst>
          </a:prstGeom>
          <a:solidFill>
            <a:srgbClr val="EEF2F6"/>
          </a:solidFill>
          <a:ln w="19050">
            <a:solidFill>
              <a:srgbClr val="B4C0CC"/>
            </a:solidFill>
            <a:prstDash val="dash"/>
          </a:ln>
        </p:spPr>
      </p:sp>
      <p:sp>
        <p:nvSpPr>
          <p:cNvPr id="11" name="Text 9"/>
          <p:cNvSpPr txBox="1"/>
          <p:nvPr/>
        </p:nvSpPr>
        <p:spPr>
          <a:xfrm>
            <a:off x="6278728" y="2761488"/>
            <a:ext cx="5346040" cy="274320"/>
          </a:xfrm>
          <a:prstGeom prst="rect">
            <a:avLst/>
          </a:prstGeom>
          <a:noFill/>
          <a:ln/>
        </p:spPr>
        <p:txBody>
          <a:bodyPr wrap="square" lIns="0" tIns="0" rIns="0" bIns="0" rtlCol="0" anchor="ctr"/>
          <a:lstStyle/>
          <a:p>
            <a:pPr algn="ctr" indent="0" marL="0">
              <a:buNone/>
            </a:pPr>
            <a:r>
              <a:rPr lang="en-US" sz="1200" b="1" spc="200" kern="0" dirty="0">
                <a:solidFill>
                  <a:srgbClr val="8894A0"/>
                </a:solidFill>
                <a:latin typeface="Calibri" pitchFamily="34" charset="0"/>
                <a:ea typeface="Calibri" pitchFamily="34" charset="-122"/>
                <a:cs typeface="Calibri" pitchFamily="34" charset="-120"/>
              </a:rPr>
              <a:t>INSERT SCREENSHOT</a:t>
            </a:r>
            <a:endParaRPr lang="en-US" sz="1200" dirty="0"/>
          </a:p>
        </p:txBody>
      </p:sp>
      <p:sp>
        <p:nvSpPr>
          <p:cNvPr id="12" name="Text 10"/>
          <p:cNvSpPr txBox="1"/>
          <p:nvPr/>
        </p:nvSpPr>
        <p:spPr>
          <a:xfrm>
            <a:off x="6461608" y="3072384"/>
            <a:ext cx="4980280" cy="310896"/>
          </a:xfrm>
          <a:prstGeom prst="rect">
            <a:avLst/>
          </a:prstGeom>
          <a:noFill/>
          <a:ln/>
        </p:spPr>
        <p:txBody>
          <a:bodyPr wrap="square" lIns="0" tIns="0" rIns="0" bIns="0" rtlCol="0" anchor="ctr"/>
          <a:lstStyle/>
          <a:p>
            <a:pPr algn="ctr" indent="0" marL="0">
              <a:buNone/>
            </a:pPr>
            <a:r>
              <a:rPr lang="en-US" sz="1350" b="1" dirty="0">
                <a:solidFill>
                  <a:srgbClr val="3A4757"/>
                </a:solidFill>
                <a:latin typeface="Calibri" pitchFamily="34" charset="0"/>
                <a:ea typeface="Calibri" pitchFamily="34" charset="-122"/>
                <a:cs typeface="Calibri" pitchFamily="34" charset="-120"/>
              </a:rPr>
              <a:t>Trade-off Matrix tab</a:t>
            </a:r>
            <a:endParaRPr lang="en-US" sz="1350" dirty="0"/>
          </a:p>
        </p:txBody>
      </p:sp>
      <p:sp>
        <p:nvSpPr>
          <p:cNvPr id="13" name="Text 11"/>
          <p:cNvSpPr txBox="1"/>
          <p:nvPr/>
        </p:nvSpPr>
        <p:spPr>
          <a:xfrm>
            <a:off x="6507328" y="3401568"/>
            <a:ext cx="4888840" cy="329184"/>
          </a:xfrm>
          <a:prstGeom prst="rect">
            <a:avLst/>
          </a:prstGeom>
          <a:noFill/>
          <a:ln/>
        </p:spPr>
        <p:txBody>
          <a:bodyPr wrap="square" lIns="0" tIns="0" rIns="0" bIns="0" rtlCol="0" anchor="ctr"/>
          <a:lstStyle/>
          <a:p>
            <a:pPr algn="ctr" indent="0" marL="0">
              <a:buNone/>
            </a:pPr>
            <a:r>
              <a:rPr lang="en-US" sz="1050" dirty="0">
                <a:solidFill>
                  <a:srgbClr val="76838F"/>
                </a:solidFill>
                <a:latin typeface="Calibri" pitchFamily="34" charset="0"/>
                <a:ea typeface="Calibri" pitchFamily="34" charset="-122"/>
                <a:cs typeface="Calibri" pitchFamily="34" charset="-120"/>
              </a:rPr>
              <a:t>Show the Pareto scatter with the knee point highlighted</a:t>
            </a:r>
            <a:endParaRPr lang="en-US" sz="1050" dirty="0"/>
          </a:p>
        </p:txBody>
      </p:sp>
      <p:sp>
        <p:nvSpPr>
          <p:cNvPr id="14" name="Shape 12"/>
          <p:cNvSpPr/>
          <p:nvPr/>
        </p:nvSpPr>
        <p:spPr>
          <a:xfrm>
            <a:off x="566928" y="4718304"/>
            <a:ext cx="5346040" cy="1371600"/>
          </a:xfrm>
          <a:prstGeom prst="roundRect">
            <a:avLst>
              <a:gd name="adj" fmla="val 4000"/>
            </a:avLst>
          </a:prstGeom>
          <a:solidFill>
            <a:srgbClr val="FFFFFF"/>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15" name="Shape 13"/>
          <p:cNvSpPr/>
          <p:nvPr/>
        </p:nvSpPr>
        <p:spPr>
          <a:xfrm>
            <a:off x="804672" y="4882896"/>
            <a:ext cx="310896" cy="310896"/>
          </a:xfrm>
          <a:prstGeom prst="roundRect">
            <a:avLst>
              <a:gd name="adj" fmla="val 64706"/>
            </a:avLst>
          </a:prstGeom>
          <a:solidFill>
            <a:srgbClr val="E5484D"/>
          </a:solidFill>
          <a:ln w="12700">
            <a:solidFill>
              <a:srgbClr val="E5484D"/>
            </a:solidFill>
            <a:prstDash val="solid"/>
          </a:ln>
        </p:spPr>
      </p:sp>
      <p:sp>
        <p:nvSpPr>
          <p:cNvPr id="16" name="Text 14"/>
          <p:cNvSpPr txBox="1"/>
          <p:nvPr/>
        </p:nvSpPr>
        <p:spPr>
          <a:xfrm>
            <a:off x="804672" y="488289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17" name="Text 15"/>
          <p:cNvSpPr txBox="1"/>
          <p:nvPr/>
        </p:nvSpPr>
        <p:spPr>
          <a:xfrm>
            <a:off x="1207008" y="4882896"/>
            <a:ext cx="4468216" cy="274320"/>
          </a:xfrm>
          <a:prstGeom prst="rect">
            <a:avLst/>
          </a:prstGeom>
          <a:noFill/>
          <a:ln/>
        </p:spPr>
        <p:txBody>
          <a:bodyPr wrap="square" lIns="0" tIns="0" rIns="0" bIns="0" rtlCol="0" anchor="ctr"/>
          <a:lstStyle/>
          <a:p>
            <a:pPr indent="0" marL="0">
              <a:buNone/>
            </a:pPr>
            <a:r>
              <a:rPr lang="en-US" sz="1400" b="1" dirty="0">
                <a:solidFill>
                  <a:srgbClr val="10151C"/>
                </a:solidFill>
                <a:latin typeface="Cambria" pitchFamily="34" charset="0"/>
                <a:ea typeface="Cambria" pitchFamily="34" charset="-122"/>
                <a:cs typeface="Cambria" pitchFamily="34" charset="-120"/>
              </a:rPr>
              <a:t>Failure Fingerprints</a:t>
            </a:r>
            <a:endParaRPr lang="en-US" sz="1400" dirty="0"/>
          </a:p>
        </p:txBody>
      </p:sp>
      <p:sp>
        <p:nvSpPr>
          <p:cNvPr id="18" name="Text 16"/>
          <p:cNvSpPr txBox="1"/>
          <p:nvPr/>
        </p:nvSpPr>
        <p:spPr>
          <a:xfrm>
            <a:off x="822960" y="5230368"/>
            <a:ext cx="4833976" cy="786384"/>
          </a:xfrm>
          <a:prstGeom prst="rect">
            <a:avLst/>
          </a:prstGeom>
          <a:noFill/>
          <a:ln/>
        </p:spPr>
        <p:txBody>
          <a:bodyPr wrap="square" lIns="0" tIns="0" rIns="0" bIns="0" rtlCol="0" anchor="ctr"/>
          <a:lstStyle/>
          <a:p>
            <a:pPr marL="342900" indent="-342900">
              <a:lnSpc>
                <a:spcPct val="100000"/>
              </a:lnSpc>
              <a:spcAft>
                <a:spcPts val="200"/>
              </a:spcAft>
              <a:buSzPct val="100000"/>
              <a:buChar char="•"/>
            </a:pPr>
            <a:r>
              <a:rPr lang="en-US" sz="1050" dirty="0">
                <a:solidFill>
                  <a:srgbClr val="3A4757"/>
                </a:solidFill>
                <a:latin typeface="Calibri" pitchFamily="34" charset="0"/>
                <a:ea typeface="Calibri" pitchFamily="34" charset="-122"/>
                <a:cs typeface="Calibri" pitchFamily="34" charset="-120"/>
              </a:rPr>
              <a:t>SVD cluster map — each point a failure cluster, sized by run count.</a:t>
            </a:r>
            <a:endParaRPr lang="en-US" sz="1050" dirty="0"/>
          </a:p>
          <a:p>
            <a:pPr marL="342900" indent="-342900">
              <a:lnSpc>
                <a:spcPct val="100000"/>
              </a:lnSpc>
              <a:spcAft>
                <a:spcPts val="200"/>
              </a:spcAft>
              <a:buSzPct val="100000"/>
              <a:buChar char="•"/>
            </a:pPr>
            <a:r>
              <a:rPr lang="en-US" sz="1050" dirty="0">
                <a:solidFill>
                  <a:srgbClr val="3A4757"/>
                </a:solidFill>
                <a:latin typeface="Calibri" pitchFamily="34" charset="0"/>
                <a:ea typeface="Calibri" pitchFamily="34" charset="-122"/>
                <a:cs typeface="Calibri" pitchFamily="34" charset="-120"/>
              </a:rPr>
              <a:t>Cluster table with determinism score, run count, distinct seeds and distinct raw traces.</a:t>
            </a:r>
            <a:endParaRPr lang="en-US" sz="1050" dirty="0"/>
          </a:p>
          <a:p>
            <a:pPr marL="342900" indent="-342900">
              <a:lnSpc>
                <a:spcPct val="100000"/>
              </a:lnSpc>
              <a:spcAft>
                <a:spcPts val="200"/>
              </a:spcAft>
              <a:buSzPct val="100000"/>
              <a:buChar char="•"/>
            </a:pPr>
            <a:r>
              <a:rPr lang="en-US" sz="1050" dirty="0">
                <a:solidFill>
                  <a:srgbClr val="3A4757"/>
                </a:solidFill>
                <a:latin typeface="Calibri" pitchFamily="34" charset="0"/>
                <a:ea typeface="Calibri" pitchFamily="34" charset="-122"/>
                <a:cs typeface="Calibri" pitchFamily="34" charset="-120"/>
              </a:rPr>
              <a:t>Drill-down showing the masked template beside a raw trace.</a:t>
            </a:r>
            <a:endParaRPr lang="en-US" sz="1050" dirty="0"/>
          </a:p>
          <a:p>
            <a:pPr marL="342900" indent="-342900">
              <a:lnSpc>
                <a:spcPct val="100000"/>
              </a:lnSpc>
              <a:spcAft>
                <a:spcPts val="200"/>
              </a:spcAft>
              <a:buSzPct val="100000"/>
              <a:buChar char="•"/>
            </a:pPr>
            <a:r>
              <a:rPr lang="en-US" sz="1050" dirty="0">
                <a:solidFill>
                  <a:srgbClr val="3A4757"/>
                </a:solidFill>
                <a:latin typeface="Calibri" pitchFamily="34" charset="0"/>
                <a:ea typeface="Calibri" pitchFamily="34" charset="-122"/>
                <a:cs typeface="Calibri" pitchFamily="34" charset="-120"/>
              </a:rPr>
              <a:t>One-click hand-off into the diff viewer for any clustered run.</a:t>
            </a:r>
            <a:endParaRPr lang="en-US" sz="1050" dirty="0"/>
          </a:p>
        </p:txBody>
      </p:sp>
      <p:sp>
        <p:nvSpPr>
          <p:cNvPr id="19" name="Shape 17"/>
          <p:cNvSpPr/>
          <p:nvPr/>
        </p:nvSpPr>
        <p:spPr>
          <a:xfrm>
            <a:off x="6278728" y="4718304"/>
            <a:ext cx="5346040" cy="1371600"/>
          </a:xfrm>
          <a:prstGeom prst="roundRect">
            <a:avLst>
              <a:gd name="adj" fmla="val 4000"/>
            </a:avLst>
          </a:prstGeom>
          <a:solidFill>
            <a:srgbClr val="FFFFFF"/>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20" name="Shape 18"/>
          <p:cNvSpPr/>
          <p:nvPr/>
        </p:nvSpPr>
        <p:spPr>
          <a:xfrm>
            <a:off x="6516472" y="4882896"/>
            <a:ext cx="310896" cy="310896"/>
          </a:xfrm>
          <a:prstGeom prst="roundRect">
            <a:avLst>
              <a:gd name="adj" fmla="val 64706"/>
            </a:avLst>
          </a:prstGeom>
          <a:solidFill>
            <a:srgbClr val="1FB6A6"/>
          </a:solidFill>
          <a:ln w="12700">
            <a:solidFill>
              <a:srgbClr val="1FB6A6"/>
            </a:solidFill>
            <a:prstDash val="solid"/>
          </a:ln>
        </p:spPr>
      </p:sp>
      <p:sp>
        <p:nvSpPr>
          <p:cNvPr id="21" name="Text 19"/>
          <p:cNvSpPr txBox="1"/>
          <p:nvPr/>
        </p:nvSpPr>
        <p:spPr>
          <a:xfrm>
            <a:off x="6516472" y="488289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22" name="Text 20"/>
          <p:cNvSpPr txBox="1"/>
          <p:nvPr/>
        </p:nvSpPr>
        <p:spPr>
          <a:xfrm>
            <a:off x="6918808" y="4882896"/>
            <a:ext cx="4468216" cy="274320"/>
          </a:xfrm>
          <a:prstGeom prst="rect">
            <a:avLst/>
          </a:prstGeom>
          <a:noFill/>
          <a:ln/>
        </p:spPr>
        <p:txBody>
          <a:bodyPr wrap="square" lIns="0" tIns="0" rIns="0" bIns="0" rtlCol="0" anchor="ctr"/>
          <a:lstStyle/>
          <a:p>
            <a:pPr indent="0" marL="0">
              <a:buNone/>
            </a:pPr>
            <a:r>
              <a:rPr lang="en-US" sz="1400" b="1" dirty="0">
                <a:solidFill>
                  <a:srgbClr val="10151C"/>
                </a:solidFill>
                <a:latin typeface="Cambria" pitchFamily="34" charset="0"/>
                <a:ea typeface="Cambria" pitchFamily="34" charset="-122"/>
                <a:cs typeface="Cambria" pitchFamily="34" charset="-120"/>
              </a:rPr>
              <a:t>Trade-off Matrix</a:t>
            </a:r>
            <a:endParaRPr lang="en-US" sz="1400" dirty="0"/>
          </a:p>
        </p:txBody>
      </p:sp>
      <p:sp>
        <p:nvSpPr>
          <p:cNvPr id="23" name="Text 21"/>
          <p:cNvSpPr txBox="1"/>
          <p:nvPr/>
        </p:nvSpPr>
        <p:spPr>
          <a:xfrm>
            <a:off x="6534760" y="5230368"/>
            <a:ext cx="4833976" cy="786384"/>
          </a:xfrm>
          <a:prstGeom prst="rect">
            <a:avLst/>
          </a:prstGeom>
          <a:noFill/>
          <a:ln/>
        </p:spPr>
        <p:txBody>
          <a:bodyPr wrap="square" lIns="0" tIns="0" rIns="0" bIns="0" rtlCol="0" anchor="ctr"/>
          <a:lstStyle/>
          <a:p>
            <a:pPr marL="342900" indent="-342900">
              <a:lnSpc>
                <a:spcPct val="100000"/>
              </a:lnSpc>
              <a:spcAft>
                <a:spcPts val="200"/>
              </a:spcAft>
              <a:buSzPct val="100000"/>
              <a:buChar char="•"/>
            </a:pPr>
            <a:r>
              <a:rPr lang="en-US" sz="1050" dirty="0">
                <a:solidFill>
                  <a:srgbClr val="3A4757"/>
                </a:solidFill>
                <a:latin typeface="Calibri" pitchFamily="34" charset="0"/>
                <a:ea typeface="Calibri" pitchFamily="34" charset="-122"/>
                <a:cs typeface="Calibri" pitchFamily="34" charset="-120"/>
              </a:rPr>
              <a:t>Interactive throughput-versus-risk scatter with the frontier drawn through it.</a:t>
            </a:r>
            <a:endParaRPr lang="en-US" sz="1050" dirty="0"/>
          </a:p>
          <a:p>
            <a:pPr marL="342900" indent="-342900">
              <a:lnSpc>
                <a:spcPct val="100000"/>
              </a:lnSpc>
              <a:spcAft>
                <a:spcPts val="200"/>
              </a:spcAft>
              <a:buSzPct val="100000"/>
              <a:buChar char="•"/>
            </a:pPr>
            <a:r>
              <a:rPr lang="en-US" sz="1050" dirty="0">
                <a:solidFill>
                  <a:srgbClr val="3A4757"/>
                </a:solidFill>
                <a:latin typeface="Calibri" pitchFamily="34" charset="0"/>
                <a:ea typeface="Calibri" pitchFamily="34" charset="-122"/>
                <a:cs typeface="Calibri" pitchFamily="34" charset="-120"/>
              </a:rPr>
              <a:t>Three named operating points: peak throughput, knee, and best-safe.</a:t>
            </a:r>
            <a:endParaRPr lang="en-US" sz="1050" dirty="0"/>
          </a:p>
          <a:p>
            <a:pPr marL="342900" indent="-342900">
              <a:lnSpc>
                <a:spcPct val="100000"/>
              </a:lnSpc>
              <a:spcAft>
                <a:spcPts val="200"/>
              </a:spcAft>
              <a:buSzPct val="100000"/>
              <a:buChar char="•"/>
            </a:pPr>
            <a:r>
              <a:rPr lang="en-US" sz="1050" dirty="0">
                <a:solidFill>
                  <a:srgbClr val="3A4757"/>
                </a:solidFill>
                <a:latin typeface="Calibri" pitchFamily="34" charset="0"/>
                <a:ea typeface="Calibri" pitchFamily="34" charset="-122"/>
                <a:cs typeface="Calibri" pitchFamily="34" charset="-120"/>
              </a:rPr>
              <a:t>Full frontier table with observed and predicted failure rate per configuration.</a:t>
            </a:r>
            <a:endParaRPr lang="en-US" sz="1050" dirty="0"/>
          </a:p>
          <a:p>
            <a:pPr marL="342900" indent="-342900">
              <a:lnSpc>
                <a:spcPct val="100000"/>
              </a:lnSpc>
              <a:spcAft>
                <a:spcPts val="200"/>
              </a:spcAft>
              <a:buSzPct val="100000"/>
              <a:buChar char="•"/>
            </a:pPr>
            <a:r>
              <a:rPr lang="en-US" sz="1050" dirty="0">
                <a:solidFill>
                  <a:srgbClr val="3A4757"/>
                </a:solidFill>
                <a:latin typeface="Calibri" pitchFamily="34" charset="0"/>
                <a:ea typeface="Calibri" pitchFamily="34" charset="-122"/>
                <a:cs typeface="Calibri" pitchFamily="34" charset="-120"/>
              </a:rPr>
              <a:t>Hover any point to read the exact configuration behind it.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20" kern="0" dirty="0">
                <a:solidFill>
                  <a:srgbClr val="A86B12"/>
                </a:solidFill>
                <a:latin typeface="Calibri" pitchFamily="34" charset="0"/>
                <a:ea typeface="Calibri" pitchFamily="34" charset="-122"/>
                <a:cs typeface="Calibri" pitchFamily="34" charset="-120"/>
              </a:rPr>
              <a:t>DASHBOARD · TABS 4–7 OF 7</a:t>
            </a:r>
            <a:endParaRPr lang="en-US" sz="105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300" b="1" dirty="0">
                <a:solidFill>
                  <a:srgbClr val="10151C"/>
                </a:solidFill>
                <a:latin typeface="Cambria" pitchFamily="34" charset="0"/>
                <a:ea typeface="Cambria" pitchFamily="34" charset="-122"/>
                <a:cs typeface="Cambria" pitchFamily="34" charset="-120"/>
              </a:rPr>
              <a:t>Recommendations  ·  Config Diff  ·  Run Explorer  ·  All Details</a:t>
            </a:r>
            <a:endParaRPr lang="en-US" sz="3300" dirty="0"/>
          </a:p>
        </p:txBody>
      </p:sp>
      <p:sp>
        <p:nvSpPr>
          <p:cNvPr id="4" name="Text 2"/>
          <p:cNvSpPr txBox="1"/>
          <p:nvPr/>
        </p:nvSpPr>
        <p:spPr>
          <a:xfrm>
            <a:off x="566928" y="6327648"/>
            <a:ext cx="5486400" cy="274320"/>
          </a:xfrm>
          <a:prstGeom prst="rect">
            <a:avLst/>
          </a:prstGeom>
          <a:noFill/>
          <a:ln/>
        </p:spPr>
        <p:txBody>
          <a:bodyPr wrap="square" lIns="0" tIns="0" rIns="0" bIns="0" rtlCol="0" anchor="ctr"/>
          <a:lstStyle/>
          <a:p>
            <a:pPr algn="l" indent="0" marL="0">
              <a:buNone/>
            </a:pPr>
            <a:r>
              <a:rPr lang="en-US" sz="900" dirty="0">
                <a:solidFill>
                  <a:srgbClr val="76838F"/>
                </a:solidFill>
                <a:latin typeface="Calibri" pitchFamily="34" charset="0"/>
                <a:ea typeface="Calibri" pitchFamily="34" charset="-122"/>
                <a:cs typeface="Calibri" pitchFamily="34" charset="-120"/>
              </a:rPr>
              <a:t>UVM Configuration Intelligence  ·  Team Asterix</a:t>
            </a:r>
            <a:endParaRPr lang="en-US" sz="900" dirty="0"/>
          </a:p>
        </p:txBody>
      </p:sp>
      <p:sp>
        <p:nvSpPr>
          <p:cNvPr id="5" name="Text 3"/>
          <p:cNvSpPr txBox="1"/>
          <p:nvPr/>
        </p:nvSpPr>
        <p:spPr>
          <a:xfrm>
            <a:off x="10527487" y="6327648"/>
            <a:ext cx="1097280" cy="274320"/>
          </a:xfrm>
          <a:prstGeom prst="rect">
            <a:avLst/>
          </a:prstGeom>
          <a:noFill/>
          <a:ln/>
        </p:spPr>
        <p:txBody>
          <a:bodyPr wrap="square" lIns="0" tIns="0" rIns="0" bIns="0" rtlCol="0" anchor="ctr"/>
          <a:lstStyle/>
          <a:p>
            <a:pPr algn="r" indent="0" marL="0">
              <a:buNone/>
            </a:pPr>
            <a:r>
              <a:rPr lang="en-US" sz="900" b="1" dirty="0">
                <a:solidFill>
                  <a:srgbClr val="76838F"/>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66928" y="1645920"/>
            <a:ext cx="3503066" cy="2304288"/>
          </a:xfrm>
          <a:prstGeom prst="roundRect">
            <a:avLst>
              <a:gd name="adj" fmla="val 1190"/>
            </a:avLst>
          </a:prstGeom>
          <a:solidFill>
            <a:srgbClr val="EEF2F6"/>
          </a:solidFill>
          <a:ln w="19050">
            <a:solidFill>
              <a:srgbClr val="B4C0CC"/>
            </a:solidFill>
            <a:prstDash val="dash"/>
          </a:ln>
        </p:spPr>
      </p:sp>
      <p:sp>
        <p:nvSpPr>
          <p:cNvPr id="7" name="Text 5"/>
          <p:cNvSpPr txBox="1"/>
          <p:nvPr/>
        </p:nvSpPr>
        <p:spPr>
          <a:xfrm>
            <a:off x="566928" y="2414016"/>
            <a:ext cx="3503066" cy="274320"/>
          </a:xfrm>
          <a:prstGeom prst="rect">
            <a:avLst/>
          </a:prstGeom>
          <a:noFill/>
          <a:ln/>
        </p:spPr>
        <p:txBody>
          <a:bodyPr wrap="square" lIns="0" tIns="0" rIns="0" bIns="0" rtlCol="0" anchor="ctr"/>
          <a:lstStyle/>
          <a:p>
            <a:pPr algn="ctr" indent="0" marL="0">
              <a:buNone/>
            </a:pPr>
            <a:r>
              <a:rPr lang="en-US" sz="1200" b="1" spc="200" kern="0" dirty="0">
                <a:solidFill>
                  <a:srgbClr val="8894A0"/>
                </a:solidFill>
                <a:latin typeface="Calibri" pitchFamily="34" charset="0"/>
                <a:ea typeface="Calibri" pitchFamily="34" charset="-122"/>
                <a:cs typeface="Calibri" pitchFamily="34" charset="-120"/>
              </a:rPr>
              <a:t>INSERT SCREENSHOT</a:t>
            </a:r>
            <a:endParaRPr lang="en-US" sz="1200" dirty="0"/>
          </a:p>
        </p:txBody>
      </p:sp>
      <p:sp>
        <p:nvSpPr>
          <p:cNvPr id="8" name="Text 6"/>
          <p:cNvSpPr txBox="1"/>
          <p:nvPr/>
        </p:nvSpPr>
        <p:spPr>
          <a:xfrm>
            <a:off x="749808" y="2724912"/>
            <a:ext cx="3137306" cy="310896"/>
          </a:xfrm>
          <a:prstGeom prst="rect">
            <a:avLst/>
          </a:prstGeom>
          <a:noFill/>
          <a:ln/>
        </p:spPr>
        <p:txBody>
          <a:bodyPr wrap="square" lIns="0" tIns="0" rIns="0" bIns="0" rtlCol="0" anchor="ctr"/>
          <a:lstStyle/>
          <a:p>
            <a:pPr algn="ctr" indent="0" marL="0">
              <a:buNone/>
            </a:pPr>
            <a:r>
              <a:rPr lang="en-US" sz="1350" b="1" dirty="0">
                <a:solidFill>
                  <a:srgbClr val="3A4757"/>
                </a:solidFill>
                <a:latin typeface="Calibri" pitchFamily="34" charset="0"/>
                <a:ea typeface="Calibri" pitchFamily="34" charset="-122"/>
                <a:cs typeface="Calibri" pitchFamily="34" charset="-120"/>
              </a:rPr>
              <a:t>Recommendations tab</a:t>
            </a:r>
            <a:endParaRPr lang="en-US" sz="1350" dirty="0"/>
          </a:p>
        </p:txBody>
      </p:sp>
      <p:sp>
        <p:nvSpPr>
          <p:cNvPr id="9" name="Text 7"/>
          <p:cNvSpPr txBox="1"/>
          <p:nvPr/>
        </p:nvSpPr>
        <p:spPr>
          <a:xfrm>
            <a:off x="795528" y="3054096"/>
            <a:ext cx="3045866" cy="329184"/>
          </a:xfrm>
          <a:prstGeom prst="rect">
            <a:avLst/>
          </a:prstGeom>
          <a:noFill/>
          <a:ln/>
        </p:spPr>
        <p:txBody>
          <a:bodyPr wrap="square" lIns="0" tIns="0" rIns="0" bIns="0" rtlCol="0" anchor="ctr"/>
          <a:lstStyle/>
          <a:p>
            <a:pPr algn="ctr" indent="0" marL="0">
              <a:buNone/>
            </a:pPr>
            <a:r>
              <a:rPr lang="en-US" sz="1050" dirty="0">
                <a:solidFill>
                  <a:srgbClr val="76838F"/>
                </a:solidFill>
                <a:latin typeface="Calibri" pitchFamily="34" charset="0"/>
                <a:ea typeface="Calibri" pitchFamily="34" charset="-122"/>
                <a:cs typeface="Calibri" pitchFamily="34" charset="-120"/>
              </a:rPr>
              <a:t>Show the top recommended config and the Optuna history plot</a:t>
            </a:r>
            <a:endParaRPr lang="en-US" sz="1050" dirty="0"/>
          </a:p>
        </p:txBody>
      </p:sp>
      <p:sp>
        <p:nvSpPr>
          <p:cNvPr id="10" name="Shape 8"/>
          <p:cNvSpPr/>
          <p:nvPr/>
        </p:nvSpPr>
        <p:spPr>
          <a:xfrm>
            <a:off x="566928" y="4096512"/>
            <a:ext cx="3503066" cy="1883664"/>
          </a:xfrm>
          <a:prstGeom prst="roundRect">
            <a:avLst>
              <a:gd name="adj" fmla="val 2913"/>
            </a:avLst>
          </a:prstGeom>
          <a:solidFill>
            <a:srgbClr val="FFFFFF"/>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11" name="Shape 9"/>
          <p:cNvSpPr/>
          <p:nvPr/>
        </p:nvSpPr>
        <p:spPr>
          <a:xfrm>
            <a:off x="786384" y="4261104"/>
            <a:ext cx="292608" cy="292608"/>
          </a:xfrm>
          <a:prstGeom prst="roundRect">
            <a:avLst>
              <a:gd name="adj" fmla="val 68750"/>
            </a:avLst>
          </a:prstGeom>
          <a:solidFill>
            <a:srgbClr val="1FB6A6"/>
          </a:solidFill>
          <a:ln w="12700">
            <a:solidFill>
              <a:srgbClr val="1FB6A6"/>
            </a:solidFill>
            <a:prstDash val="solid"/>
          </a:ln>
        </p:spPr>
      </p:sp>
      <p:sp>
        <p:nvSpPr>
          <p:cNvPr id="12" name="Text 10"/>
          <p:cNvSpPr txBox="1"/>
          <p:nvPr/>
        </p:nvSpPr>
        <p:spPr>
          <a:xfrm>
            <a:off x="786384" y="4261104"/>
            <a:ext cx="292608"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13" name="Text 11"/>
          <p:cNvSpPr txBox="1"/>
          <p:nvPr/>
        </p:nvSpPr>
        <p:spPr>
          <a:xfrm>
            <a:off x="1170432" y="4261104"/>
            <a:ext cx="2680106" cy="274320"/>
          </a:xfrm>
          <a:prstGeom prst="rect">
            <a:avLst/>
          </a:prstGeom>
          <a:noFill/>
          <a:ln/>
        </p:spPr>
        <p:txBody>
          <a:bodyPr wrap="square" lIns="0" tIns="0" rIns="0" bIns="0" rtlCol="0" anchor="ctr"/>
          <a:lstStyle/>
          <a:p>
            <a:pPr indent="0" marL="0">
              <a:buNone/>
            </a:pPr>
            <a:r>
              <a:rPr lang="en-US" sz="1350" b="1" dirty="0">
                <a:solidFill>
                  <a:srgbClr val="10151C"/>
                </a:solidFill>
                <a:latin typeface="Cambria" pitchFamily="34" charset="0"/>
                <a:ea typeface="Cambria" pitchFamily="34" charset="-122"/>
                <a:cs typeface="Cambria" pitchFamily="34" charset="-120"/>
              </a:rPr>
              <a:t>Recommendations</a:t>
            </a:r>
            <a:endParaRPr lang="en-US" sz="1350" dirty="0"/>
          </a:p>
        </p:txBody>
      </p:sp>
      <p:sp>
        <p:nvSpPr>
          <p:cNvPr id="14" name="Text 12"/>
          <p:cNvSpPr txBox="1"/>
          <p:nvPr/>
        </p:nvSpPr>
        <p:spPr>
          <a:xfrm>
            <a:off x="804672" y="4608576"/>
            <a:ext cx="3027578" cy="1280160"/>
          </a:xfrm>
          <a:prstGeom prst="rect">
            <a:avLst/>
          </a:prstGeom>
          <a:noFill/>
          <a:ln/>
        </p:spPr>
        <p:txBody>
          <a:bodyPr wrap="square" lIns="0" tIns="0" rIns="0" bIns="0" rtlCol="0" anchor="ctr"/>
          <a:lstStyle/>
          <a:p>
            <a:pPr marL="342900" indent="-342900">
              <a:lnSpc>
                <a:spcPct val="100000"/>
              </a:lnSpc>
              <a:spcAft>
                <a:spcPts val="500"/>
              </a:spcAft>
              <a:buSzPct val="100000"/>
              <a:buChar char="•"/>
            </a:pPr>
            <a:r>
              <a:rPr lang="en-US" sz="1050" dirty="0">
                <a:solidFill>
                  <a:srgbClr val="3A4757"/>
                </a:solidFill>
                <a:latin typeface="Calibri" pitchFamily="34" charset="0"/>
                <a:ea typeface="Calibri" pitchFamily="34" charset="-122"/>
                <a:cs typeface="Calibri" pitchFamily="34" charset="-120"/>
              </a:rPr>
              <a:t>Ranked configurations from the TPE search with predicted throughput and risk.</a:t>
            </a:r>
            <a:endParaRPr lang="en-US" sz="1050" dirty="0"/>
          </a:p>
          <a:p>
            <a:pPr marL="342900" indent="-342900">
              <a:lnSpc>
                <a:spcPct val="100000"/>
              </a:lnSpc>
              <a:spcAft>
                <a:spcPts val="500"/>
              </a:spcAft>
              <a:buSzPct val="100000"/>
              <a:buChar char="•"/>
            </a:pPr>
            <a:r>
              <a:rPr lang="en-US" sz="1050" dirty="0">
                <a:solidFill>
                  <a:srgbClr val="3A4757"/>
                </a:solidFill>
                <a:latin typeface="Calibri" pitchFamily="34" charset="0"/>
                <a:ea typeface="Calibri" pitchFamily="34" charset="-122"/>
                <a:cs typeface="Calibri" pitchFamily="34" charset="-120"/>
              </a:rPr>
              <a:t>Optimisation history across trials.</a:t>
            </a:r>
            <a:endParaRPr lang="en-US" sz="1050" dirty="0"/>
          </a:p>
          <a:p>
            <a:pPr marL="342900" indent="-342900">
              <a:lnSpc>
                <a:spcPct val="100000"/>
              </a:lnSpc>
              <a:spcAft>
                <a:spcPts val="500"/>
              </a:spcAft>
              <a:buSzPct val="100000"/>
              <a:buChar char="•"/>
            </a:pPr>
            <a:r>
              <a:rPr lang="en-US" sz="1050" dirty="0">
                <a:solidFill>
                  <a:srgbClr val="3A4757"/>
                </a:solidFill>
                <a:latin typeface="Calibri" pitchFamily="34" charset="0"/>
                <a:ea typeface="Calibri" pitchFamily="34" charset="-122"/>
                <a:cs typeface="Calibri" pitchFamily="34" charset="-120"/>
              </a:rPr>
              <a:t>The derived search space actually explored.</a:t>
            </a:r>
            <a:endParaRPr lang="en-US" sz="1050" dirty="0"/>
          </a:p>
        </p:txBody>
      </p:sp>
      <p:sp>
        <p:nvSpPr>
          <p:cNvPr id="15" name="Shape 13"/>
          <p:cNvSpPr/>
          <p:nvPr/>
        </p:nvSpPr>
        <p:spPr>
          <a:xfrm>
            <a:off x="4344314" y="1645920"/>
            <a:ext cx="3503066" cy="2304288"/>
          </a:xfrm>
          <a:prstGeom prst="roundRect">
            <a:avLst>
              <a:gd name="adj" fmla="val 1190"/>
            </a:avLst>
          </a:prstGeom>
          <a:solidFill>
            <a:srgbClr val="EEF2F6"/>
          </a:solidFill>
          <a:ln w="19050">
            <a:solidFill>
              <a:srgbClr val="B4C0CC"/>
            </a:solidFill>
            <a:prstDash val="dash"/>
          </a:ln>
        </p:spPr>
      </p:sp>
      <p:sp>
        <p:nvSpPr>
          <p:cNvPr id="16" name="Text 14"/>
          <p:cNvSpPr txBox="1"/>
          <p:nvPr/>
        </p:nvSpPr>
        <p:spPr>
          <a:xfrm>
            <a:off x="4344314" y="2414016"/>
            <a:ext cx="3503066" cy="274320"/>
          </a:xfrm>
          <a:prstGeom prst="rect">
            <a:avLst/>
          </a:prstGeom>
          <a:noFill/>
          <a:ln/>
        </p:spPr>
        <p:txBody>
          <a:bodyPr wrap="square" lIns="0" tIns="0" rIns="0" bIns="0" rtlCol="0" anchor="ctr"/>
          <a:lstStyle/>
          <a:p>
            <a:pPr algn="ctr" indent="0" marL="0">
              <a:buNone/>
            </a:pPr>
            <a:r>
              <a:rPr lang="en-US" sz="1200" b="1" spc="200" kern="0" dirty="0">
                <a:solidFill>
                  <a:srgbClr val="8894A0"/>
                </a:solidFill>
                <a:latin typeface="Calibri" pitchFamily="34" charset="0"/>
                <a:ea typeface="Calibri" pitchFamily="34" charset="-122"/>
                <a:cs typeface="Calibri" pitchFamily="34" charset="-120"/>
              </a:rPr>
              <a:t>INSERT SCREENSHOT</a:t>
            </a:r>
            <a:endParaRPr lang="en-US" sz="1200" dirty="0"/>
          </a:p>
        </p:txBody>
      </p:sp>
      <p:sp>
        <p:nvSpPr>
          <p:cNvPr id="17" name="Text 15"/>
          <p:cNvSpPr txBox="1"/>
          <p:nvPr/>
        </p:nvSpPr>
        <p:spPr>
          <a:xfrm>
            <a:off x="4527194" y="2724912"/>
            <a:ext cx="3137306" cy="310896"/>
          </a:xfrm>
          <a:prstGeom prst="rect">
            <a:avLst/>
          </a:prstGeom>
          <a:noFill/>
          <a:ln/>
        </p:spPr>
        <p:txBody>
          <a:bodyPr wrap="square" lIns="0" tIns="0" rIns="0" bIns="0" rtlCol="0" anchor="ctr"/>
          <a:lstStyle/>
          <a:p>
            <a:pPr algn="ctr" indent="0" marL="0">
              <a:buNone/>
            </a:pPr>
            <a:r>
              <a:rPr lang="en-US" sz="1350" b="1" dirty="0">
                <a:solidFill>
                  <a:srgbClr val="3A4757"/>
                </a:solidFill>
                <a:latin typeface="Calibri" pitchFamily="34" charset="0"/>
                <a:ea typeface="Calibri" pitchFamily="34" charset="-122"/>
                <a:cs typeface="Calibri" pitchFamily="34" charset="-120"/>
              </a:rPr>
              <a:t>Config Diff tab</a:t>
            </a:r>
            <a:endParaRPr lang="en-US" sz="1350" dirty="0"/>
          </a:p>
        </p:txBody>
      </p:sp>
      <p:sp>
        <p:nvSpPr>
          <p:cNvPr id="18" name="Text 16"/>
          <p:cNvSpPr txBox="1"/>
          <p:nvPr/>
        </p:nvSpPr>
        <p:spPr>
          <a:xfrm>
            <a:off x="4572914" y="3054096"/>
            <a:ext cx="3045866" cy="329184"/>
          </a:xfrm>
          <a:prstGeom prst="rect">
            <a:avLst/>
          </a:prstGeom>
          <a:noFill/>
          <a:ln/>
        </p:spPr>
        <p:txBody>
          <a:bodyPr wrap="square" lIns="0" tIns="0" rIns="0" bIns="0" rtlCol="0" anchor="ctr"/>
          <a:lstStyle/>
          <a:p>
            <a:pPr algn="ctr" indent="0" marL="0">
              <a:buNone/>
            </a:pPr>
            <a:r>
              <a:rPr lang="en-US" sz="1050" dirty="0">
                <a:solidFill>
                  <a:srgbClr val="76838F"/>
                </a:solidFill>
                <a:latin typeface="Calibri" pitchFamily="34" charset="0"/>
                <a:ea typeface="Calibri" pitchFamily="34" charset="-122"/>
                <a:cs typeface="Calibri" pitchFamily="34" charset="-120"/>
              </a:rPr>
              <a:t>Show the two-run log diff with divergent settings highlighted</a:t>
            </a:r>
            <a:endParaRPr lang="en-US" sz="1050" dirty="0"/>
          </a:p>
        </p:txBody>
      </p:sp>
      <p:sp>
        <p:nvSpPr>
          <p:cNvPr id="19" name="Shape 17"/>
          <p:cNvSpPr/>
          <p:nvPr/>
        </p:nvSpPr>
        <p:spPr>
          <a:xfrm>
            <a:off x="4344314" y="4096512"/>
            <a:ext cx="3503066" cy="1883664"/>
          </a:xfrm>
          <a:prstGeom prst="roundRect">
            <a:avLst>
              <a:gd name="adj" fmla="val 2913"/>
            </a:avLst>
          </a:prstGeom>
          <a:solidFill>
            <a:srgbClr val="FFFFFF"/>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20" name="Shape 18"/>
          <p:cNvSpPr/>
          <p:nvPr/>
        </p:nvSpPr>
        <p:spPr>
          <a:xfrm>
            <a:off x="4563770" y="4261104"/>
            <a:ext cx="292608" cy="292608"/>
          </a:xfrm>
          <a:prstGeom prst="roundRect">
            <a:avLst>
              <a:gd name="adj" fmla="val 68750"/>
            </a:avLst>
          </a:prstGeom>
          <a:solidFill>
            <a:srgbClr val="F5A524"/>
          </a:solidFill>
          <a:ln w="12700">
            <a:solidFill>
              <a:srgbClr val="F5A524"/>
            </a:solidFill>
            <a:prstDash val="solid"/>
          </a:ln>
        </p:spPr>
      </p:sp>
      <p:sp>
        <p:nvSpPr>
          <p:cNvPr id="21" name="Text 19"/>
          <p:cNvSpPr txBox="1"/>
          <p:nvPr/>
        </p:nvSpPr>
        <p:spPr>
          <a:xfrm>
            <a:off x="4563770" y="4261104"/>
            <a:ext cx="292608"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22" name="Text 20"/>
          <p:cNvSpPr txBox="1"/>
          <p:nvPr/>
        </p:nvSpPr>
        <p:spPr>
          <a:xfrm>
            <a:off x="4947818" y="4261104"/>
            <a:ext cx="2680106" cy="274320"/>
          </a:xfrm>
          <a:prstGeom prst="rect">
            <a:avLst/>
          </a:prstGeom>
          <a:noFill/>
          <a:ln/>
        </p:spPr>
        <p:txBody>
          <a:bodyPr wrap="square" lIns="0" tIns="0" rIns="0" bIns="0" rtlCol="0" anchor="ctr"/>
          <a:lstStyle/>
          <a:p>
            <a:pPr indent="0" marL="0">
              <a:buNone/>
            </a:pPr>
            <a:r>
              <a:rPr lang="en-US" sz="1350" b="1" dirty="0">
                <a:solidFill>
                  <a:srgbClr val="10151C"/>
                </a:solidFill>
                <a:latin typeface="Cambria" pitchFamily="34" charset="0"/>
                <a:ea typeface="Cambria" pitchFamily="34" charset="-122"/>
                <a:cs typeface="Cambria" pitchFamily="34" charset="-120"/>
              </a:rPr>
              <a:t>Config Diff</a:t>
            </a:r>
            <a:endParaRPr lang="en-US" sz="1350" dirty="0"/>
          </a:p>
        </p:txBody>
      </p:sp>
      <p:sp>
        <p:nvSpPr>
          <p:cNvPr id="23" name="Text 21"/>
          <p:cNvSpPr txBox="1"/>
          <p:nvPr/>
        </p:nvSpPr>
        <p:spPr>
          <a:xfrm>
            <a:off x="4582058" y="4608576"/>
            <a:ext cx="3027578" cy="1280160"/>
          </a:xfrm>
          <a:prstGeom prst="rect">
            <a:avLst/>
          </a:prstGeom>
          <a:noFill/>
          <a:ln/>
        </p:spPr>
        <p:txBody>
          <a:bodyPr wrap="square" lIns="0" tIns="0" rIns="0" bIns="0" rtlCol="0" anchor="ctr"/>
          <a:lstStyle/>
          <a:p>
            <a:pPr marL="342900" indent="-342900">
              <a:lnSpc>
                <a:spcPct val="100000"/>
              </a:lnSpc>
              <a:spcAft>
                <a:spcPts val="500"/>
              </a:spcAft>
              <a:buSzPct val="100000"/>
              <a:buChar char="•"/>
            </a:pPr>
            <a:r>
              <a:rPr lang="en-US" sz="1050" dirty="0">
                <a:solidFill>
                  <a:srgbClr val="3A4757"/>
                </a:solidFill>
                <a:latin typeface="Calibri" pitchFamily="34" charset="0"/>
                <a:ea typeface="Calibri" pitchFamily="34" charset="-122"/>
                <a:cs typeface="Calibri" pitchFamily="34" charset="-120"/>
              </a:rPr>
              <a:t>Twin-divergence ranking — which settings flip a run from pass to fail.</a:t>
            </a:r>
            <a:endParaRPr lang="en-US" sz="1050" dirty="0"/>
          </a:p>
          <a:p>
            <a:pPr marL="342900" indent="-342900">
              <a:lnSpc>
                <a:spcPct val="100000"/>
              </a:lnSpc>
              <a:spcAft>
                <a:spcPts val="500"/>
              </a:spcAft>
              <a:buSzPct val="100000"/>
              <a:buChar char="•"/>
            </a:pPr>
            <a:r>
              <a:rPr lang="en-US" sz="1050" dirty="0">
                <a:solidFill>
                  <a:srgbClr val="3A4757"/>
                </a:solidFill>
                <a:latin typeface="Calibri" pitchFamily="34" charset="0"/>
                <a:ea typeface="Calibri" pitchFamily="34" charset="-122"/>
                <a:cs typeface="Calibri" pitchFamily="34" charset="-120"/>
              </a:rPr>
              <a:t>Interactive two-run log diff viewer.</a:t>
            </a:r>
            <a:endParaRPr lang="en-US" sz="1050" dirty="0"/>
          </a:p>
          <a:p>
            <a:pPr marL="342900" indent="-342900">
              <a:lnSpc>
                <a:spcPct val="100000"/>
              </a:lnSpc>
              <a:spcAft>
                <a:spcPts val="500"/>
              </a:spcAft>
              <a:buSzPct val="100000"/>
              <a:buChar char="•"/>
            </a:pPr>
            <a:r>
              <a:rPr lang="en-US" sz="1050" dirty="0">
                <a:solidFill>
                  <a:srgbClr val="3A4757"/>
                </a:solidFill>
                <a:latin typeface="Calibri" pitchFamily="34" charset="0"/>
                <a:ea typeface="Calibri" pitchFamily="34" charset="-122"/>
                <a:cs typeface="Calibri" pitchFamily="34" charset="-120"/>
              </a:rPr>
              <a:t>Closest failing/passing pairs and aggregate deltas per sequence.</a:t>
            </a:r>
            <a:endParaRPr lang="en-US" sz="1050" dirty="0"/>
          </a:p>
        </p:txBody>
      </p:sp>
      <p:sp>
        <p:nvSpPr>
          <p:cNvPr id="24" name="Shape 22"/>
          <p:cNvSpPr/>
          <p:nvPr/>
        </p:nvSpPr>
        <p:spPr>
          <a:xfrm>
            <a:off x="8121701" y="1645920"/>
            <a:ext cx="3503066" cy="2304288"/>
          </a:xfrm>
          <a:prstGeom prst="roundRect">
            <a:avLst>
              <a:gd name="adj" fmla="val 1190"/>
            </a:avLst>
          </a:prstGeom>
          <a:solidFill>
            <a:srgbClr val="EEF2F6"/>
          </a:solidFill>
          <a:ln w="19050">
            <a:solidFill>
              <a:srgbClr val="B4C0CC"/>
            </a:solidFill>
            <a:prstDash val="dash"/>
          </a:ln>
        </p:spPr>
      </p:sp>
      <p:sp>
        <p:nvSpPr>
          <p:cNvPr id="25" name="Text 23"/>
          <p:cNvSpPr txBox="1"/>
          <p:nvPr/>
        </p:nvSpPr>
        <p:spPr>
          <a:xfrm>
            <a:off x="8121701" y="2414016"/>
            <a:ext cx="3503066" cy="274320"/>
          </a:xfrm>
          <a:prstGeom prst="rect">
            <a:avLst/>
          </a:prstGeom>
          <a:noFill/>
          <a:ln/>
        </p:spPr>
        <p:txBody>
          <a:bodyPr wrap="square" lIns="0" tIns="0" rIns="0" bIns="0" rtlCol="0" anchor="ctr"/>
          <a:lstStyle/>
          <a:p>
            <a:pPr algn="ctr" indent="0" marL="0">
              <a:buNone/>
            </a:pPr>
            <a:r>
              <a:rPr lang="en-US" sz="1200" b="1" spc="200" kern="0" dirty="0">
                <a:solidFill>
                  <a:srgbClr val="8894A0"/>
                </a:solidFill>
                <a:latin typeface="Calibri" pitchFamily="34" charset="0"/>
                <a:ea typeface="Calibri" pitchFamily="34" charset="-122"/>
                <a:cs typeface="Calibri" pitchFamily="34" charset="-120"/>
              </a:rPr>
              <a:t>INSERT SCREENSHOT</a:t>
            </a:r>
            <a:endParaRPr lang="en-US" sz="1200" dirty="0"/>
          </a:p>
        </p:txBody>
      </p:sp>
      <p:sp>
        <p:nvSpPr>
          <p:cNvPr id="26" name="Text 24"/>
          <p:cNvSpPr txBox="1"/>
          <p:nvPr/>
        </p:nvSpPr>
        <p:spPr>
          <a:xfrm>
            <a:off x="8304581" y="2724912"/>
            <a:ext cx="3137306" cy="310896"/>
          </a:xfrm>
          <a:prstGeom prst="rect">
            <a:avLst/>
          </a:prstGeom>
          <a:noFill/>
          <a:ln/>
        </p:spPr>
        <p:txBody>
          <a:bodyPr wrap="square" lIns="0" tIns="0" rIns="0" bIns="0" rtlCol="0" anchor="ctr"/>
          <a:lstStyle/>
          <a:p>
            <a:pPr algn="ctr" indent="0" marL="0">
              <a:buNone/>
            </a:pPr>
            <a:r>
              <a:rPr lang="en-US" sz="1350" b="1" dirty="0">
                <a:solidFill>
                  <a:srgbClr val="3A4757"/>
                </a:solidFill>
                <a:latin typeface="Calibri" pitchFamily="34" charset="0"/>
                <a:ea typeface="Calibri" pitchFamily="34" charset="-122"/>
                <a:cs typeface="Calibri" pitchFamily="34" charset="-120"/>
              </a:rPr>
              <a:t>Run Explorer + All Details tab</a:t>
            </a:r>
            <a:endParaRPr lang="en-US" sz="1350" dirty="0"/>
          </a:p>
        </p:txBody>
      </p:sp>
      <p:sp>
        <p:nvSpPr>
          <p:cNvPr id="27" name="Text 25"/>
          <p:cNvSpPr txBox="1"/>
          <p:nvPr/>
        </p:nvSpPr>
        <p:spPr>
          <a:xfrm>
            <a:off x="8350301" y="3054096"/>
            <a:ext cx="3045866" cy="329184"/>
          </a:xfrm>
          <a:prstGeom prst="rect">
            <a:avLst/>
          </a:prstGeom>
          <a:noFill/>
          <a:ln/>
        </p:spPr>
        <p:txBody>
          <a:bodyPr wrap="square" lIns="0" tIns="0" rIns="0" bIns="0" rtlCol="0" anchor="ctr"/>
          <a:lstStyle/>
          <a:p>
            <a:pPr algn="ctr" indent="0" marL="0">
              <a:buNone/>
            </a:pPr>
            <a:r>
              <a:rPr lang="en-US" sz="1050" dirty="0">
                <a:solidFill>
                  <a:srgbClr val="76838F"/>
                </a:solidFill>
                <a:latin typeface="Calibri" pitchFamily="34" charset="0"/>
                <a:ea typeface="Calibri" pitchFamily="34" charset="-122"/>
                <a:cs typeface="Calibri" pitchFamily="34" charset="-120"/>
              </a:rPr>
              <a:t>Show the paged run table, then the parse-stats panel</a:t>
            </a:r>
            <a:endParaRPr lang="en-US" sz="1050" dirty="0"/>
          </a:p>
        </p:txBody>
      </p:sp>
      <p:sp>
        <p:nvSpPr>
          <p:cNvPr id="28" name="Shape 26"/>
          <p:cNvSpPr/>
          <p:nvPr/>
        </p:nvSpPr>
        <p:spPr>
          <a:xfrm>
            <a:off x="8121701" y="4096512"/>
            <a:ext cx="3503066" cy="1883664"/>
          </a:xfrm>
          <a:prstGeom prst="roundRect">
            <a:avLst>
              <a:gd name="adj" fmla="val 2913"/>
            </a:avLst>
          </a:prstGeom>
          <a:solidFill>
            <a:srgbClr val="FFFFFF"/>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29" name="Shape 27"/>
          <p:cNvSpPr/>
          <p:nvPr/>
        </p:nvSpPr>
        <p:spPr>
          <a:xfrm>
            <a:off x="8341157" y="4261104"/>
            <a:ext cx="292608" cy="292608"/>
          </a:xfrm>
          <a:prstGeom prst="roundRect">
            <a:avLst>
              <a:gd name="adj" fmla="val 68750"/>
            </a:avLst>
          </a:prstGeom>
          <a:solidFill>
            <a:srgbClr val="F5A524"/>
          </a:solidFill>
          <a:ln w="12700">
            <a:solidFill>
              <a:srgbClr val="F5A524"/>
            </a:solidFill>
            <a:prstDash val="solid"/>
          </a:ln>
        </p:spPr>
      </p:sp>
      <p:sp>
        <p:nvSpPr>
          <p:cNvPr id="30" name="Text 28"/>
          <p:cNvSpPr txBox="1"/>
          <p:nvPr/>
        </p:nvSpPr>
        <p:spPr>
          <a:xfrm>
            <a:off x="8341157" y="4261104"/>
            <a:ext cx="292608"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31" name="Text 29"/>
          <p:cNvSpPr txBox="1"/>
          <p:nvPr/>
        </p:nvSpPr>
        <p:spPr>
          <a:xfrm>
            <a:off x="8725205" y="4261104"/>
            <a:ext cx="2680106" cy="274320"/>
          </a:xfrm>
          <a:prstGeom prst="rect">
            <a:avLst/>
          </a:prstGeom>
          <a:noFill/>
          <a:ln/>
        </p:spPr>
        <p:txBody>
          <a:bodyPr wrap="square" lIns="0" tIns="0" rIns="0" bIns="0" rtlCol="0" anchor="ctr"/>
          <a:lstStyle/>
          <a:p>
            <a:pPr indent="0" marL="0">
              <a:buNone/>
            </a:pPr>
            <a:r>
              <a:rPr lang="en-US" sz="1350" b="1" dirty="0">
                <a:solidFill>
                  <a:srgbClr val="10151C"/>
                </a:solidFill>
                <a:latin typeface="Cambria" pitchFamily="34" charset="0"/>
                <a:ea typeface="Cambria" pitchFamily="34" charset="-122"/>
                <a:cs typeface="Cambria" pitchFamily="34" charset="-120"/>
              </a:rPr>
              <a:t>Run Explorer + All Details</a:t>
            </a:r>
            <a:endParaRPr lang="en-US" sz="1350" dirty="0"/>
          </a:p>
        </p:txBody>
      </p:sp>
      <p:sp>
        <p:nvSpPr>
          <p:cNvPr id="32" name="Text 30"/>
          <p:cNvSpPr txBox="1"/>
          <p:nvPr/>
        </p:nvSpPr>
        <p:spPr>
          <a:xfrm>
            <a:off x="8359445" y="4608576"/>
            <a:ext cx="3027578" cy="1280160"/>
          </a:xfrm>
          <a:prstGeom prst="rect">
            <a:avLst/>
          </a:prstGeom>
          <a:noFill/>
          <a:ln/>
        </p:spPr>
        <p:txBody>
          <a:bodyPr wrap="square" lIns="0" tIns="0" rIns="0" bIns="0" rtlCol="0" anchor="ctr"/>
          <a:lstStyle/>
          <a:p>
            <a:pPr marL="342900" indent="-342900">
              <a:lnSpc>
                <a:spcPct val="100000"/>
              </a:lnSpc>
              <a:spcAft>
                <a:spcPts val="500"/>
              </a:spcAft>
              <a:buSzPct val="100000"/>
              <a:buChar char="•"/>
            </a:pPr>
            <a:r>
              <a:rPr lang="en-US" sz="1050" dirty="0">
                <a:solidFill>
                  <a:srgbClr val="3A4757"/>
                </a:solidFill>
                <a:latin typeface="Calibri" pitchFamily="34" charset="0"/>
                <a:ea typeface="Calibri" pitchFamily="34" charset="-122"/>
                <a:cs typeface="Calibri" pitchFamily="34" charset="-120"/>
              </a:rPr>
              <a:t>Paged, filterable, sortable table of every parsed run.</a:t>
            </a:r>
            <a:endParaRPr lang="en-US" sz="1050" dirty="0"/>
          </a:p>
          <a:p>
            <a:pPr marL="342900" indent="-342900">
              <a:lnSpc>
                <a:spcPct val="100000"/>
              </a:lnSpc>
              <a:spcAft>
                <a:spcPts val="500"/>
              </a:spcAft>
              <a:buSzPct val="100000"/>
              <a:buChar char="•"/>
            </a:pPr>
            <a:r>
              <a:rPr lang="en-US" sz="1050" dirty="0">
                <a:solidFill>
                  <a:srgbClr val="3A4757"/>
                </a:solidFill>
                <a:latin typeface="Calibri" pitchFamily="34" charset="0"/>
                <a:ea typeface="Calibri" pitchFamily="34" charset="-122"/>
                <a:cs typeface="Calibri" pitchFamily="34" charset="-120"/>
              </a:rPr>
              <a:t>Parse stats, per-stage timing log, failure rate by field with lift.</a:t>
            </a:r>
            <a:endParaRPr lang="en-US" sz="1050" dirty="0"/>
          </a:p>
          <a:p>
            <a:pPr marL="342900" indent="-342900">
              <a:lnSpc>
                <a:spcPct val="100000"/>
              </a:lnSpc>
              <a:spcAft>
                <a:spcPts val="500"/>
              </a:spcAft>
              <a:buSzPct val="100000"/>
              <a:buChar char="•"/>
            </a:pPr>
            <a:r>
              <a:rPr lang="en-US" sz="1050" dirty="0">
                <a:solidFill>
                  <a:srgbClr val="3A4757"/>
                </a:solidFill>
                <a:latin typeface="Calibri" pitchFamily="34" charset="0"/>
                <a:ea typeface="Calibri" pitchFamily="34" charset="-122"/>
                <a:cs typeface="Calibri" pitchFamily="34" charset="-120"/>
              </a:rPr>
              <a:t>Metric distributions, highest-risk runs, job metadata, column inventory.</a:t>
            </a:r>
            <a:endParaRPr lang="en-US" sz="1050" dirty="0"/>
          </a:p>
        </p:txBody>
      </p:sp>
      <p:sp>
        <p:nvSpPr>
          <p:cNvPr id="33" name="Text 31"/>
          <p:cNvSpPr txBox="1"/>
          <p:nvPr/>
        </p:nvSpPr>
        <p:spPr>
          <a:xfrm>
            <a:off x="566928" y="6053328"/>
            <a:ext cx="11057839" cy="274320"/>
          </a:xfrm>
          <a:prstGeom prst="rect">
            <a:avLst/>
          </a:prstGeom>
          <a:noFill/>
          <a:ln/>
        </p:spPr>
        <p:txBody>
          <a:bodyPr wrap="square" lIns="0" tIns="0" rIns="0" bIns="0" rtlCol="0" anchor="ctr"/>
          <a:lstStyle/>
          <a:p>
            <a:pPr indent="0" marL="0">
              <a:buNone/>
            </a:pPr>
            <a:r>
              <a:rPr lang="en-US" sz="1150" i="1" dirty="0">
                <a:solidFill>
                  <a:srgbClr val="A86B12"/>
                </a:solidFill>
                <a:latin typeface="Calibri" pitchFamily="34" charset="0"/>
                <a:ea typeface="Calibri" pitchFamily="34" charset="-122"/>
                <a:cs typeface="Calibri" pitchFamily="34" charset="-120"/>
              </a:rPr>
              <a:t>Every tab reads from the same job payload, and the whole report can be downloaded as JSON from /api/jobs/{id}/export.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151C"/>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20" kern="0" dirty="0">
                <a:solidFill>
                  <a:srgbClr val="F5A524"/>
                </a:solidFill>
                <a:latin typeface="Calibri" pitchFamily="34" charset="0"/>
                <a:ea typeface="Calibri" pitchFamily="34" charset="-122"/>
                <a:cs typeface="Calibri" pitchFamily="34" charset="-120"/>
              </a:rPr>
              <a:t>ENGINEERING</a:t>
            </a:r>
            <a:endParaRPr lang="en-US" sz="105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Software stack, API surface and measured performance</a:t>
            </a:r>
            <a:endParaRPr lang="en-US" sz="3300" dirty="0"/>
          </a:p>
        </p:txBody>
      </p:sp>
      <p:sp>
        <p:nvSpPr>
          <p:cNvPr id="4" name="Text 2"/>
          <p:cNvSpPr txBox="1"/>
          <p:nvPr/>
        </p:nvSpPr>
        <p:spPr>
          <a:xfrm>
            <a:off x="566928" y="6327648"/>
            <a:ext cx="5486400" cy="274320"/>
          </a:xfrm>
          <a:prstGeom prst="rect">
            <a:avLst/>
          </a:prstGeom>
          <a:noFill/>
          <a:ln/>
        </p:spPr>
        <p:txBody>
          <a:bodyPr wrap="square" lIns="0" tIns="0" rIns="0" bIns="0" rtlCol="0" anchor="ctr"/>
          <a:lstStyle/>
          <a:p>
            <a:pPr algn="l" indent="0" marL="0">
              <a:buNone/>
            </a:pPr>
            <a:r>
              <a:rPr lang="en-US" sz="900" dirty="0">
                <a:solidFill>
                  <a:srgbClr val="5A6875"/>
                </a:solidFill>
                <a:latin typeface="Calibri" pitchFamily="34" charset="0"/>
                <a:ea typeface="Calibri" pitchFamily="34" charset="-122"/>
                <a:cs typeface="Calibri" pitchFamily="34" charset="-120"/>
              </a:rPr>
              <a:t>UVM Configuration Intelligence  ·  Team Asterix</a:t>
            </a:r>
            <a:endParaRPr lang="en-US" sz="900" dirty="0"/>
          </a:p>
        </p:txBody>
      </p:sp>
      <p:sp>
        <p:nvSpPr>
          <p:cNvPr id="5" name="Text 3"/>
          <p:cNvSpPr txBox="1"/>
          <p:nvPr/>
        </p:nvSpPr>
        <p:spPr>
          <a:xfrm>
            <a:off x="10527487" y="6327648"/>
            <a:ext cx="1097280" cy="274320"/>
          </a:xfrm>
          <a:prstGeom prst="rect">
            <a:avLst/>
          </a:prstGeom>
          <a:noFill/>
          <a:ln/>
        </p:spPr>
        <p:txBody>
          <a:bodyPr wrap="square" lIns="0" tIns="0" rIns="0" bIns="0" rtlCol="0" anchor="ctr"/>
          <a:lstStyle/>
          <a:p>
            <a:pPr algn="r" indent="0" marL="0">
              <a:buNone/>
            </a:pPr>
            <a:r>
              <a:rPr lang="en-US" sz="900" b="1" dirty="0">
                <a:solidFill>
                  <a:srgbClr val="5A6875"/>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66928" y="1645920"/>
            <a:ext cx="5364328" cy="1060704"/>
          </a:xfrm>
          <a:prstGeom prst="roundRect">
            <a:avLst>
              <a:gd name="adj" fmla="val 5172"/>
            </a:avLst>
          </a:prstGeom>
          <a:solidFill>
            <a:srgbClr val="1B2530"/>
          </a:solidFill>
          <a:ln w="12700">
            <a:solidFill>
              <a:srgbClr val="2E3B4A"/>
            </a:solidFill>
            <a:prstDash val="solid"/>
          </a:ln>
        </p:spPr>
      </p:sp>
      <p:sp>
        <p:nvSpPr>
          <p:cNvPr id="7" name="Text 5"/>
          <p:cNvSpPr txBox="1"/>
          <p:nvPr/>
        </p:nvSpPr>
        <p:spPr>
          <a:xfrm>
            <a:off x="804672" y="1792224"/>
            <a:ext cx="4907128" cy="274320"/>
          </a:xfrm>
          <a:prstGeom prst="rect">
            <a:avLst/>
          </a:prstGeom>
          <a:noFill/>
          <a:ln/>
        </p:spPr>
        <p:txBody>
          <a:bodyPr wrap="square" lIns="0" tIns="0" rIns="0" bIns="0" rtlCol="0" anchor="ctr"/>
          <a:lstStyle/>
          <a:p>
            <a:pPr indent="0" marL="0">
              <a:buNone/>
            </a:pPr>
            <a:r>
              <a:rPr lang="en-US" sz="1450" b="1" dirty="0">
                <a:solidFill>
                  <a:srgbClr val="F5A524"/>
                </a:solidFill>
                <a:latin typeface="Cambria" pitchFamily="34" charset="0"/>
                <a:ea typeface="Cambria" pitchFamily="34" charset="-122"/>
                <a:cs typeface="Cambria" pitchFamily="34" charset="-120"/>
              </a:rPr>
              <a:t>Frontend</a:t>
            </a:r>
            <a:endParaRPr lang="en-US" sz="1450" dirty="0"/>
          </a:p>
        </p:txBody>
      </p:sp>
      <p:sp>
        <p:nvSpPr>
          <p:cNvPr id="8" name="Text 6"/>
          <p:cNvSpPr txBox="1"/>
          <p:nvPr/>
        </p:nvSpPr>
        <p:spPr>
          <a:xfrm>
            <a:off x="804672" y="2103120"/>
            <a:ext cx="4907128" cy="548640"/>
          </a:xfrm>
          <a:prstGeom prst="rect">
            <a:avLst/>
          </a:prstGeom>
          <a:noFill/>
          <a:ln/>
        </p:spPr>
        <p:txBody>
          <a:bodyPr wrap="square" lIns="0" tIns="0" rIns="0" bIns="0" rtlCol="0" anchor="ctr"/>
          <a:lstStyle/>
          <a:p>
            <a:pPr indent="0" marL="0">
              <a:lnSpc>
                <a:spcPct val="108000"/>
              </a:lnSpc>
              <a:buNone/>
            </a:pPr>
            <a:r>
              <a:rPr lang="en-US" sz="1150" dirty="0">
                <a:solidFill>
                  <a:srgbClr val="AEB9C4"/>
                </a:solidFill>
                <a:latin typeface="Calibri" pitchFamily="34" charset="0"/>
                <a:ea typeface="Calibri" pitchFamily="34" charset="-122"/>
                <a:cs typeface="Calibri" pitchFamily="34" charset="-120"/>
              </a:rPr>
              <a:t>React 18 · Vite 5 · Recharts · Axios</a:t>
            </a:r>
            <a:endParaRPr lang="en-US" sz="1150" dirty="0"/>
          </a:p>
          <a:p>
            <a:pPr indent="0" marL="0">
              <a:lnSpc>
                <a:spcPct val="108000"/>
              </a:lnSpc>
              <a:buNone/>
            </a:pPr>
            <a:r>
              <a:rPr lang="en-US" sz="1150" dirty="0">
                <a:solidFill>
                  <a:srgbClr val="AEB9C4"/>
                </a:solidFill>
                <a:latin typeface="Calibri" pitchFamily="34" charset="0"/>
                <a:ea typeface="Calibri" pitchFamily="34" charset="-122"/>
                <a:cs typeface="Calibri" pitchFamily="34" charset="-120"/>
              </a:rPr>
              <a:t>Custom dropzone, polling job client, 7 tab views</a:t>
            </a:r>
            <a:endParaRPr lang="en-US" sz="1150" dirty="0"/>
          </a:p>
        </p:txBody>
      </p:sp>
      <p:sp>
        <p:nvSpPr>
          <p:cNvPr id="9" name="Shape 7"/>
          <p:cNvSpPr/>
          <p:nvPr/>
        </p:nvSpPr>
        <p:spPr>
          <a:xfrm>
            <a:off x="6260440" y="1645920"/>
            <a:ext cx="5364328" cy="1060704"/>
          </a:xfrm>
          <a:prstGeom prst="roundRect">
            <a:avLst>
              <a:gd name="adj" fmla="val 5172"/>
            </a:avLst>
          </a:prstGeom>
          <a:solidFill>
            <a:srgbClr val="1B2530"/>
          </a:solidFill>
          <a:ln w="12700">
            <a:solidFill>
              <a:srgbClr val="2E3B4A"/>
            </a:solidFill>
            <a:prstDash val="solid"/>
          </a:ln>
        </p:spPr>
      </p:sp>
      <p:sp>
        <p:nvSpPr>
          <p:cNvPr id="10" name="Text 8"/>
          <p:cNvSpPr txBox="1"/>
          <p:nvPr/>
        </p:nvSpPr>
        <p:spPr>
          <a:xfrm>
            <a:off x="6498184" y="1792224"/>
            <a:ext cx="4907128" cy="274320"/>
          </a:xfrm>
          <a:prstGeom prst="rect">
            <a:avLst/>
          </a:prstGeom>
          <a:noFill/>
          <a:ln/>
        </p:spPr>
        <p:txBody>
          <a:bodyPr wrap="square" lIns="0" tIns="0" rIns="0" bIns="0" rtlCol="0" anchor="ctr"/>
          <a:lstStyle/>
          <a:p>
            <a:pPr indent="0" marL="0">
              <a:buNone/>
            </a:pPr>
            <a:r>
              <a:rPr lang="en-US" sz="1450" b="1" dirty="0">
                <a:solidFill>
                  <a:srgbClr val="F5A524"/>
                </a:solidFill>
                <a:latin typeface="Cambria" pitchFamily="34" charset="0"/>
                <a:ea typeface="Cambria" pitchFamily="34" charset="-122"/>
                <a:cs typeface="Cambria" pitchFamily="34" charset="-120"/>
              </a:rPr>
              <a:t>Backend</a:t>
            </a:r>
            <a:endParaRPr lang="en-US" sz="1450" dirty="0"/>
          </a:p>
        </p:txBody>
      </p:sp>
      <p:sp>
        <p:nvSpPr>
          <p:cNvPr id="11" name="Text 9"/>
          <p:cNvSpPr txBox="1"/>
          <p:nvPr/>
        </p:nvSpPr>
        <p:spPr>
          <a:xfrm>
            <a:off x="6498184" y="2103120"/>
            <a:ext cx="4907128" cy="548640"/>
          </a:xfrm>
          <a:prstGeom prst="rect">
            <a:avLst/>
          </a:prstGeom>
          <a:noFill/>
          <a:ln/>
        </p:spPr>
        <p:txBody>
          <a:bodyPr wrap="square" lIns="0" tIns="0" rIns="0" bIns="0" rtlCol="0" anchor="ctr"/>
          <a:lstStyle/>
          <a:p>
            <a:pPr indent="0" marL="0">
              <a:lnSpc>
                <a:spcPct val="108000"/>
              </a:lnSpc>
              <a:buNone/>
            </a:pPr>
            <a:r>
              <a:rPr lang="en-US" sz="1150" dirty="0">
                <a:solidFill>
                  <a:srgbClr val="AEB9C4"/>
                </a:solidFill>
                <a:latin typeface="Calibri" pitchFamily="34" charset="0"/>
                <a:ea typeface="Calibri" pitchFamily="34" charset="-122"/>
                <a:cs typeface="Calibri" pitchFamily="34" charset="-120"/>
              </a:rPr>
              <a:t>FastAPI 0.104 · Uvicorn · python-multipart</a:t>
            </a:r>
            <a:endParaRPr lang="en-US" sz="1150" dirty="0"/>
          </a:p>
          <a:p>
            <a:pPr indent="0" marL="0">
              <a:lnSpc>
                <a:spcPct val="108000"/>
              </a:lnSpc>
              <a:buNone/>
            </a:pPr>
            <a:r>
              <a:rPr lang="en-US" sz="1150" dirty="0">
                <a:solidFill>
                  <a:srgbClr val="AEB9C4"/>
                </a:solidFill>
                <a:latin typeface="Calibri" pitchFamily="34" charset="0"/>
                <a:ea typeface="Calibri" pitchFamily="34" charset="-122"/>
                <a:cs typeface="Calibri" pitchFamily="34" charset="-120"/>
              </a:rPr>
              <a:t>Threaded job registry, CORS, 512 MB upload cap</a:t>
            </a:r>
            <a:endParaRPr lang="en-US" sz="1150" dirty="0"/>
          </a:p>
        </p:txBody>
      </p:sp>
      <p:sp>
        <p:nvSpPr>
          <p:cNvPr id="12" name="Shape 10"/>
          <p:cNvSpPr/>
          <p:nvPr/>
        </p:nvSpPr>
        <p:spPr>
          <a:xfrm>
            <a:off x="566928" y="2907792"/>
            <a:ext cx="5364328" cy="1060704"/>
          </a:xfrm>
          <a:prstGeom prst="roundRect">
            <a:avLst>
              <a:gd name="adj" fmla="val 5172"/>
            </a:avLst>
          </a:prstGeom>
          <a:solidFill>
            <a:srgbClr val="1B2530"/>
          </a:solidFill>
          <a:ln w="12700">
            <a:solidFill>
              <a:srgbClr val="2E3B4A"/>
            </a:solidFill>
            <a:prstDash val="solid"/>
          </a:ln>
        </p:spPr>
      </p:sp>
      <p:sp>
        <p:nvSpPr>
          <p:cNvPr id="13" name="Text 11"/>
          <p:cNvSpPr txBox="1"/>
          <p:nvPr/>
        </p:nvSpPr>
        <p:spPr>
          <a:xfrm>
            <a:off x="804672" y="3054096"/>
            <a:ext cx="4907128" cy="274320"/>
          </a:xfrm>
          <a:prstGeom prst="rect">
            <a:avLst/>
          </a:prstGeom>
          <a:noFill/>
          <a:ln/>
        </p:spPr>
        <p:txBody>
          <a:bodyPr wrap="square" lIns="0" tIns="0" rIns="0" bIns="0" rtlCol="0" anchor="ctr"/>
          <a:lstStyle/>
          <a:p>
            <a:pPr indent="0" marL="0">
              <a:buNone/>
            </a:pPr>
            <a:r>
              <a:rPr lang="en-US" sz="1450" b="1" dirty="0">
                <a:solidFill>
                  <a:srgbClr val="F5A524"/>
                </a:solidFill>
                <a:latin typeface="Cambria" pitchFamily="34" charset="0"/>
                <a:ea typeface="Cambria" pitchFamily="34" charset="-122"/>
                <a:cs typeface="Cambria" pitchFamily="34" charset="-120"/>
              </a:rPr>
              <a:t>ML &amp; analytics</a:t>
            </a:r>
            <a:endParaRPr lang="en-US" sz="1450" dirty="0"/>
          </a:p>
        </p:txBody>
      </p:sp>
      <p:sp>
        <p:nvSpPr>
          <p:cNvPr id="14" name="Text 12"/>
          <p:cNvSpPr txBox="1"/>
          <p:nvPr/>
        </p:nvSpPr>
        <p:spPr>
          <a:xfrm>
            <a:off x="804672" y="3364992"/>
            <a:ext cx="4907128" cy="548640"/>
          </a:xfrm>
          <a:prstGeom prst="rect">
            <a:avLst/>
          </a:prstGeom>
          <a:noFill/>
          <a:ln/>
        </p:spPr>
        <p:txBody>
          <a:bodyPr wrap="square" lIns="0" tIns="0" rIns="0" bIns="0" rtlCol="0" anchor="ctr"/>
          <a:lstStyle/>
          <a:p>
            <a:pPr indent="0" marL="0">
              <a:lnSpc>
                <a:spcPct val="108000"/>
              </a:lnSpc>
              <a:buNone/>
            </a:pPr>
            <a:r>
              <a:rPr lang="en-US" sz="1150" dirty="0">
                <a:solidFill>
                  <a:srgbClr val="AEB9C4"/>
                </a:solidFill>
                <a:latin typeface="Calibri" pitchFamily="34" charset="0"/>
                <a:ea typeface="Calibri" pitchFamily="34" charset="-122"/>
                <a:cs typeface="Calibri" pitchFamily="34" charset="-120"/>
              </a:rPr>
              <a:t>LightGBM · SHAP · scikit-learn · Optuna (TPE)</a:t>
            </a:r>
            <a:endParaRPr lang="en-US" sz="1150" dirty="0"/>
          </a:p>
          <a:p>
            <a:pPr indent="0" marL="0">
              <a:lnSpc>
                <a:spcPct val="108000"/>
              </a:lnSpc>
              <a:buNone/>
            </a:pPr>
            <a:r>
              <a:rPr lang="en-US" sz="1150" dirty="0">
                <a:solidFill>
                  <a:srgbClr val="AEB9C4"/>
                </a:solidFill>
                <a:latin typeface="Calibri" pitchFamily="34" charset="0"/>
                <a:ea typeface="Calibri" pitchFamily="34" charset="-122"/>
                <a:cs typeface="Calibri" pitchFamily="34" charset="-120"/>
              </a:rPr>
              <a:t>TF-IDF + DBSCAN · NumPy · pandas</a:t>
            </a:r>
            <a:endParaRPr lang="en-US" sz="1150" dirty="0"/>
          </a:p>
        </p:txBody>
      </p:sp>
      <p:sp>
        <p:nvSpPr>
          <p:cNvPr id="15" name="Shape 13"/>
          <p:cNvSpPr/>
          <p:nvPr/>
        </p:nvSpPr>
        <p:spPr>
          <a:xfrm>
            <a:off x="6260440" y="2907792"/>
            <a:ext cx="5364328" cy="1060704"/>
          </a:xfrm>
          <a:prstGeom prst="roundRect">
            <a:avLst>
              <a:gd name="adj" fmla="val 5172"/>
            </a:avLst>
          </a:prstGeom>
          <a:solidFill>
            <a:srgbClr val="1B2530"/>
          </a:solidFill>
          <a:ln w="12700">
            <a:solidFill>
              <a:srgbClr val="2E3B4A"/>
            </a:solidFill>
            <a:prstDash val="solid"/>
          </a:ln>
        </p:spPr>
      </p:sp>
      <p:sp>
        <p:nvSpPr>
          <p:cNvPr id="16" name="Text 14"/>
          <p:cNvSpPr txBox="1"/>
          <p:nvPr/>
        </p:nvSpPr>
        <p:spPr>
          <a:xfrm>
            <a:off x="6498184" y="3054096"/>
            <a:ext cx="4907128" cy="274320"/>
          </a:xfrm>
          <a:prstGeom prst="rect">
            <a:avLst/>
          </a:prstGeom>
          <a:noFill/>
          <a:ln/>
        </p:spPr>
        <p:txBody>
          <a:bodyPr wrap="square" lIns="0" tIns="0" rIns="0" bIns="0" rtlCol="0" anchor="ctr"/>
          <a:lstStyle/>
          <a:p>
            <a:pPr indent="0" marL="0">
              <a:buNone/>
            </a:pPr>
            <a:r>
              <a:rPr lang="en-US" sz="1450" b="1" dirty="0">
                <a:solidFill>
                  <a:srgbClr val="F5A524"/>
                </a:solidFill>
                <a:latin typeface="Cambria" pitchFamily="34" charset="0"/>
                <a:ea typeface="Cambria" pitchFamily="34" charset="-122"/>
                <a:cs typeface="Cambria" pitchFamily="34" charset="-120"/>
              </a:rPr>
              <a:t>Tooling</a:t>
            </a:r>
            <a:endParaRPr lang="en-US" sz="1450" dirty="0"/>
          </a:p>
        </p:txBody>
      </p:sp>
      <p:sp>
        <p:nvSpPr>
          <p:cNvPr id="17" name="Text 15"/>
          <p:cNvSpPr txBox="1"/>
          <p:nvPr/>
        </p:nvSpPr>
        <p:spPr>
          <a:xfrm>
            <a:off x="6498184" y="3364992"/>
            <a:ext cx="4907128" cy="548640"/>
          </a:xfrm>
          <a:prstGeom prst="rect">
            <a:avLst/>
          </a:prstGeom>
          <a:noFill/>
          <a:ln/>
        </p:spPr>
        <p:txBody>
          <a:bodyPr wrap="square" lIns="0" tIns="0" rIns="0" bIns="0" rtlCol="0" anchor="ctr"/>
          <a:lstStyle/>
          <a:p>
            <a:pPr indent="0" marL="0">
              <a:lnSpc>
                <a:spcPct val="108000"/>
              </a:lnSpc>
              <a:buNone/>
            </a:pPr>
            <a:r>
              <a:rPr lang="en-US" sz="1150" dirty="0">
                <a:solidFill>
                  <a:srgbClr val="AEB9C4"/>
                </a:solidFill>
                <a:latin typeface="Calibri" pitchFamily="34" charset="0"/>
                <a:ea typeface="Calibri" pitchFamily="34" charset="-122"/>
                <a:cs typeface="Calibri" pitchFamily="34" charset="-120"/>
              </a:rPr>
              <a:t>Python 3.11 · pytest parser suite · CLI entry points</a:t>
            </a:r>
            <a:endParaRPr lang="en-US" sz="1150" dirty="0"/>
          </a:p>
          <a:p>
            <a:pPr indent="0" marL="0">
              <a:lnSpc>
                <a:spcPct val="108000"/>
              </a:lnSpc>
              <a:buNone/>
            </a:pPr>
            <a:r>
              <a:rPr lang="en-US" sz="1150" dirty="0">
                <a:solidFill>
                  <a:srgbClr val="AEB9C4"/>
                </a:solidFill>
                <a:latin typeface="Calibri" pitchFamily="34" charset="0"/>
                <a:ea typeface="Calibri" pitchFamily="34" charset="-122"/>
                <a:cs typeface="Calibri" pitchFamily="34" charset="-120"/>
              </a:rPr>
              <a:t>Shared log grammar module, ground-truth grader</a:t>
            </a:r>
            <a:endParaRPr lang="en-US" sz="1150" dirty="0"/>
          </a:p>
        </p:txBody>
      </p:sp>
      <p:sp>
        <p:nvSpPr>
          <p:cNvPr id="18" name="Text 16"/>
          <p:cNvSpPr txBox="1"/>
          <p:nvPr/>
        </p:nvSpPr>
        <p:spPr>
          <a:xfrm>
            <a:off x="566928" y="4059936"/>
            <a:ext cx="5364328" cy="2743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REST API</a:t>
            </a:r>
            <a:endParaRPr lang="en-US" sz="1500" dirty="0"/>
          </a:p>
        </p:txBody>
      </p:sp>
      <p:sp>
        <p:nvSpPr>
          <p:cNvPr id="19" name="Text 17"/>
          <p:cNvSpPr txBox="1"/>
          <p:nvPr/>
        </p:nvSpPr>
        <p:spPr>
          <a:xfrm>
            <a:off x="566928" y="4370832"/>
            <a:ext cx="5364328" cy="1737360"/>
          </a:xfrm>
          <a:prstGeom prst="rect">
            <a:avLst/>
          </a:prstGeom>
          <a:noFill/>
          <a:ln/>
        </p:spPr>
        <p:txBody>
          <a:bodyPr wrap="square" lIns="0" tIns="0" rIns="0" bIns="0" rtlCol="0" anchor="ctr"/>
          <a:lstStyle/>
          <a:p>
            <a:pPr indent="0" marL="0">
              <a:lnSpc>
                <a:spcPct val="114000"/>
              </a:lnSpc>
              <a:buNone/>
            </a:pPr>
            <a:r>
              <a:rPr lang="en-US" sz="950" dirty="0">
                <a:solidFill>
                  <a:srgbClr val="9AA7B4"/>
                </a:solidFill>
                <a:latin typeface="Courier New" pitchFamily="34" charset="0"/>
                <a:ea typeface="Courier New" pitchFamily="34" charset="-122"/>
                <a:cs typeface="Courier New" pitchFamily="34" charset="-120"/>
              </a:rPr>
              <a:t>GET    /api/health              liveness + bundled-sample availability</a:t>
            </a:r>
            <a:endParaRPr lang="en-US" sz="950" dirty="0"/>
          </a:p>
          <a:p>
            <a:pPr indent="0" marL="0">
              <a:lnSpc>
                <a:spcPct val="114000"/>
              </a:lnSpc>
              <a:buNone/>
            </a:pPr>
            <a:r>
              <a:rPr lang="en-US" sz="950" dirty="0">
                <a:solidFill>
                  <a:srgbClr val="9AA7B4"/>
                </a:solidFill>
                <a:latin typeface="Courier New" pitchFamily="34" charset="0"/>
                <a:ea typeface="Courier New" pitchFamily="34" charset="-122"/>
                <a:cs typeface="Courier New" pitchFamily="34" charset="-120"/>
              </a:rPr>
              <a:t>POST   /api/analyze             upload .log files, start a job</a:t>
            </a:r>
            <a:endParaRPr lang="en-US" sz="950" dirty="0"/>
          </a:p>
          <a:p>
            <a:pPr indent="0" marL="0">
              <a:lnSpc>
                <a:spcPct val="114000"/>
              </a:lnSpc>
              <a:buNone/>
            </a:pPr>
            <a:r>
              <a:rPr lang="en-US" sz="950" dirty="0">
                <a:solidFill>
                  <a:srgbClr val="9AA7B4"/>
                </a:solidFill>
                <a:latin typeface="Courier New" pitchFamily="34" charset="0"/>
                <a:ea typeface="Courier New" pitchFamily="34" charset="-122"/>
                <a:cs typeface="Courier New" pitchFamily="34" charset="-120"/>
              </a:rPr>
              <a:t>POST   /api/analyze-sample      analyse the bundled corpus</a:t>
            </a:r>
            <a:endParaRPr lang="en-US" sz="950" dirty="0"/>
          </a:p>
          <a:p>
            <a:pPr indent="0" marL="0">
              <a:lnSpc>
                <a:spcPct val="114000"/>
              </a:lnSpc>
              <a:buNone/>
            </a:pPr>
            <a:r>
              <a:rPr lang="en-US" sz="950" dirty="0">
                <a:solidFill>
                  <a:srgbClr val="9AA7B4"/>
                </a:solidFill>
                <a:latin typeface="Courier New" pitchFamily="34" charset="0"/>
                <a:ea typeface="Courier New" pitchFamily="34" charset="-122"/>
                <a:cs typeface="Courier New" pitchFamily="34" charset="-120"/>
              </a:rPr>
              <a:t>GET    /api/jobs/{id}           status + progress</a:t>
            </a:r>
            <a:endParaRPr lang="en-US" sz="950" dirty="0"/>
          </a:p>
          <a:p>
            <a:pPr indent="0" marL="0">
              <a:lnSpc>
                <a:spcPct val="114000"/>
              </a:lnSpc>
              <a:buNone/>
            </a:pPr>
            <a:r>
              <a:rPr lang="en-US" sz="950" dirty="0">
                <a:solidFill>
                  <a:srgbClr val="9AA7B4"/>
                </a:solidFill>
                <a:latin typeface="Courier New" pitchFamily="34" charset="0"/>
                <a:ea typeface="Courier New" pitchFamily="34" charset="-122"/>
                <a:cs typeface="Courier New" pitchFamily="34" charset="-120"/>
              </a:rPr>
              <a:t>GET    /api/jobs/{id}/result    full analysis payload</a:t>
            </a:r>
            <a:endParaRPr lang="en-US" sz="950" dirty="0"/>
          </a:p>
          <a:p>
            <a:pPr indent="0" marL="0">
              <a:lnSpc>
                <a:spcPct val="114000"/>
              </a:lnSpc>
              <a:buNone/>
            </a:pPr>
            <a:r>
              <a:rPr lang="en-US" sz="950" dirty="0">
                <a:solidFill>
                  <a:srgbClr val="9AA7B4"/>
                </a:solidFill>
                <a:latin typeface="Courier New" pitchFamily="34" charset="0"/>
                <a:ea typeface="Courier New" pitchFamily="34" charset="-122"/>
                <a:cs typeface="Courier New" pitchFamily="34" charset="-120"/>
              </a:rPr>
              <a:t>GET    /api/jobs/{id}/runs      paged run table</a:t>
            </a:r>
            <a:endParaRPr lang="en-US" sz="950" dirty="0"/>
          </a:p>
          <a:p>
            <a:pPr indent="0" marL="0">
              <a:lnSpc>
                <a:spcPct val="114000"/>
              </a:lnSpc>
              <a:buNone/>
            </a:pPr>
            <a:r>
              <a:rPr lang="en-US" sz="950" dirty="0">
                <a:solidFill>
                  <a:srgbClr val="9AA7B4"/>
                </a:solidFill>
                <a:latin typeface="Courier New" pitchFamily="34" charset="0"/>
                <a:ea typeface="Courier New" pitchFamily="34" charset="-122"/>
                <a:cs typeface="Courier New" pitchFamily="34" charset="-120"/>
              </a:rPr>
              <a:t>GET    /api/jobs/{id}/diff      field-by-field diff of two runs</a:t>
            </a:r>
            <a:endParaRPr lang="en-US" sz="950" dirty="0"/>
          </a:p>
          <a:p>
            <a:pPr indent="0" marL="0">
              <a:lnSpc>
                <a:spcPct val="114000"/>
              </a:lnSpc>
              <a:buNone/>
            </a:pPr>
            <a:r>
              <a:rPr lang="en-US" sz="950" dirty="0">
                <a:solidFill>
                  <a:srgbClr val="9AA7B4"/>
                </a:solidFill>
                <a:latin typeface="Courier New" pitchFamily="34" charset="0"/>
                <a:ea typeface="Courier New" pitchFamily="34" charset="-122"/>
                <a:cs typeface="Courier New" pitchFamily="34" charset="-120"/>
              </a:rPr>
              <a:t>GET    /api/jobs/{id}/export    download payload as JSON</a:t>
            </a:r>
            <a:endParaRPr lang="en-US" sz="950" dirty="0"/>
          </a:p>
        </p:txBody>
      </p:sp>
      <p:sp>
        <p:nvSpPr>
          <p:cNvPr id="20" name="Text 18"/>
          <p:cNvSpPr txBox="1"/>
          <p:nvPr/>
        </p:nvSpPr>
        <p:spPr>
          <a:xfrm>
            <a:off x="6260440" y="4059936"/>
            <a:ext cx="5364328" cy="2743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Measured performance</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260440" y="4370832"/>
          <a:ext cx="5364328" cy="914400"/>
        </p:xfrm>
        <a:graphic>
          <a:graphicData uri="http://schemas.openxmlformats.org/drawingml/2006/table">
            <a:tbl>
              <a:tblPr/>
              <a:tblGrid>
                <a:gridCol w="2253018"/>
                <a:gridCol w="1448368"/>
                <a:gridCol w="1662942"/>
              </a:tblGrid>
              <a:tr h="310896">
                <a:tc>
                  <a:txBody>
                    <a:bodyPr/>
                    <a:lstStyle/>
                    <a:p>
                      <a:pPr algn="l" indent="0" marL="0">
                        <a:buNone/>
                      </a:pPr>
                      <a:r>
                        <a:rPr lang="en-US" sz="1050" b="1" dirty="0">
                          <a:solidFill>
                            <a:srgbClr val="10151C"/>
                          </a:solidFill>
                          <a:latin typeface="Calibri" pitchFamily="34" charset="0"/>
                          <a:ea typeface="Calibri" pitchFamily="34" charset="-122"/>
                          <a:cs typeface="Calibri" pitchFamily="34" charset="-120"/>
                        </a:rPr>
                        <a:t>Corpus</a:t>
                      </a:r>
                      <a:endParaRPr lang="en-US" sz="1050" dirty="0">
                        <a:latin typeface="Calibri" charset="0"/>
                        <a:ea typeface="Calibri" charset="0"/>
                        <a:cs typeface="Calibri" charset="0"/>
                      </a:endParaRPr>
                    </a:p>
                  </a:txBody>
                  <a:tcPr marL="64008" marR="64008" marT="64008" marB="64008" anchor="ctr">
                    <a:lnL w="12700" cap="flat" cmpd="sng" algn="ctr">
                      <a:solidFill>
                        <a:srgbClr val="2E3B4A"/>
                      </a:solidFill>
                      <a:prstDash val="solid"/>
                      <a:round/>
                      <a:headEnd type="none" w="med" len="med"/>
                      <a:tailEnd type="none" w="med" len="med"/>
                    </a:lnL>
                    <a:lnR w="12700" cap="flat" cmpd="sng" algn="ctr">
                      <a:solidFill>
                        <a:srgbClr val="2E3B4A"/>
                      </a:solidFill>
                      <a:prstDash val="solid"/>
                      <a:round/>
                      <a:headEnd type="none" w="med" len="med"/>
                      <a:tailEnd type="none" w="med" len="med"/>
                    </a:lnR>
                    <a:lnT w="12700" cap="flat" cmpd="sng" algn="ctr">
                      <a:solidFill>
                        <a:srgbClr val="2E3B4A"/>
                      </a:solidFill>
                      <a:prstDash val="solid"/>
                      <a:round/>
                      <a:headEnd type="none" w="med" len="med"/>
                      <a:tailEnd type="none" w="med" len="med"/>
                    </a:lnT>
                    <a:lnB w="12700" cap="flat" cmpd="sng" algn="ctr">
                      <a:solidFill>
                        <a:srgbClr val="2E3B4A"/>
                      </a:solidFill>
                      <a:prstDash val="solid"/>
                      <a:round/>
                      <a:headEnd type="none" w="med" len="med"/>
                      <a:tailEnd type="none" w="med" len="med"/>
                    </a:lnB>
                    <a:solidFill>
                      <a:srgbClr val="F5A524"/>
                    </a:solidFill>
                  </a:tcPr>
                </a:tc>
                <a:tc>
                  <a:txBody>
                    <a:bodyPr/>
                    <a:lstStyle/>
                    <a:p>
                      <a:pPr algn="r" indent="0" marL="0">
                        <a:buNone/>
                      </a:pPr>
                      <a:r>
                        <a:rPr lang="en-US" sz="1050" b="1" dirty="0">
                          <a:solidFill>
                            <a:srgbClr val="10151C"/>
                          </a:solidFill>
                          <a:latin typeface="Calibri" pitchFamily="34" charset="0"/>
                          <a:ea typeface="Calibri" pitchFamily="34" charset="-122"/>
                          <a:cs typeface="Calibri" pitchFamily="34" charset="-120"/>
                        </a:rPr>
                        <a:t>Parse</a:t>
                      </a:r>
                      <a:endParaRPr lang="en-US" sz="1050" dirty="0">
                        <a:latin typeface="Calibri" charset="0"/>
                        <a:ea typeface="Calibri" charset="0"/>
                        <a:cs typeface="Calibri" charset="0"/>
                      </a:endParaRPr>
                    </a:p>
                  </a:txBody>
                  <a:tcPr marL="64008" marR="64008" marT="64008" marB="64008" anchor="ctr">
                    <a:lnL w="12700" cap="flat" cmpd="sng" algn="ctr">
                      <a:solidFill>
                        <a:srgbClr val="2E3B4A"/>
                      </a:solidFill>
                      <a:prstDash val="solid"/>
                      <a:round/>
                      <a:headEnd type="none" w="med" len="med"/>
                      <a:tailEnd type="none" w="med" len="med"/>
                    </a:lnL>
                    <a:lnR w="12700" cap="flat" cmpd="sng" algn="ctr">
                      <a:solidFill>
                        <a:srgbClr val="2E3B4A"/>
                      </a:solidFill>
                      <a:prstDash val="solid"/>
                      <a:round/>
                      <a:headEnd type="none" w="med" len="med"/>
                      <a:tailEnd type="none" w="med" len="med"/>
                    </a:lnR>
                    <a:lnT w="12700" cap="flat" cmpd="sng" algn="ctr">
                      <a:solidFill>
                        <a:srgbClr val="2E3B4A"/>
                      </a:solidFill>
                      <a:prstDash val="solid"/>
                      <a:round/>
                      <a:headEnd type="none" w="med" len="med"/>
                      <a:tailEnd type="none" w="med" len="med"/>
                    </a:lnT>
                    <a:lnB w="12700" cap="flat" cmpd="sng" algn="ctr">
                      <a:solidFill>
                        <a:srgbClr val="2E3B4A"/>
                      </a:solidFill>
                      <a:prstDash val="solid"/>
                      <a:round/>
                      <a:headEnd type="none" w="med" len="med"/>
                      <a:tailEnd type="none" w="med" len="med"/>
                    </a:lnB>
                    <a:solidFill>
                      <a:srgbClr val="F5A524"/>
                    </a:solidFill>
                  </a:tcPr>
                </a:tc>
                <a:tc>
                  <a:txBody>
                    <a:bodyPr/>
                    <a:lstStyle/>
                    <a:p>
                      <a:pPr algn="r" indent="0" marL="0">
                        <a:buNone/>
                      </a:pPr>
                      <a:r>
                        <a:rPr lang="en-US" sz="1050" b="1" dirty="0">
                          <a:solidFill>
                            <a:srgbClr val="10151C"/>
                          </a:solidFill>
                          <a:latin typeface="Calibri" pitchFamily="34" charset="0"/>
                          <a:ea typeface="Calibri" pitchFamily="34" charset="-122"/>
                          <a:cs typeface="Calibri" pitchFamily="34" charset="-120"/>
                        </a:rPr>
                        <a:t>Full analysis</a:t>
                      </a:r>
                      <a:endParaRPr lang="en-US" sz="1050" dirty="0">
                        <a:latin typeface="Calibri" charset="0"/>
                        <a:ea typeface="Calibri" charset="0"/>
                        <a:cs typeface="Calibri" charset="0"/>
                      </a:endParaRPr>
                    </a:p>
                  </a:txBody>
                  <a:tcPr marL="64008" marR="64008" marT="64008" marB="64008" anchor="ctr">
                    <a:lnL w="12700" cap="flat" cmpd="sng" algn="ctr">
                      <a:solidFill>
                        <a:srgbClr val="2E3B4A"/>
                      </a:solidFill>
                      <a:prstDash val="solid"/>
                      <a:round/>
                      <a:headEnd type="none" w="med" len="med"/>
                      <a:tailEnd type="none" w="med" len="med"/>
                    </a:lnL>
                    <a:lnR w="12700" cap="flat" cmpd="sng" algn="ctr">
                      <a:solidFill>
                        <a:srgbClr val="2E3B4A"/>
                      </a:solidFill>
                      <a:prstDash val="solid"/>
                      <a:round/>
                      <a:headEnd type="none" w="med" len="med"/>
                      <a:tailEnd type="none" w="med" len="med"/>
                    </a:lnR>
                    <a:lnT w="12700" cap="flat" cmpd="sng" algn="ctr">
                      <a:solidFill>
                        <a:srgbClr val="2E3B4A"/>
                      </a:solidFill>
                      <a:prstDash val="solid"/>
                      <a:round/>
                      <a:headEnd type="none" w="med" len="med"/>
                      <a:tailEnd type="none" w="med" len="med"/>
                    </a:lnT>
                    <a:lnB w="12700" cap="flat" cmpd="sng" algn="ctr">
                      <a:solidFill>
                        <a:srgbClr val="2E3B4A"/>
                      </a:solidFill>
                      <a:prstDash val="solid"/>
                      <a:round/>
                      <a:headEnd type="none" w="med" len="med"/>
                      <a:tailEnd type="none" w="med" len="med"/>
                    </a:lnB>
                    <a:solidFill>
                      <a:srgbClr val="F5A524"/>
                    </a:solidFill>
                  </a:tcPr>
                </a:tc>
              </a:tr>
              <a:tr h="310896">
                <a:tc>
                  <a:txBody>
                    <a:bodyPr/>
                    <a:lstStyle/>
                    <a:p>
                      <a:pPr algn="l" indent="0" marL="0">
                        <a:buNone/>
                      </a:pPr>
                      <a:r>
                        <a:rPr lang="en-US" sz="1050" dirty="0">
                          <a:solidFill>
                            <a:srgbClr val="C8D2DC"/>
                          </a:solidFill>
                          <a:latin typeface="Calibri" pitchFamily="34" charset="0"/>
                          <a:ea typeface="Calibri" pitchFamily="34" charset="-122"/>
                          <a:cs typeface="Calibri" pitchFamily="34" charset="-120"/>
                        </a:rPr>
                        <a:t>5,000 runs</a:t>
                      </a:r>
                      <a:endParaRPr lang="en-US" sz="1050" dirty="0">
                        <a:latin typeface="Calibri" charset="0"/>
                        <a:ea typeface="Calibri" charset="0"/>
                        <a:cs typeface="Calibri" charset="0"/>
                      </a:endParaRPr>
                    </a:p>
                  </a:txBody>
                  <a:tcPr marL="64008" marR="64008" marT="64008" marB="64008" anchor="ctr">
                    <a:lnL w="12700" cap="flat" cmpd="sng" algn="ctr">
                      <a:solidFill>
                        <a:srgbClr val="2E3B4A"/>
                      </a:solidFill>
                      <a:prstDash val="solid"/>
                      <a:round/>
                      <a:headEnd type="none" w="med" len="med"/>
                      <a:tailEnd type="none" w="med" len="med"/>
                    </a:lnL>
                    <a:lnR w="12700" cap="flat" cmpd="sng" algn="ctr">
                      <a:solidFill>
                        <a:srgbClr val="2E3B4A"/>
                      </a:solidFill>
                      <a:prstDash val="solid"/>
                      <a:round/>
                      <a:headEnd type="none" w="med" len="med"/>
                      <a:tailEnd type="none" w="med" len="med"/>
                    </a:lnR>
                    <a:lnT w="12700" cap="flat" cmpd="sng" algn="ctr">
                      <a:solidFill>
                        <a:srgbClr val="2E3B4A"/>
                      </a:solidFill>
                      <a:prstDash val="solid"/>
                      <a:round/>
                      <a:headEnd type="none" w="med" len="med"/>
                      <a:tailEnd type="none" w="med" len="med"/>
                    </a:lnT>
                    <a:lnB w="12700" cap="flat" cmpd="sng" algn="ctr">
                      <a:solidFill>
                        <a:srgbClr val="2E3B4A"/>
                      </a:solidFill>
                      <a:prstDash val="solid"/>
                      <a:round/>
                      <a:headEnd type="none" w="med" len="med"/>
                      <a:tailEnd type="none" w="med" len="med"/>
                    </a:lnB>
                    <a:solidFill>
                      <a:srgbClr val="1B2530"/>
                    </a:solidFill>
                  </a:tcPr>
                </a:tc>
                <a:tc>
                  <a:txBody>
                    <a:bodyPr/>
                    <a:lstStyle/>
                    <a:p>
                      <a:pPr algn="r" indent="0" marL="0">
                        <a:buNone/>
                      </a:pPr>
                      <a:r>
                        <a:rPr lang="en-US" sz="1050" dirty="0">
                          <a:solidFill>
                            <a:srgbClr val="C8D2DC"/>
                          </a:solidFill>
                          <a:latin typeface="Calibri" pitchFamily="34" charset="0"/>
                          <a:ea typeface="Calibri" pitchFamily="34" charset="-122"/>
                          <a:cs typeface="Calibri" pitchFamily="34" charset="-120"/>
                        </a:rPr>
                        <a:t>~0.6 s</a:t>
                      </a:r>
                      <a:endParaRPr lang="en-US" sz="1050" dirty="0">
                        <a:latin typeface="Calibri" charset="0"/>
                        <a:ea typeface="Calibri" charset="0"/>
                        <a:cs typeface="Calibri" charset="0"/>
                      </a:endParaRPr>
                    </a:p>
                  </a:txBody>
                  <a:tcPr marL="64008" marR="64008" marT="64008" marB="64008" anchor="ctr">
                    <a:lnL w="12700" cap="flat" cmpd="sng" algn="ctr">
                      <a:solidFill>
                        <a:srgbClr val="2E3B4A"/>
                      </a:solidFill>
                      <a:prstDash val="solid"/>
                      <a:round/>
                      <a:headEnd type="none" w="med" len="med"/>
                      <a:tailEnd type="none" w="med" len="med"/>
                    </a:lnL>
                    <a:lnR w="12700" cap="flat" cmpd="sng" algn="ctr">
                      <a:solidFill>
                        <a:srgbClr val="2E3B4A"/>
                      </a:solidFill>
                      <a:prstDash val="solid"/>
                      <a:round/>
                      <a:headEnd type="none" w="med" len="med"/>
                      <a:tailEnd type="none" w="med" len="med"/>
                    </a:lnR>
                    <a:lnT w="12700" cap="flat" cmpd="sng" algn="ctr">
                      <a:solidFill>
                        <a:srgbClr val="2E3B4A"/>
                      </a:solidFill>
                      <a:prstDash val="solid"/>
                      <a:round/>
                      <a:headEnd type="none" w="med" len="med"/>
                      <a:tailEnd type="none" w="med" len="med"/>
                    </a:lnT>
                    <a:lnB w="12700" cap="flat" cmpd="sng" algn="ctr">
                      <a:solidFill>
                        <a:srgbClr val="2E3B4A"/>
                      </a:solidFill>
                      <a:prstDash val="solid"/>
                      <a:round/>
                      <a:headEnd type="none" w="med" len="med"/>
                      <a:tailEnd type="none" w="med" len="med"/>
                    </a:lnB>
                    <a:solidFill>
                      <a:srgbClr val="1B2530"/>
                    </a:solidFill>
                  </a:tcPr>
                </a:tc>
                <a:tc>
                  <a:txBody>
                    <a:bodyPr/>
                    <a:lstStyle/>
                    <a:p>
                      <a:pPr algn="r" indent="0" marL="0">
                        <a:buNone/>
                      </a:pPr>
                      <a:r>
                        <a:rPr lang="en-US" sz="1050" dirty="0">
                          <a:solidFill>
                            <a:srgbClr val="C8D2DC"/>
                          </a:solidFill>
                          <a:latin typeface="Calibri" pitchFamily="34" charset="0"/>
                          <a:ea typeface="Calibri" pitchFamily="34" charset="-122"/>
                          <a:cs typeface="Calibri" pitchFamily="34" charset="-120"/>
                        </a:rPr>
                        <a:t>9.6 s</a:t>
                      </a:r>
                      <a:endParaRPr lang="en-US" sz="1050" dirty="0">
                        <a:latin typeface="Calibri" charset="0"/>
                        <a:ea typeface="Calibri" charset="0"/>
                        <a:cs typeface="Calibri" charset="0"/>
                      </a:endParaRPr>
                    </a:p>
                  </a:txBody>
                  <a:tcPr marL="64008" marR="64008" marT="64008" marB="64008" anchor="ctr">
                    <a:lnL w="12700" cap="flat" cmpd="sng" algn="ctr">
                      <a:solidFill>
                        <a:srgbClr val="2E3B4A"/>
                      </a:solidFill>
                      <a:prstDash val="solid"/>
                      <a:round/>
                      <a:headEnd type="none" w="med" len="med"/>
                      <a:tailEnd type="none" w="med" len="med"/>
                    </a:lnL>
                    <a:lnR w="12700" cap="flat" cmpd="sng" algn="ctr">
                      <a:solidFill>
                        <a:srgbClr val="2E3B4A"/>
                      </a:solidFill>
                      <a:prstDash val="solid"/>
                      <a:round/>
                      <a:headEnd type="none" w="med" len="med"/>
                      <a:tailEnd type="none" w="med" len="med"/>
                    </a:lnR>
                    <a:lnT w="12700" cap="flat" cmpd="sng" algn="ctr">
                      <a:solidFill>
                        <a:srgbClr val="2E3B4A"/>
                      </a:solidFill>
                      <a:prstDash val="solid"/>
                      <a:round/>
                      <a:headEnd type="none" w="med" len="med"/>
                      <a:tailEnd type="none" w="med" len="med"/>
                    </a:lnT>
                    <a:lnB w="12700" cap="flat" cmpd="sng" algn="ctr">
                      <a:solidFill>
                        <a:srgbClr val="2E3B4A"/>
                      </a:solidFill>
                      <a:prstDash val="solid"/>
                      <a:round/>
                      <a:headEnd type="none" w="med" len="med"/>
                      <a:tailEnd type="none" w="med" len="med"/>
                    </a:lnB>
                    <a:solidFill>
                      <a:srgbClr val="1B2530"/>
                    </a:solidFill>
                  </a:tcPr>
                </a:tc>
              </a:tr>
              <a:tr h="310896">
                <a:tc>
                  <a:txBody>
                    <a:bodyPr/>
                    <a:lstStyle/>
                    <a:p>
                      <a:pPr algn="l" indent="0" marL="0">
                        <a:buNone/>
                      </a:pPr>
                      <a:r>
                        <a:rPr lang="en-US" sz="1050" dirty="0">
                          <a:solidFill>
                            <a:srgbClr val="C8D2DC"/>
                          </a:solidFill>
                          <a:latin typeface="Calibri" pitchFamily="34" charset="0"/>
                          <a:ea typeface="Calibri" pitchFamily="34" charset="-122"/>
                          <a:cs typeface="Calibri" pitchFamily="34" charset="-120"/>
                        </a:rPr>
                        <a:t>10,000 runs</a:t>
                      </a:r>
                      <a:endParaRPr lang="en-US" sz="1050" dirty="0">
                        <a:latin typeface="Calibri" charset="0"/>
                        <a:ea typeface="Calibri" charset="0"/>
                        <a:cs typeface="Calibri" charset="0"/>
                      </a:endParaRPr>
                    </a:p>
                  </a:txBody>
                  <a:tcPr marL="64008" marR="64008" marT="64008" marB="64008" anchor="ctr">
                    <a:lnL w="12700" cap="flat" cmpd="sng" algn="ctr">
                      <a:solidFill>
                        <a:srgbClr val="2E3B4A"/>
                      </a:solidFill>
                      <a:prstDash val="solid"/>
                      <a:round/>
                      <a:headEnd type="none" w="med" len="med"/>
                      <a:tailEnd type="none" w="med" len="med"/>
                    </a:lnL>
                    <a:lnR w="12700" cap="flat" cmpd="sng" algn="ctr">
                      <a:solidFill>
                        <a:srgbClr val="2E3B4A"/>
                      </a:solidFill>
                      <a:prstDash val="solid"/>
                      <a:round/>
                      <a:headEnd type="none" w="med" len="med"/>
                      <a:tailEnd type="none" w="med" len="med"/>
                    </a:lnR>
                    <a:lnT w="12700" cap="flat" cmpd="sng" algn="ctr">
                      <a:solidFill>
                        <a:srgbClr val="2E3B4A"/>
                      </a:solidFill>
                      <a:prstDash val="solid"/>
                      <a:round/>
                      <a:headEnd type="none" w="med" len="med"/>
                      <a:tailEnd type="none" w="med" len="med"/>
                    </a:lnT>
                    <a:lnB w="12700" cap="flat" cmpd="sng" algn="ctr">
                      <a:solidFill>
                        <a:srgbClr val="2E3B4A"/>
                      </a:solidFill>
                      <a:prstDash val="solid"/>
                      <a:round/>
                      <a:headEnd type="none" w="med" len="med"/>
                      <a:tailEnd type="none" w="med" len="med"/>
                    </a:lnB>
                    <a:solidFill>
                      <a:srgbClr val="1B2530"/>
                    </a:solidFill>
                  </a:tcPr>
                </a:tc>
                <a:tc>
                  <a:txBody>
                    <a:bodyPr/>
                    <a:lstStyle/>
                    <a:p>
                      <a:pPr algn="r" indent="0" marL="0">
                        <a:buNone/>
                      </a:pPr>
                      <a:r>
                        <a:rPr lang="en-US" sz="1050" dirty="0">
                          <a:solidFill>
                            <a:srgbClr val="C8D2DC"/>
                          </a:solidFill>
                          <a:latin typeface="Calibri" pitchFamily="34" charset="0"/>
                          <a:ea typeface="Calibri" pitchFamily="34" charset="-122"/>
                          <a:cs typeface="Calibri" pitchFamily="34" charset="-120"/>
                        </a:rPr>
                        <a:t>~1.2 s</a:t>
                      </a:r>
                      <a:endParaRPr lang="en-US" sz="1050" dirty="0">
                        <a:latin typeface="Calibri" charset="0"/>
                        <a:ea typeface="Calibri" charset="0"/>
                        <a:cs typeface="Calibri" charset="0"/>
                      </a:endParaRPr>
                    </a:p>
                  </a:txBody>
                  <a:tcPr marL="64008" marR="64008" marT="64008" marB="64008" anchor="ctr">
                    <a:lnL w="12700" cap="flat" cmpd="sng" algn="ctr">
                      <a:solidFill>
                        <a:srgbClr val="2E3B4A"/>
                      </a:solidFill>
                      <a:prstDash val="solid"/>
                      <a:round/>
                      <a:headEnd type="none" w="med" len="med"/>
                      <a:tailEnd type="none" w="med" len="med"/>
                    </a:lnL>
                    <a:lnR w="12700" cap="flat" cmpd="sng" algn="ctr">
                      <a:solidFill>
                        <a:srgbClr val="2E3B4A"/>
                      </a:solidFill>
                      <a:prstDash val="solid"/>
                      <a:round/>
                      <a:headEnd type="none" w="med" len="med"/>
                      <a:tailEnd type="none" w="med" len="med"/>
                    </a:lnR>
                    <a:lnT w="12700" cap="flat" cmpd="sng" algn="ctr">
                      <a:solidFill>
                        <a:srgbClr val="2E3B4A"/>
                      </a:solidFill>
                      <a:prstDash val="solid"/>
                      <a:round/>
                      <a:headEnd type="none" w="med" len="med"/>
                      <a:tailEnd type="none" w="med" len="med"/>
                    </a:lnT>
                    <a:lnB w="12700" cap="flat" cmpd="sng" algn="ctr">
                      <a:solidFill>
                        <a:srgbClr val="2E3B4A"/>
                      </a:solidFill>
                      <a:prstDash val="solid"/>
                      <a:round/>
                      <a:headEnd type="none" w="med" len="med"/>
                      <a:tailEnd type="none" w="med" len="med"/>
                    </a:lnB>
                    <a:solidFill>
                      <a:srgbClr val="1B2530"/>
                    </a:solidFill>
                  </a:tcPr>
                </a:tc>
                <a:tc>
                  <a:txBody>
                    <a:bodyPr/>
                    <a:lstStyle/>
                    <a:p>
                      <a:pPr algn="r" indent="0" marL="0">
                        <a:buNone/>
                      </a:pPr>
                      <a:r>
                        <a:rPr lang="en-US" sz="1050" dirty="0">
                          <a:solidFill>
                            <a:srgbClr val="C8D2DC"/>
                          </a:solidFill>
                          <a:latin typeface="Calibri" pitchFamily="34" charset="0"/>
                          <a:ea typeface="Calibri" pitchFamily="34" charset="-122"/>
                          <a:cs typeface="Calibri" pitchFamily="34" charset="-120"/>
                        </a:rPr>
                        <a:t>27 s</a:t>
                      </a:r>
                      <a:endParaRPr lang="en-US" sz="1050" dirty="0">
                        <a:latin typeface="Calibri" charset="0"/>
                        <a:ea typeface="Calibri" charset="0"/>
                        <a:cs typeface="Calibri" charset="0"/>
                      </a:endParaRPr>
                    </a:p>
                  </a:txBody>
                  <a:tcPr marL="64008" marR="64008" marT="64008" marB="64008" anchor="ctr">
                    <a:lnL w="12700" cap="flat" cmpd="sng" algn="ctr">
                      <a:solidFill>
                        <a:srgbClr val="2E3B4A"/>
                      </a:solidFill>
                      <a:prstDash val="solid"/>
                      <a:round/>
                      <a:headEnd type="none" w="med" len="med"/>
                      <a:tailEnd type="none" w="med" len="med"/>
                    </a:lnL>
                    <a:lnR w="12700" cap="flat" cmpd="sng" algn="ctr">
                      <a:solidFill>
                        <a:srgbClr val="2E3B4A"/>
                      </a:solidFill>
                      <a:prstDash val="solid"/>
                      <a:round/>
                      <a:headEnd type="none" w="med" len="med"/>
                      <a:tailEnd type="none" w="med" len="med"/>
                    </a:lnR>
                    <a:lnT w="12700" cap="flat" cmpd="sng" algn="ctr">
                      <a:solidFill>
                        <a:srgbClr val="2E3B4A"/>
                      </a:solidFill>
                      <a:prstDash val="solid"/>
                      <a:round/>
                      <a:headEnd type="none" w="med" len="med"/>
                      <a:tailEnd type="none" w="med" len="med"/>
                    </a:lnT>
                    <a:lnB w="12700" cap="flat" cmpd="sng" algn="ctr">
                      <a:solidFill>
                        <a:srgbClr val="2E3B4A"/>
                      </a:solidFill>
                      <a:prstDash val="solid"/>
                      <a:round/>
                      <a:headEnd type="none" w="med" len="med"/>
                      <a:tailEnd type="none" w="med" len="med"/>
                    </a:lnB>
                    <a:solidFill>
                      <a:srgbClr val="1B2530"/>
                    </a:solidFill>
                  </a:tcPr>
                </a:tc>
              </a:tr>
              <a:tr h="310896">
                <a:tc>
                  <a:txBody>
                    <a:bodyPr/>
                    <a:lstStyle/>
                    <a:p>
                      <a:pPr algn="l" indent="0" marL="0">
                        <a:buNone/>
                      </a:pPr>
                      <a:r>
                        <a:rPr lang="en-US" sz="1050" dirty="0">
                          <a:solidFill>
                            <a:srgbClr val="C8D2DC"/>
                          </a:solidFill>
                          <a:latin typeface="Calibri" pitchFamily="34" charset="0"/>
                          <a:ea typeface="Calibri" pitchFamily="34" charset="-122"/>
                          <a:cs typeface="Calibri" pitchFamily="34" charset="-120"/>
                        </a:rPr>
                        <a:t>50,000 runs</a:t>
                      </a:r>
                      <a:endParaRPr lang="en-US" sz="1050" dirty="0">
                        <a:latin typeface="Calibri" charset="0"/>
                        <a:ea typeface="Calibri" charset="0"/>
                        <a:cs typeface="Calibri" charset="0"/>
                      </a:endParaRPr>
                    </a:p>
                  </a:txBody>
                  <a:tcPr marL="64008" marR="64008" marT="64008" marB="64008" anchor="ctr">
                    <a:lnL w="12700" cap="flat" cmpd="sng" algn="ctr">
                      <a:solidFill>
                        <a:srgbClr val="2E3B4A"/>
                      </a:solidFill>
                      <a:prstDash val="solid"/>
                      <a:round/>
                      <a:headEnd type="none" w="med" len="med"/>
                      <a:tailEnd type="none" w="med" len="med"/>
                    </a:lnL>
                    <a:lnR w="12700" cap="flat" cmpd="sng" algn="ctr">
                      <a:solidFill>
                        <a:srgbClr val="2E3B4A"/>
                      </a:solidFill>
                      <a:prstDash val="solid"/>
                      <a:round/>
                      <a:headEnd type="none" w="med" len="med"/>
                      <a:tailEnd type="none" w="med" len="med"/>
                    </a:lnR>
                    <a:lnT w="12700" cap="flat" cmpd="sng" algn="ctr">
                      <a:solidFill>
                        <a:srgbClr val="2E3B4A"/>
                      </a:solidFill>
                      <a:prstDash val="solid"/>
                      <a:round/>
                      <a:headEnd type="none" w="med" len="med"/>
                      <a:tailEnd type="none" w="med" len="med"/>
                    </a:lnT>
                    <a:lnB w="12700" cap="flat" cmpd="sng" algn="ctr">
                      <a:solidFill>
                        <a:srgbClr val="2E3B4A"/>
                      </a:solidFill>
                      <a:prstDash val="solid"/>
                      <a:round/>
                      <a:headEnd type="none" w="med" len="med"/>
                      <a:tailEnd type="none" w="med" len="med"/>
                    </a:lnB>
                    <a:solidFill>
                      <a:srgbClr val="1B2530"/>
                    </a:solidFill>
                  </a:tcPr>
                </a:tc>
                <a:tc>
                  <a:txBody>
                    <a:bodyPr/>
                    <a:lstStyle/>
                    <a:p>
                      <a:pPr algn="r" indent="0" marL="0">
                        <a:buNone/>
                      </a:pPr>
                      <a:r>
                        <a:rPr lang="en-US" sz="1050" dirty="0">
                          <a:solidFill>
                            <a:srgbClr val="C8D2DC"/>
                          </a:solidFill>
                          <a:latin typeface="Calibri" pitchFamily="34" charset="0"/>
                          <a:ea typeface="Calibri" pitchFamily="34" charset="-122"/>
                          <a:cs typeface="Calibri" pitchFamily="34" charset="-120"/>
                        </a:rPr>
                        <a:t>2.0 s</a:t>
                      </a:r>
                      <a:endParaRPr lang="en-US" sz="1050" dirty="0">
                        <a:latin typeface="Calibri" charset="0"/>
                        <a:ea typeface="Calibri" charset="0"/>
                        <a:cs typeface="Calibri" charset="0"/>
                      </a:endParaRPr>
                    </a:p>
                  </a:txBody>
                  <a:tcPr marL="64008" marR="64008" marT="64008" marB="64008" anchor="ctr">
                    <a:lnL w="12700" cap="flat" cmpd="sng" algn="ctr">
                      <a:solidFill>
                        <a:srgbClr val="2E3B4A"/>
                      </a:solidFill>
                      <a:prstDash val="solid"/>
                      <a:round/>
                      <a:headEnd type="none" w="med" len="med"/>
                      <a:tailEnd type="none" w="med" len="med"/>
                    </a:lnL>
                    <a:lnR w="12700" cap="flat" cmpd="sng" algn="ctr">
                      <a:solidFill>
                        <a:srgbClr val="2E3B4A"/>
                      </a:solidFill>
                      <a:prstDash val="solid"/>
                      <a:round/>
                      <a:headEnd type="none" w="med" len="med"/>
                      <a:tailEnd type="none" w="med" len="med"/>
                    </a:lnR>
                    <a:lnT w="12700" cap="flat" cmpd="sng" algn="ctr">
                      <a:solidFill>
                        <a:srgbClr val="2E3B4A"/>
                      </a:solidFill>
                      <a:prstDash val="solid"/>
                      <a:round/>
                      <a:headEnd type="none" w="med" len="med"/>
                      <a:tailEnd type="none" w="med" len="med"/>
                    </a:lnT>
                    <a:lnB w="12700" cap="flat" cmpd="sng" algn="ctr">
                      <a:solidFill>
                        <a:srgbClr val="2E3B4A"/>
                      </a:solidFill>
                      <a:prstDash val="solid"/>
                      <a:round/>
                      <a:headEnd type="none" w="med" len="med"/>
                      <a:tailEnd type="none" w="med" len="med"/>
                    </a:lnB>
                    <a:solidFill>
                      <a:srgbClr val="1B2530"/>
                    </a:solidFill>
                  </a:tcPr>
                </a:tc>
                <a:tc>
                  <a:txBody>
                    <a:bodyPr/>
                    <a:lstStyle/>
                    <a:p>
                      <a:pPr algn="r" indent="0" marL="0">
                        <a:buNone/>
                      </a:pPr>
                      <a:r>
                        <a:rPr lang="en-US" sz="1050" dirty="0">
                          <a:solidFill>
                            <a:srgbClr val="C8D2D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4008" marR="64008" marT="64008" marB="64008" anchor="ctr">
                    <a:lnL w="12700" cap="flat" cmpd="sng" algn="ctr">
                      <a:solidFill>
                        <a:srgbClr val="2E3B4A"/>
                      </a:solidFill>
                      <a:prstDash val="solid"/>
                      <a:round/>
                      <a:headEnd type="none" w="med" len="med"/>
                      <a:tailEnd type="none" w="med" len="med"/>
                    </a:lnL>
                    <a:lnR w="12700" cap="flat" cmpd="sng" algn="ctr">
                      <a:solidFill>
                        <a:srgbClr val="2E3B4A"/>
                      </a:solidFill>
                      <a:prstDash val="solid"/>
                      <a:round/>
                      <a:headEnd type="none" w="med" len="med"/>
                      <a:tailEnd type="none" w="med" len="med"/>
                    </a:lnR>
                    <a:lnT w="12700" cap="flat" cmpd="sng" algn="ctr">
                      <a:solidFill>
                        <a:srgbClr val="2E3B4A"/>
                      </a:solidFill>
                      <a:prstDash val="solid"/>
                      <a:round/>
                      <a:headEnd type="none" w="med" len="med"/>
                      <a:tailEnd type="none" w="med" len="med"/>
                    </a:lnT>
                    <a:lnB w="12700" cap="flat" cmpd="sng" algn="ctr">
                      <a:solidFill>
                        <a:srgbClr val="2E3B4A"/>
                      </a:solidFill>
                      <a:prstDash val="solid"/>
                      <a:round/>
                      <a:headEnd type="none" w="med" len="med"/>
                      <a:tailEnd type="none" w="med" len="med"/>
                    </a:lnB>
                    <a:solidFill>
                      <a:srgbClr val="1B2530"/>
                    </a:solidFill>
                  </a:tcPr>
                </a:tc>
              </a:tr>
            </a:tbl>
          </a:graphicData>
        </a:graphic>
      </p:graphicFrame>
      <p:sp>
        <p:nvSpPr>
          <p:cNvPr id="22" name="Text 19"/>
          <p:cNvSpPr txBox="1"/>
          <p:nvPr/>
        </p:nvSpPr>
        <p:spPr>
          <a:xfrm>
            <a:off x="6260440" y="5669280"/>
            <a:ext cx="5364328" cy="475488"/>
          </a:xfrm>
          <a:prstGeom prst="rect">
            <a:avLst/>
          </a:prstGeom>
          <a:noFill/>
          <a:ln/>
        </p:spPr>
        <p:txBody>
          <a:bodyPr wrap="square" lIns="0" tIns="0" rIns="0" bIns="0" rtlCol="0" anchor="ctr"/>
          <a:lstStyle/>
          <a:p>
            <a:pPr indent="0" marL="0">
              <a:lnSpc>
                <a:spcPct val="108000"/>
              </a:lnSpc>
              <a:buNone/>
            </a:pPr>
            <a:r>
              <a:rPr lang="en-US" sz="1050" dirty="0">
                <a:solidFill>
                  <a:srgbClr val="7E8C99"/>
                </a:solidFill>
                <a:latin typeface="Calibri" pitchFamily="34" charset="0"/>
                <a:ea typeface="Calibri" pitchFamily="34" charset="-122"/>
                <a:cs typeface="Calibri" pitchFamily="34" charset="-120"/>
              </a:rPr>
              <a:t>Python 3.11, 8 cores.  1,015,872 lines parsed with zero malformed blocks and zero unparsed lines.  Job-level tunables: max_risk, n_trials, dbscan_eps, enable_recommender.</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050" b="1" spc="220" kern="0" dirty="0">
                <a:solidFill>
                  <a:srgbClr val="A86B12"/>
                </a:solidFill>
                <a:latin typeface="Calibri" pitchFamily="34" charset="0"/>
                <a:ea typeface="Calibri" pitchFamily="34" charset="-122"/>
                <a:cs typeface="Calibri" pitchFamily="34" charset="-120"/>
              </a:rPr>
              <a:t>ROADMAP</a:t>
            </a:r>
            <a:endParaRPr lang="en-US" sz="1050" dirty="0"/>
          </a:p>
        </p:txBody>
      </p:sp>
      <p:sp>
        <p:nvSpPr>
          <p:cNvPr id="3"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300" b="1" dirty="0">
                <a:solidFill>
                  <a:srgbClr val="10151C"/>
                </a:solidFill>
                <a:latin typeface="Cambria" pitchFamily="34" charset="0"/>
                <a:ea typeface="Cambria" pitchFamily="34" charset="-122"/>
                <a:cs typeface="Cambria" pitchFamily="34" charset="-120"/>
              </a:rPr>
              <a:t>Future scope</a:t>
            </a:r>
            <a:endParaRPr lang="en-US" sz="3300" dirty="0"/>
          </a:p>
        </p:txBody>
      </p:sp>
      <p:sp>
        <p:nvSpPr>
          <p:cNvPr id="4" name="Text 2"/>
          <p:cNvSpPr txBox="1"/>
          <p:nvPr/>
        </p:nvSpPr>
        <p:spPr>
          <a:xfrm>
            <a:off x="566928" y="1188720"/>
            <a:ext cx="10874959" cy="310896"/>
          </a:xfrm>
          <a:prstGeom prst="rect">
            <a:avLst/>
          </a:prstGeom>
          <a:noFill/>
          <a:ln/>
        </p:spPr>
        <p:txBody>
          <a:bodyPr wrap="square" lIns="0" tIns="0" rIns="0" bIns="0" rtlCol="0" anchor="ctr"/>
          <a:lstStyle/>
          <a:p>
            <a:pPr indent="0" marL="0">
              <a:buNone/>
            </a:pPr>
            <a:r>
              <a:rPr lang="en-US" sz="1300" dirty="0">
                <a:solidFill>
                  <a:srgbClr val="76838F"/>
                </a:solidFill>
                <a:latin typeface="Calibri" pitchFamily="34" charset="0"/>
                <a:ea typeface="Calibri" pitchFamily="34" charset="-122"/>
                <a:cs typeface="Calibri" pitchFamily="34" charset="-120"/>
              </a:rPr>
              <a:t>Ordered by the value each item adds against the effort it needs.</a:t>
            </a:r>
            <a:endParaRPr lang="en-US" sz="1300" dirty="0"/>
          </a:p>
        </p:txBody>
      </p:sp>
      <p:sp>
        <p:nvSpPr>
          <p:cNvPr id="5" name="Text 3"/>
          <p:cNvSpPr txBox="1"/>
          <p:nvPr/>
        </p:nvSpPr>
        <p:spPr>
          <a:xfrm>
            <a:off x="566928" y="6327648"/>
            <a:ext cx="5486400" cy="274320"/>
          </a:xfrm>
          <a:prstGeom prst="rect">
            <a:avLst/>
          </a:prstGeom>
          <a:noFill/>
          <a:ln/>
        </p:spPr>
        <p:txBody>
          <a:bodyPr wrap="square" lIns="0" tIns="0" rIns="0" bIns="0" rtlCol="0" anchor="ctr"/>
          <a:lstStyle/>
          <a:p>
            <a:pPr algn="l" indent="0" marL="0">
              <a:buNone/>
            </a:pPr>
            <a:r>
              <a:rPr lang="en-US" sz="900" dirty="0">
                <a:solidFill>
                  <a:srgbClr val="76838F"/>
                </a:solidFill>
                <a:latin typeface="Calibri" pitchFamily="34" charset="0"/>
                <a:ea typeface="Calibri" pitchFamily="34" charset="-122"/>
                <a:cs typeface="Calibri" pitchFamily="34" charset="-120"/>
              </a:rPr>
              <a:t>UVM Configuration Intelligence  ·  Team Asterix</a:t>
            </a:r>
            <a:endParaRPr lang="en-US" sz="900" dirty="0"/>
          </a:p>
        </p:txBody>
      </p:sp>
      <p:sp>
        <p:nvSpPr>
          <p:cNvPr id="6" name="Text 4"/>
          <p:cNvSpPr txBox="1"/>
          <p:nvPr/>
        </p:nvSpPr>
        <p:spPr>
          <a:xfrm>
            <a:off x="10527487" y="6327648"/>
            <a:ext cx="1097280" cy="274320"/>
          </a:xfrm>
          <a:prstGeom prst="rect">
            <a:avLst/>
          </a:prstGeom>
          <a:noFill/>
          <a:ln/>
        </p:spPr>
        <p:txBody>
          <a:bodyPr wrap="square" lIns="0" tIns="0" rIns="0" bIns="0" rtlCol="0" anchor="ctr"/>
          <a:lstStyle/>
          <a:p>
            <a:pPr algn="r" indent="0" marL="0">
              <a:buNone/>
            </a:pPr>
            <a:r>
              <a:rPr lang="en-US" sz="900" b="1" dirty="0">
                <a:solidFill>
                  <a:srgbClr val="76838F"/>
                </a:solidFill>
                <a:latin typeface="Calibri" pitchFamily="34" charset="0"/>
                <a:ea typeface="Calibri" pitchFamily="34" charset="-122"/>
                <a:cs typeface="Calibri" pitchFamily="34" charset="-120"/>
              </a:rPr>
              <a:t>13</a:t>
            </a:r>
            <a:endParaRPr lang="en-US" sz="900" dirty="0"/>
          </a:p>
        </p:txBody>
      </p:sp>
      <p:sp>
        <p:nvSpPr>
          <p:cNvPr id="7" name="Text 5"/>
          <p:cNvSpPr txBox="1"/>
          <p:nvPr/>
        </p:nvSpPr>
        <p:spPr>
          <a:xfrm>
            <a:off x="566928" y="1700784"/>
            <a:ext cx="5346040" cy="292608"/>
          </a:xfrm>
          <a:prstGeom prst="rect">
            <a:avLst/>
          </a:prstGeom>
          <a:noFill/>
          <a:ln/>
        </p:spPr>
        <p:txBody>
          <a:bodyPr wrap="square" lIns="0" tIns="0" rIns="0" bIns="0" rtlCol="0" anchor="ctr"/>
          <a:lstStyle/>
          <a:p>
            <a:pPr indent="0" marL="0">
              <a:buNone/>
            </a:pPr>
            <a:r>
              <a:rPr lang="en-US" sz="1700" b="1" dirty="0">
                <a:solidFill>
                  <a:srgbClr val="10151C"/>
                </a:solidFill>
                <a:latin typeface="Cambria" pitchFamily="34" charset="0"/>
                <a:ea typeface="Cambria" pitchFamily="34" charset="-122"/>
                <a:cs typeface="Cambria" pitchFamily="34" charset="-120"/>
              </a:rPr>
              <a:t>Near term</a:t>
            </a:r>
            <a:endParaRPr lang="en-US" sz="1700" dirty="0"/>
          </a:p>
        </p:txBody>
      </p:sp>
      <p:sp>
        <p:nvSpPr>
          <p:cNvPr id="8" name="Shape 6"/>
          <p:cNvSpPr/>
          <p:nvPr/>
        </p:nvSpPr>
        <p:spPr>
          <a:xfrm>
            <a:off x="566928" y="2103120"/>
            <a:ext cx="5346040" cy="868680"/>
          </a:xfrm>
          <a:prstGeom prst="roundRect">
            <a:avLst>
              <a:gd name="adj" fmla="val 6316"/>
            </a:avLst>
          </a:prstGeom>
          <a:solidFill>
            <a:srgbClr val="FFFFFF"/>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9" name="Shape 7"/>
          <p:cNvSpPr/>
          <p:nvPr/>
        </p:nvSpPr>
        <p:spPr>
          <a:xfrm>
            <a:off x="786384" y="2286000"/>
            <a:ext cx="292608" cy="292608"/>
          </a:xfrm>
          <a:prstGeom prst="roundRect">
            <a:avLst>
              <a:gd name="adj" fmla="val 68750"/>
            </a:avLst>
          </a:prstGeom>
          <a:solidFill>
            <a:srgbClr val="F5A524"/>
          </a:solidFill>
          <a:ln w="12700">
            <a:solidFill>
              <a:srgbClr val="F5A524"/>
            </a:solidFill>
            <a:prstDash val="solid"/>
          </a:ln>
        </p:spPr>
      </p:sp>
      <p:sp>
        <p:nvSpPr>
          <p:cNvPr id="10" name="Text 8"/>
          <p:cNvSpPr txBox="1"/>
          <p:nvPr/>
        </p:nvSpPr>
        <p:spPr>
          <a:xfrm>
            <a:off x="786384" y="2286000"/>
            <a:ext cx="292608" cy="292608"/>
          </a:xfrm>
          <a:prstGeom prst="rect">
            <a:avLst/>
          </a:prstGeom>
          <a:noFill/>
          <a:ln/>
        </p:spPr>
        <p:txBody>
          <a:bodyPr wrap="square" lIns="0" tIns="0" rIns="0" bIns="0" rtlCol="0" anchor="ctr"/>
          <a:lstStyle/>
          <a:p>
            <a:pPr algn="ctr" indent="0" marL="0">
              <a:buNone/>
            </a:pPr>
            <a:r>
              <a:rPr lang="en-US" sz="1250" b="1" dirty="0">
                <a:solidFill>
                  <a:srgbClr val="10151C"/>
                </a:solidFill>
                <a:latin typeface="Calibri" pitchFamily="34" charset="0"/>
                <a:ea typeface="Calibri" pitchFamily="34" charset="-122"/>
                <a:cs typeface="Calibri" pitchFamily="34" charset="-120"/>
              </a:rPr>
              <a:t>1</a:t>
            </a:r>
            <a:endParaRPr lang="en-US" sz="1250" dirty="0"/>
          </a:p>
        </p:txBody>
      </p:sp>
      <p:sp>
        <p:nvSpPr>
          <p:cNvPr id="11" name="Text 9"/>
          <p:cNvSpPr txBox="1"/>
          <p:nvPr/>
        </p:nvSpPr>
        <p:spPr>
          <a:xfrm>
            <a:off x="1170432" y="2231136"/>
            <a:ext cx="4523080" cy="237744"/>
          </a:xfrm>
          <a:prstGeom prst="rect">
            <a:avLst/>
          </a:prstGeom>
          <a:noFill/>
          <a:ln/>
        </p:spPr>
        <p:txBody>
          <a:bodyPr wrap="square" lIns="0" tIns="0" rIns="0" bIns="0" rtlCol="0" anchor="ctr"/>
          <a:lstStyle/>
          <a:p>
            <a:pPr indent="0" marL="0">
              <a:buNone/>
            </a:pPr>
            <a:r>
              <a:rPr lang="en-US" sz="1300" b="1" dirty="0">
                <a:solidFill>
                  <a:srgbClr val="10151C"/>
                </a:solidFill>
                <a:latin typeface="Cambria" pitchFamily="34" charset="0"/>
                <a:ea typeface="Cambria" pitchFamily="34" charset="-122"/>
                <a:cs typeface="Cambria" pitchFamily="34" charset="-120"/>
              </a:rPr>
              <a:t>RAG copilot</a:t>
            </a:r>
            <a:endParaRPr lang="en-US" sz="1300" dirty="0"/>
          </a:p>
        </p:txBody>
      </p:sp>
      <p:sp>
        <p:nvSpPr>
          <p:cNvPr id="12" name="Text 10"/>
          <p:cNvSpPr txBox="1"/>
          <p:nvPr/>
        </p:nvSpPr>
        <p:spPr>
          <a:xfrm>
            <a:off x="1170432" y="2468880"/>
            <a:ext cx="4523080" cy="438912"/>
          </a:xfrm>
          <a:prstGeom prst="rect">
            <a:avLst/>
          </a:prstGeom>
          <a:noFill/>
          <a:ln/>
        </p:spPr>
        <p:txBody>
          <a:bodyPr wrap="square" lIns="0" tIns="0" rIns="0" bIns="0" rtlCol="0" anchor="ctr"/>
          <a:lstStyle/>
          <a:p>
            <a:pPr indent="0" marL="0">
              <a:lnSpc>
                <a:spcPct val="104000"/>
              </a:lnSpc>
              <a:buNone/>
            </a:pPr>
            <a:r>
              <a:rPr lang="en-US" sz="1050" dirty="0">
                <a:solidFill>
                  <a:srgbClr val="3A4757"/>
                </a:solidFill>
                <a:latin typeface="Calibri" pitchFamily="34" charset="0"/>
                <a:ea typeface="Calibri" pitchFamily="34" charset="-122"/>
                <a:cs typeface="Calibri" pitchFamily="34" charset="-120"/>
              </a:rPr>
              <a:t>ChromaDB + LangChain natural-language Q&amp;A over the parsed corpus — scoped in the plan, deferred because it needs an LLM endpoint and key.</a:t>
            </a:r>
            <a:endParaRPr lang="en-US" sz="1050" dirty="0"/>
          </a:p>
        </p:txBody>
      </p:sp>
      <p:sp>
        <p:nvSpPr>
          <p:cNvPr id="13" name="Shape 11"/>
          <p:cNvSpPr/>
          <p:nvPr/>
        </p:nvSpPr>
        <p:spPr>
          <a:xfrm>
            <a:off x="566928" y="3099816"/>
            <a:ext cx="5346040" cy="868680"/>
          </a:xfrm>
          <a:prstGeom prst="roundRect">
            <a:avLst>
              <a:gd name="adj" fmla="val 6316"/>
            </a:avLst>
          </a:prstGeom>
          <a:solidFill>
            <a:srgbClr val="FFFFFF"/>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14" name="Shape 12"/>
          <p:cNvSpPr/>
          <p:nvPr/>
        </p:nvSpPr>
        <p:spPr>
          <a:xfrm>
            <a:off x="786384" y="3282696"/>
            <a:ext cx="292608" cy="292608"/>
          </a:xfrm>
          <a:prstGeom prst="roundRect">
            <a:avLst>
              <a:gd name="adj" fmla="val 68750"/>
            </a:avLst>
          </a:prstGeom>
          <a:solidFill>
            <a:srgbClr val="F5A524"/>
          </a:solidFill>
          <a:ln w="12700">
            <a:solidFill>
              <a:srgbClr val="F5A524"/>
            </a:solidFill>
            <a:prstDash val="solid"/>
          </a:ln>
        </p:spPr>
      </p:sp>
      <p:sp>
        <p:nvSpPr>
          <p:cNvPr id="15" name="Text 13"/>
          <p:cNvSpPr txBox="1"/>
          <p:nvPr/>
        </p:nvSpPr>
        <p:spPr>
          <a:xfrm>
            <a:off x="786384" y="3282696"/>
            <a:ext cx="292608" cy="292608"/>
          </a:xfrm>
          <a:prstGeom prst="rect">
            <a:avLst/>
          </a:prstGeom>
          <a:noFill/>
          <a:ln/>
        </p:spPr>
        <p:txBody>
          <a:bodyPr wrap="square" lIns="0" tIns="0" rIns="0" bIns="0" rtlCol="0" anchor="ctr"/>
          <a:lstStyle/>
          <a:p>
            <a:pPr algn="ctr" indent="0" marL="0">
              <a:buNone/>
            </a:pPr>
            <a:r>
              <a:rPr lang="en-US" sz="1250" b="1" dirty="0">
                <a:solidFill>
                  <a:srgbClr val="10151C"/>
                </a:solidFill>
                <a:latin typeface="Calibri" pitchFamily="34" charset="0"/>
                <a:ea typeface="Calibri" pitchFamily="34" charset="-122"/>
                <a:cs typeface="Calibri" pitchFamily="34" charset="-120"/>
              </a:rPr>
              <a:t>2</a:t>
            </a:r>
            <a:endParaRPr lang="en-US" sz="1250" dirty="0"/>
          </a:p>
        </p:txBody>
      </p:sp>
      <p:sp>
        <p:nvSpPr>
          <p:cNvPr id="16" name="Text 14"/>
          <p:cNvSpPr txBox="1"/>
          <p:nvPr/>
        </p:nvSpPr>
        <p:spPr>
          <a:xfrm>
            <a:off x="1170432" y="3227832"/>
            <a:ext cx="4523080" cy="237744"/>
          </a:xfrm>
          <a:prstGeom prst="rect">
            <a:avLst/>
          </a:prstGeom>
          <a:noFill/>
          <a:ln/>
        </p:spPr>
        <p:txBody>
          <a:bodyPr wrap="square" lIns="0" tIns="0" rIns="0" bIns="0" rtlCol="0" anchor="ctr"/>
          <a:lstStyle/>
          <a:p>
            <a:pPr indent="0" marL="0">
              <a:buNone/>
            </a:pPr>
            <a:r>
              <a:rPr lang="en-US" sz="1300" b="1" dirty="0">
                <a:solidFill>
                  <a:srgbClr val="10151C"/>
                </a:solidFill>
                <a:latin typeface="Cambria" pitchFamily="34" charset="0"/>
                <a:ea typeface="Cambria" pitchFamily="34" charset="-122"/>
                <a:cs typeface="Cambria" pitchFamily="34" charset="-120"/>
              </a:rPr>
              <a:t>Regression-over-time</a:t>
            </a:r>
            <a:endParaRPr lang="en-US" sz="1300" dirty="0"/>
          </a:p>
        </p:txBody>
      </p:sp>
      <p:sp>
        <p:nvSpPr>
          <p:cNvPr id="17" name="Text 15"/>
          <p:cNvSpPr txBox="1"/>
          <p:nvPr/>
        </p:nvSpPr>
        <p:spPr>
          <a:xfrm>
            <a:off x="1170432" y="3465576"/>
            <a:ext cx="4523080" cy="438912"/>
          </a:xfrm>
          <a:prstGeom prst="rect">
            <a:avLst/>
          </a:prstGeom>
          <a:noFill/>
          <a:ln/>
        </p:spPr>
        <p:txBody>
          <a:bodyPr wrap="square" lIns="0" tIns="0" rIns="0" bIns="0" rtlCol="0" anchor="ctr"/>
          <a:lstStyle/>
          <a:p>
            <a:pPr indent="0" marL="0">
              <a:lnSpc>
                <a:spcPct val="104000"/>
              </a:lnSpc>
              <a:buNone/>
            </a:pPr>
            <a:r>
              <a:rPr lang="en-US" sz="1050" dirty="0">
                <a:solidFill>
                  <a:srgbClr val="3A4757"/>
                </a:solidFill>
                <a:latin typeface="Calibri" pitchFamily="34" charset="0"/>
                <a:ea typeface="Calibri" pitchFamily="34" charset="-122"/>
                <a:cs typeface="Calibri" pitchFamily="34" charset="-120"/>
              </a:rPr>
              <a:t>Persist jobs to a database and trend failure rate, SHAP ranking and cluster membership across nightly runs.</a:t>
            </a:r>
            <a:endParaRPr lang="en-US" sz="1050" dirty="0"/>
          </a:p>
        </p:txBody>
      </p:sp>
      <p:sp>
        <p:nvSpPr>
          <p:cNvPr id="18" name="Shape 16"/>
          <p:cNvSpPr/>
          <p:nvPr/>
        </p:nvSpPr>
        <p:spPr>
          <a:xfrm>
            <a:off x="566928" y="4096512"/>
            <a:ext cx="5346040" cy="868680"/>
          </a:xfrm>
          <a:prstGeom prst="roundRect">
            <a:avLst>
              <a:gd name="adj" fmla="val 6316"/>
            </a:avLst>
          </a:prstGeom>
          <a:solidFill>
            <a:srgbClr val="FFFFFF"/>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19" name="Shape 17"/>
          <p:cNvSpPr/>
          <p:nvPr/>
        </p:nvSpPr>
        <p:spPr>
          <a:xfrm>
            <a:off x="786384" y="4279392"/>
            <a:ext cx="292608" cy="292608"/>
          </a:xfrm>
          <a:prstGeom prst="roundRect">
            <a:avLst>
              <a:gd name="adj" fmla="val 68750"/>
            </a:avLst>
          </a:prstGeom>
          <a:solidFill>
            <a:srgbClr val="F5A524"/>
          </a:solidFill>
          <a:ln w="12700">
            <a:solidFill>
              <a:srgbClr val="F5A524"/>
            </a:solidFill>
            <a:prstDash val="solid"/>
          </a:ln>
        </p:spPr>
      </p:sp>
      <p:sp>
        <p:nvSpPr>
          <p:cNvPr id="20" name="Text 18"/>
          <p:cNvSpPr txBox="1"/>
          <p:nvPr/>
        </p:nvSpPr>
        <p:spPr>
          <a:xfrm>
            <a:off x="786384" y="4279392"/>
            <a:ext cx="292608" cy="292608"/>
          </a:xfrm>
          <a:prstGeom prst="rect">
            <a:avLst/>
          </a:prstGeom>
          <a:noFill/>
          <a:ln/>
        </p:spPr>
        <p:txBody>
          <a:bodyPr wrap="square" lIns="0" tIns="0" rIns="0" bIns="0" rtlCol="0" anchor="ctr"/>
          <a:lstStyle/>
          <a:p>
            <a:pPr algn="ctr" indent="0" marL="0">
              <a:buNone/>
            </a:pPr>
            <a:r>
              <a:rPr lang="en-US" sz="1250" b="1" dirty="0">
                <a:solidFill>
                  <a:srgbClr val="10151C"/>
                </a:solidFill>
                <a:latin typeface="Calibri" pitchFamily="34" charset="0"/>
                <a:ea typeface="Calibri" pitchFamily="34" charset="-122"/>
                <a:cs typeface="Calibri" pitchFamily="34" charset="-120"/>
              </a:rPr>
              <a:t>3</a:t>
            </a:r>
            <a:endParaRPr lang="en-US" sz="1250" dirty="0"/>
          </a:p>
        </p:txBody>
      </p:sp>
      <p:sp>
        <p:nvSpPr>
          <p:cNvPr id="21" name="Text 19"/>
          <p:cNvSpPr txBox="1"/>
          <p:nvPr/>
        </p:nvSpPr>
        <p:spPr>
          <a:xfrm>
            <a:off x="1170432" y="4224528"/>
            <a:ext cx="4523080" cy="237744"/>
          </a:xfrm>
          <a:prstGeom prst="rect">
            <a:avLst/>
          </a:prstGeom>
          <a:noFill/>
          <a:ln/>
        </p:spPr>
        <p:txBody>
          <a:bodyPr wrap="square" lIns="0" tIns="0" rIns="0" bIns="0" rtlCol="0" anchor="ctr"/>
          <a:lstStyle/>
          <a:p>
            <a:pPr indent="0" marL="0">
              <a:buNone/>
            </a:pPr>
            <a:r>
              <a:rPr lang="en-US" sz="1300" b="1" dirty="0">
                <a:solidFill>
                  <a:srgbClr val="10151C"/>
                </a:solidFill>
                <a:latin typeface="Cambria" pitchFamily="34" charset="0"/>
                <a:ea typeface="Cambria" pitchFamily="34" charset="-122"/>
                <a:cs typeface="Cambria" pitchFamily="34" charset="-120"/>
              </a:rPr>
              <a:t>CI integration</a:t>
            </a:r>
            <a:endParaRPr lang="en-US" sz="1300" dirty="0"/>
          </a:p>
        </p:txBody>
      </p:sp>
      <p:sp>
        <p:nvSpPr>
          <p:cNvPr id="22" name="Text 20"/>
          <p:cNvSpPr txBox="1"/>
          <p:nvPr/>
        </p:nvSpPr>
        <p:spPr>
          <a:xfrm>
            <a:off x="1170432" y="4462272"/>
            <a:ext cx="4523080" cy="438912"/>
          </a:xfrm>
          <a:prstGeom prst="rect">
            <a:avLst/>
          </a:prstGeom>
          <a:noFill/>
          <a:ln/>
        </p:spPr>
        <p:txBody>
          <a:bodyPr wrap="square" lIns="0" tIns="0" rIns="0" bIns="0" rtlCol="0" anchor="ctr"/>
          <a:lstStyle/>
          <a:p>
            <a:pPr indent="0" marL="0">
              <a:lnSpc>
                <a:spcPct val="104000"/>
              </a:lnSpc>
              <a:buNone/>
            </a:pPr>
            <a:r>
              <a:rPr lang="en-US" sz="1050" dirty="0">
                <a:solidFill>
                  <a:srgbClr val="3A4757"/>
                </a:solidFill>
                <a:latin typeface="Calibri" pitchFamily="34" charset="0"/>
                <a:ea typeface="Calibri" pitchFamily="34" charset="-122"/>
                <a:cs typeface="Calibri" pitchFamily="34" charset="-120"/>
              </a:rPr>
              <a:t>A gate that fails the build when a new deterministic cluster appears or predicted risk crosses the ceiling.</a:t>
            </a:r>
            <a:endParaRPr lang="en-US" sz="1050" dirty="0"/>
          </a:p>
        </p:txBody>
      </p:sp>
      <p:sp>
        <p:nvSpPr>
          <p:cNvPr id="23" name="Text 21"/>
          <p:cNvSpPr txBox="1"/>
          <p:nvPr/>
        </p:nvSpPr>
        <p:spPr>
          <a:xfrm>
            <a:off x="6278728" y="1700784"/>
            <a:ext cx="5346040" cy="292608"/>
          </a:xfrm>
          <a:prstGeom prst="rect">
            <a:avLst/>
          </a:prstGeom>
          <a:noFill/>
          <a:ln/>
        </p:spPr>
        <p:txBody>
          <a:bodyPr wrap="square" lIns="0" tIns="0" rIns="0" bIns="0" rtlCol="0" anchor="ctr"/>
          <a:lstStyle/>
          <a:p>
            <a:pPr indent="0" marL="0">
              <a:buNone/>
            </a:pPr>
            <a:r>
              <a:rPr lang="en-US" sz="1700" b="1" dirty="0">
                <a:solidFill>
                  <a:srgbClr val="10151C"/>
                </a:solidFill>
                <a:latin typeface="Cambria" pitchFamily="34" charset="0"/>
                <a:ea typeface="Cambria" pitchFamily="34" charset="-122"/>
                <a:cs typeface="Cambria" pitchFamily="34" charset="-120"/>
              </a:rPr>
              <a:t>Longer term</a:t>
            </a:r>
            <a:endParaRPr lang="en-US" sz="1700" dirty="0"/>
          </a:p>
        </p:txBody>
      </p:sp>
      <p:sp>
        <p:nvSpPr>
          <p:cNvPr id="24" name="Shape 22"/>
          <p:cNvSpPr/>
          <p:nvPr/>
        </p:nvSpPr>
        <p:spPr>
          <a:xfrm>
            <a:off x="6278728" y="2103120"/>
            <a:ext cx="5346040" cy="868680"/>
          </a:xfrm>
          <a:prstGeom prst="roundRect">
            <a:avLst>
              <a:gd name="adj" fmla="val 6316"/>
            </a:avLst>
          </a:prstGeom>
          <a:solidFill>
            <a:srgbClr val="FFFFFF"/>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25" name="Shape 23"/>
          <p:cNvSpPr/>
          <p:nvPr/>
        </p:nvSpPr>
        <p:spPr>
          <a:xfrm>
            <a:off x="6498184" y="2286000"/>
            <a:ext cx="292608" cy="292608"/>
          </a:xfrm>
          <a:prstGeom prst="roundRect">
            <a:avLst>
              <a:gd name="adj" fmla="val 68750"/>
            </a:avLst>
          </a:prstGeom>
          <a:solidFill>
            <a:srgbClr val="1FB6A6"/>
          </a:solidFill>
          <a:ln w="12700">
            <a:solidFill>
              <a:srgbClr val="1FB6A6"/>
            </a:solidFill>
            <a:prstDash val="solid"/>
          </a:ln>
        </p:spPr>
      </p:sp>
      <p:sp>
        <p:nvSpPr>
          <p:cNvPr id="26" name="Text 24"/>
          <p:cNvSpPr txBox="1"/>
          <p:nvPr/>
        </p:nvSpPr>
        <p:spPr>
          <a:xfrm>
            <a:off x="6498184" y="2286000"/>
            <a:ext cx="292608"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27" name="Text 25"/>
          <p:cNvSpPr txBox="1"/>
          <p:nvPr/>
        </p:nvSpPr>
        <p:spPr>
          <a:xfrm>
            <a:off x="6882232" y="2231136"/>
            <a:ext cx="4523080" cy="237744"/>
          </a:xfrm>
          <a:prstGeom prst="rect">
            <a:avLst/>
          </a:prstGeom>
          <a:noFill/>
          <a:ln/>
        </p:spPr>
        <p:txBody>
          <a:bodyPr wrap="square" lIns="0" tIns="0" rIns="0" bIns="0" rtlCol="0" anchor="ctr"/>
          <a:lstStyle/>
          <a:p>
            <a:pPr indent="0" marL="0">
              <a:buNone/>
            </a:pPr>
            <a:r>
              <a:rPr lang="en-US" sz="1300" b="1" dirty="0">
                <a:solidFill>
                  <a:srgbClr val="10151C"/>
                </a:solidFill>
                <a:latin typeface="Cambria" pitchFamily="34" charset="0"/>
                <a:ea typeface="Cambria" pitchFamily="34" charset="-122"/>
                <a:cs typeface="Cambria" pitchFamily="34" charset="-120"/>
              </a:rPr>
              <a:t>Real log adapters</a:t>
            </a:r>
            <a:endParaRPr lang="en-US" sz="1300" dirty="0"/>
          </a:p>
        </p:txBody>
      </p:sp>
      <p:sp>
        <p:nvSpPr>
          <p:cNvPr id="28" name="Text 26"/>
          <p:cNvSpPr txBox="1"/>
          <p:nvPr/>
        </p:nvSpPr>
        <p:spPr>
          <a:xfrm>
            <a:off x="6882232" y="2468880"/>
            <a:ext cx="4523080" cy="438912"/>
          </a:xfrm>
          <a:prstGeom prst="rect">
            <a:avLst/>
          </a:prstGeom>
          <a:noFill/>
          <a:ln/>
        </p:spPr>
        <p:txBody>
          <a:bodyPr wrap="square" lIns="0" tIns="0" rIns="0" bIns="0" rtlCol="0" anchor="ctr"/>
          <a:lstStyle/>
          <a:p>
            <a:pPr indent="0" marL="0">
              <a:lnSpc>
                <a:spcPct val="104000"/>
              </a:lnSpc>
              <a:buNone/>
            </a:pPr>
            <a:r>
              <a:rPr lang="en-US" sz="1050" dirty="0">
                <a:solidFill>
                  <a:srgbClr val="3A4757"/>
                </a:solidFill>
                <a:latin typeface="Calibri" pitchFamily="34" charset="0"/>
                <a:ea typeface="Calibri" pitchFamily="34" charset="-122"/>
                <a:cs typeface="Calibri" pitchFamily="34" charset="-120"/>
              </a:rPr>
              <a:t>Pluggable grammars for VCS, Questa and Xcelium output so the pipeline runs on production regressions, not just the synthetic corpus.</a:t>
            </a:r>
            <a:endParaRPr lang="en-US" sz="1050" dirty="0"/>
          </a:p>
        </p:txBody>
      </p:sp>
      <p:sp>
        <p:nvSpPr>
          <p:cNvPr id="29" name="Shape 27"/>
          <p:cNvSpPr/>
          <p:nvPr/>
        </p:nvSpPr>
        <p:spPr>
          <a:xfrm>
            <a:off x="6278728" y="3099816"/>
            <a:ext cx="5346040" cy="868680"/>
          </a:xfrm>
          <a:prstGeom prst="roundRect">
            <a:avLst>
              <a:gd name="adj" fmla="val 6316"/>
            </a:avLst>
          </a:prstGeom>
          <a:solidFill>
            <a:srgbClr val="FFFFFF"/>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30" name="Shape 28"/>
          <p:cNvSpPr/>
          <p:nvPr/>
        </p:nvSpPr>
        <p:spPr>
          <a:xfrm>
            <a:off x="6498184" y="3282696"/>
            <a:ext cx="292608" cy="292608"/>
          </a:xfrm>
          <a:prstGeom prst="roundRect">
            <a:avLst>
              <a:gd name="adj" fmla="val 68750"/>
            </a:avLst>
          </a:prstGeom>
          <a:solidFill>
            <a:srgbClr val="1FB6A6"/>
          </a:solidFill>
          <a:ln w="12700">
            <a:solidFill>
              <a:srgbClr val="1FB6A6"/>
            </a:solidFill>
            <a:prstDash val="solid"/>
          </a:ln>
        </p:spPr>
      </p:sp>
      <p:sp>
        <p:nvSpPr>
          <p:cNvPr id="31" name="Text 29"/>
          <p:cNvSpPr txBox="1"/>
          <p:nvPr/>
        </p:nvSpPr>
        <p:spPr>
          <a:xfrm>
            <a:off x="6498184" y="3282696"/>
            <a:ext cx="292608"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32" name="Text 30"/>
          <p:cNvSpPr txBox="1"/>
          <p:nvPr/>
        </p:nvSpPr>
        <p:spPr>
          <a:xfrm>
            <a:off x="6882232" y="3227832"/>
            <a:ext cx="4523080" cy="237744"/>
          </a:xfrm>
          <a:prstGeom prst="rect">
            <a:avLst/>
          </a:prstGeom>
          <a:noFill/>
          <a:ln/>
        </p:spPr>
        <p:txBody>
          <a:bodyPr wrap="square" lIns="0" tIns="0" rIns="0" bIns="0" rtlCol="0" anchor="ctr"/>
          <a:lstStyle/>
          <a:p>
            <a:pPr indent="0" marL="0">
              <a:buNone/>
            </a:pPr>
            <a:r>
              <a:rPr lang="en-US" sz="1300" b="1" dirty="0">
                <a:solidFill>
                  <a:srgbClr val="10151C"/>
                </a:solidFill>
                <a:latin typeface="Cambria" pitchFamily="34" charset="0"/>
                <a:ea typeface="Cambria" pitchFamily="34" charset="-122"/>
                <a:cs typeface="Cambria" pitchFamily="34" charset="-120"/>
              </a:rPr>
              <a:t>Coverage-aware recommendation</a:t>
            </a:r>
            <a:endParaRPr lang="en-US" sz="1300" dirty="0"/>
          </a:p>
        </p:txBody>
      </p:sp>
      <p:sp>
        <p:nvSpPr>
          <p:cNvPr id="33" name="Text 31"/>
          <p:cNvSpPr txBox="1"/>
          <p:nvPr/>
        </p:nvSpPr>
        <p:spPr>
          <a:xfrm>
            <a:off x="6882232" y="3465576"/>
            <a:ext cx="4523080" cy="438912"/>
          </a:xfrm>
          <a:prstGeom prst="rect">
            <a:avLst/>
          </a:prstGeom>
          <a:noFill/>
          <a:ln/>
        </p:spPr>
        <p:txBody>
          <a:bodyPr wrap="square" lIns="0" tIns="0" rIns="0" bIns="0" rtlCol="0" anchor="ctr"/>
          <a:lstStyle/>
          <a:p>
            <a:pPr indent="0" marL="0">
              <a:lnSpc>
                <a:spcPct val="104000"/>
              </a:lnSpc>
              <a:buNone/>
            </a:pPr>
            <a:r>
              <a:rPr lang="en-US" sz="1050" dirty="0">
                <a:solidFill>
                  <a:srgbClr val="3A4757"/>
                </a:solidFill>
                <a:latin typeface="Calibri" pitchFamily="34" charset="0"/>
                <a:ea typeface="Calibri" pitchFamily="34" charset="-122"/>
                <a:cs typeface="Calibri" pitchFamily="34" charset="-120"/>
              </a:rPr>
              <a:t>Add functional-coverage closure as a third objective beside throughput and risk.</a:t>
            </a:r>
            <a:endParaRPr lang="en-US" sz="1050" dirty="0"/>
          </a:p>
        </p:txBody>
      </p:sp>
      <p:sp>
        <p:nvSpPr>
          <p:cNvPr id="34" name="Shape 32"/>
          <p:cNvSpPr/>
          <p:nvPr/>
        </p:nvSpPr>
        <p:spPr>
          <a:xfrm>
            <a:off x="6278728" y="4096512"/>
            <a:ext cx="5346040" cy="868680"/>
          </a:xfrm>
          <a:prstGeom prst="roundRect">
            <a:avLst>
              <a:gd name="adj" fmla="val 6316"/>
            </a:avLst>
          </a:prstGeom>
          <a:solidFill>
            <a:srgbClr val="FFFFFF"/>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35" name="Shape 33"/>
          <p:cNvSpPr/>
          <p:nvPr/>
        </p:nvSpPr>
        <p:spPr>
          <a:xfrm>
            <a:off x="6498184" y="4279392"/>
            <a:ext cx="292608" cy="292608"/>
          </a:xfrm>
          <a:prstGeom prst="roundRect">
            <a:avLst>
              <a:gd name="adj" fmla="val 68750"/>
            </a:avLst>
          </a:prstGeom>
          <a:solidFill>
            <a:srgbClr val="1FB6A6"/>
          </a:solidFill>
          <a:ln w="12700">
            <a:solidFill>
              <a:srgbClr val="1FB6A6"/>
            </a:solidFill>
            <a:prstDash val="solid"/>
          </a:ln>
        </p:spPr>
      </p:sp>
      <p:sp>
        <p:nvSpPr>
          <p:cNvPr id="36" name="Text 34"/>
          <p:cNvSpPr txBox="1"/>
          <p:nvPr/>
        </p:nvSpPr>
        <p:spPr>
          <a:xfrm>
            <a:off x="6498184" y="4279392"/>
            <a:ext cx="292608"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37" name="Text 35"/>
          <p:cNvSpPr txBox="1"/>
          <p:nvPr/>
        </p:nvSpPr>
        <p:spPr>
          <a:xfrm>
            <a:off x="6882232" y="4224528"/>
            <a:ext cx="4523080" cy="237744"/>
          </a:xfrm>
          <a:prstGeom prst="rect">
            <a:avLst/>
          </a:prstGeom>
          <a:noFill/>
          <a:ln/>
        </p:spPr>
        <p:txBody>
          <a:bodyPr wrap="square" lIns="0" tIns="0" rIns="0" bIns="0" rtlCol="0" anchor="ctr"/>
          <a:lstStyle/>
          <a:p>
            <a:pPr indent="0" marL="0">
              <a:buNone/>
            </a:pPr>
            <a:r>
              <a:rPr lang="en-US" sz="1300" b="1" dirty="0">
                <a:solidFill>
                  <a:srgbClr val="10151C"/>
                </a:solidFill>
                <a:latin typeface="Cambria" pitchFamily="34" charset="0"/>
                <a:ea typeface="Cambria" pitchFamily="34" charset="-122"/>
                <a:cs typeface="Cambria" pitchFamily="34" charset="-120"/>
              </a:rPr>
              <a:t>Automatic triage routing</a:t>
            </a:r>
            <a:endParaRPr lang="en-US" sz="1300" dirty="0"/>
          </a:p>
        </p:txBody>
      </p:sp>
      <p:sp>
        <p:nvSpPr>
          <p:cNvPr id="38" name="Text 36"/>
          <p:cNvSpPr txBox="1"/>
          <p:nvPr/>
        </p:nvSpPr>
        <p:spPr>
          <a:xfrm>
            <a:off x="6882232" y="4462272"/>
            <a:ext cx="4523080" cy="438912"/>
          </a:xfrm>
          <a:prstGeom prst="rect">
            <a:avLst/>
          </a:prstGeom>
          <a:noFill/>
          <a:ln/>
        </p:spPr>
        <p:txBody>
          <a:bodyPr wrap="square" lIns="0" tIns="0" rIns="0" bIns="0" rtlCol="0" anchor="ctr"/>
          <a:lstStyle/>
          <a:p>
            <a:pPr indent="0" marL="0">
              <a:lnSpc>
                <a:spcPct val="104000"/>
              </a:lnSpc>
              <a:buNone/>
            </a:pPr>
            <a:r>
              <a:rPr lang="en-US" sz="1050" dirty="0">
                <a:solidFill>
                  <a:srgbClr val="3A4757"/>
                </a:solidFill>
                <a:latin typeface="Calibri" pitchFamily="34" charset="0"/>
                <a:ea typeface="Calibri" pitchFamily="34" charset="-122"/>
                <a:cs typeface="Calibri" pitchFamily="34" charset="-120"/>
              </a:rPr>
              <a:t>Map each fingerprint cluster to an owning component and open the ticket with the twin-diff attached.</a:t>
            </a:r>
            <a:endParaRPr lang="en-US" sz="1050" dirty="0"/>
          </a:p>
        </p:txBody>
      </p:sp>
      <p:sp>
        <p:nvSpPr>
          <p:cNvPr id="39" name="Shape 37"/>
          <p:cNvSpPr/>
          <p:nvPr/>
        </p:nvSpPr>
        <p:spPr>
          <a:xfrm>
            <a:off x="6278728" y="5093208"/>
            <a:ext cx="5346040" cy="868680"/>
          </a:xfrm>
          <a:prstGeom prst="roundRect">
            <a:avLst>
              <a:gd name="adj" fmla="val 6316"/>
            </a:avLst>
          </a:prstGeom>
          <a:solidFill>
            <a:srgbClr val="FFFFFF"/>
          </a:solidFill>
          <a:ln w="12700">
            <a:solidFill>
              <a:srgbClr val="E3E9EF"/>
            </a:solidFill>
            <a:prstDash val="solid"/>
          </a:ln>
          <a:effectLst>
            <a:outerShdw sx="100000" sy="100000" kx="0" ky="0" algn="bl" rotWithShape="0" blurRad="127000" dist="25400" dir="5400000">
              <a:srgbClr val="8A96A3">
                <a:alpha val="16000"/>
              </a:srgbClr>
            </a:outerShdw>
          </a:effectLst>
        </p:spPr>
      </p:sp>
      <p:sp>
        <p:nvSpPr>
          <p:cNvPr id="40" name="Shape 38"/>
          <p:cNvSpPr/>
          <p:nvPr/>
        </p:nvSpPr>
        <p:spPr>
          <a:xfrm>
            <a:off x="6498184" y="5276088"/>
            <a:ext cx="292608" cy="292608"/>
          </a:xfrm>
          <a:prstGeom prst="roundRect">
            <a:avLst>
              <a:gd name="adj" fmla="val 68750"/>
            </a:avLst>
          </a:prstGeom>
          <a:solidFill>
            <a:srgbClr val="1FB6A6"/>
          </a:solidFill>
          <a:ln w="12700">
            <a:solidFill>
              <a:srgbClr val="1FB6A6"/>
            </a:solidFill>
            <a:prstDash val="solid"/>
          </a:ln>
        </p:spPr>
      </p:sp>
      <p:sp>
        <p:nvSpPr>
          <p:cNvPr id="41" name="Text 39"/>
          <p:cNvSpPr txBox="1"/>
          <p:nvPr/>
        </p:nvSpPr>
        <p:spPr>
          <a:xfrm>
            <a:off x="6498184" y="5276088"/>
            <a:ext cx="292608"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42" name="Text 40"/>
          <p:cNvSpPr txBox="1"/>
          <p:nvPr/>
        </p:nvSpPr>
        <p:spPr>
          <a:xfrm>
            <a:off x="6882232" y="5221224"/>
            <a:ext cx="4523080" cy="237744"/>
          </a:xfrm>
          <a:prstGeom prst="rect">
            <a:avLst/>
          </a:prstGeom>
          <a:noFill/>
          <a:ln/>
        </p:spPr>
        <p:txBody>
          <a:bodyPr wrap="square" lIns="0" tIns="0" rIns="0" bIns="0" rtlCol="0" anchor="ctr"/>
          <a:lstStyle/>
          <a:p>
            <a:pPr indent="0" marL="0">
              <a:buNone/>
            </a:pPr>
            <a:r>
              <a:rPr lang="en-US" sz="1300" b="1" dirty="0">
                <a:solidFill>
                  <a:srgbClr val="10151C"/>
                </a:solidFill>
                <a:latin typeface="Cambria" pitchFamily="34" charset="0"/>
                <a:ea typeface="Cambria" pitchFamily="34" charset="-122"/>
                <a:cs typeface="Cambria" pitchFamily="34" charset="-120"/>
              </a:rPr>
              <a:t>Live streaming ingest</a:t>
            </a:r>
            <a:endParaRPr lang="en-US" sz="1300" dirty="0"/>
          </a:p>
        </p:txBody>
      </p:sp>
      <p:sp>
        <p:nvSpPr>
          <p:cNvPr id="43" name="Text 41"/>
          <p:cNvSpPr txBox="1"/>
          <p:nvPr/>
        </p:nvSpPr>
        <p:spPr>
          <a:xfrm>
            <a:off x="6882232" y="5458968"/>
            <a:ext cx="4523080" cy="438912"/>
          </a:xfrm>
          <a:prstGeom prst="rect">
            <a:avLst/>
          </a:prstGeom>
          <a:noFill/>
          <a:ln/>
        </p:spPr>
        <p:txBody>
          <a:bodyPr wrap="square" lIns="0" tIns="0" rIns="0" bIns="0" rtlCol="0" anchor="ctr"/>
          <a:lstStyle/>
          <a:p>
            <a:pPr indent="0" marL="0">
              <a:lnSpc>
                <a:spcPct val="104000"/>
              </a:lnSpc>
              <a:buNone/>
            </a:pPr>
            <a:r>
              <a:rPr lang="en-US" sz="1050" dirty="0">
                <a:solidFill>
                  <a:srgbClr val="3A4757"/>
                </a:solidFill>
                <a:latin typeface="Calibri" pitchFamily="34" charset="0"/>
                <a:ea typeface="Calibri" pitchFamily="34" charset="-122"/>
                <a:cs typeface="Calibri" pitchFamily="34" charset="-120"/>
              </a:rPr>
              <a:t>Consume logs as the regression runs, so risky configurations are flagged mid-flight instead of at the end.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51C"/>
        </a:solidFill>
      </p:bgPr>
    </p:bg>
    <p:spTree>
      <p:nvGrpSpPr>
        <p:cNvPr id="1" name=""/>
        <p:cNvGrpSpPr/>
        <p:nvPr/>
      </p:nvGrpSpPr>
      <p:grpSpPr>
        <a:xfrm>
          <a:off x="0" y="0"/>
          <a:ext cx="0" cy="0"/>
          <a:chOff x="0" y="0"/>
          <a:chExt cx="0" cy="0"/>
        </a:xfrm>
      </p:grpSpPr>
      <p:sp>
        <p:nvSpPr>
          <p:cNvPr id="2" name="Shape 0"/>
          <p:cNvSpPr/>
          <p:nvPr/>
        </p:nvSpPr>
        <p:spPr>
          <a:xfrm>
            <a:off x="9646920" y="4617720"/>
            <a:ext cx="256032" cy="256032"/>
          </a:xfrm>
          <a:prstGeom prst="roundRect">
            <a:avLst>
              <a:gd name="adj" fmla="val 71429"/>
            </a:avLst>
          </a:prstGeom>
          <a:solidFill>
            <a:srgbClr val="F5A524"/>
          </a:solidFill>
          <a:ln w="12700">
            <a:solidFill>
              <a:srgbClr val="222D3A"/>
            </a:solidFill>
            <a:prstDash val="solid"/>
          </a:ln>
        </p:spPr>
      </p:sp>
      <p:sp>
        <p:nvSpPr>
          <p:cNvPr id="3" name="Shape 1"/>
          <p:cNvSpPr/>
          <p:nvPr/>
        </p:nvSpPr>
        <p:spPr>
          <a:xfrm>
            <a:off x="10104120" y="4617720"/>
            <a:ext cx="256032" cy="256032"/>
          </a:xfrm>
          <a:prstGeom prst="roundRect">
            <a:avLst>
              <a:gd name="adj" fmla="val 71429"/>
            </a:avLst>
          </a:prstGeom>
          <a:solidFill>
            <a:srgbClr val="222D3A"/>
          </a:solidFill>
          <a:ln w="12700">
            <a:solidFill>
              <a:srgbClr val="222D3A"/>
            </a:solidFill>
            <a:prstDash val="solid"/>
          </a:ln>
        </p:spPr>
      </p:sp>
      <p:sp>
        <p:nvSpPr>
          <p:cNvPr id="4" name="Shape 2"/>
          <p:cNvSpPr/>
          <p:nvPr/>
        </p:nvSpPr>
        <p:spPr>
          <a:xfrm>
            <a:off x="10561320" y="4617720"/>
            <a:ext cx="256032" cy="256032"/>
          </a:xfrm>
          <a:prstGeom prst="roundRect">
            <a:avLst>
              <a:gd name="adj" fmla="val 71429"/>
            </a:avLst>
          </a:prstGeom>
          <a:solidFill>
            <a:srgbClr val="222D3A"/>
          </a:solidFill>
          <a:ln w="12700">
            <a:solidFill>
              <a:srgbClr val="222D3A"/>
            </a:solidFill>
            <a:prstDash val="solid"/>
          </a:ln>
        </p:spPr>
      </p:sp>
      <p:sp>
        <p:nvSpPr>
          <p:cNvPr id="5" name="Shape 3"/>
          <p:cNvSpPr/>
          <p:nvPr/>
        </p:nvSpPr>
        <p:spPr>
          <a:xfrm>
            <a:off x="11018520" y="4617720"/>
            <a:ext cx="256032" cy="256032"/>
          </a:xfrm>
          <a:prstGeom prst="roundRect">
            <a:avLst>
              <a:gd name="adj" fmla="val 71429"/>
            </a:avLst>
          </a:prstGeom>
          <a:solidFill>
            <a:srgbClr val="222D3A"/>
          </a:solidFill>
          <a:ln w="12700">
            <a:solidFill>
              <a:srgbClr val="222D3A"/>
            </a:solidFill>
            <a:prstDash val="solid"/>
          </a:ln>
        </p:spPr>
      </p:sp>
      <p:sp>
        <p:nvSpPr>
          <p:cNvPr id="6" name="Shape 4"/>
          <p:cNvSpPr/>
          <p:nvPr/>
        </p:nvSpPr>
        <p:spPr>
          <a:xfrm>
            <a:off x="11475720" y="4617720"/>
            <a:ext cx="256032" cy="256032"/>
          </a:xfrm>
          <a:prstGeom prst="roundRect">
            <a:avLst>
              <a:gd name="adj" fmla="val 71429"/>
            </a:avLst>
          </a:prstGeom>
          <a:solidFill>
            <a:srgbClr val="F5A524"/>
          </a:solidFill>
          <a:ln w="12700">
            <a:solidFill>
              <a:srgbClr val="222D3A"/>
            </a:solidFill>
            <a:prstDash val="solid"/>
          </a:ln>
        </p:spPr>
      </p:sp>
      <p:sp>
        <p:nvSpPr>
          <p:cNvPr id="7" name="Shape 5"/>
          <p:cNvSpPr/>
          <p:nvPr/>
        </p:nvSpPr>
        <p:spPr>
          <a:xfrm>
            <a:off x="9646920" y="5074920"/>
            <a:ext cx="256032" cy="256032"/>
          </a:xfrm>
          <a:prstGeom prst="roundRect">
            <a:avLst>
              <a:gd name="adj" fmla="val 71429"/>
            </a:avLst>
          </a:prstGeom>
          <a:solidFill>
            <a:srgbClr val="222D3A"/>
          </a:solidFill>
          <a:ln w="12700">
            <a:solidFill>
              <a:srgbClr val="222D3A"/>
            </a:solidFill>
            <a:prstDash val="solid"/>
          </a:ln>
        </p:spPr>
      </p:sp>
      <p:sp>
        <p:nvSpPr>
          <p:cNvPr id="8" name="Shape 6"/>
          <p:cNvSpPr/>
          <p:nvPr/>
        </p:nvSpPr>
        <p:spPr>
          <a:xfrm>
            <a:off x="10104120" y="5074920"/>
            <a:ext cx="256032" cy="256032"/>
          </a:xfrm>
          <a:prstGeom prst="roundRect">
            <a:avLst>
              <a:gd name="adj" fmla="val 71429"/>
            </a:avLst>
          </a:prstGeom>
          <a:solidFill>
            <a:srgbClr val="222D3A"/>
          </a:solidFill>
          <a:ln w="12700">
            <a:solidFill>
              <a:srgbClr val="222D3A"/>
            </a:solidFill>
            <a:prstDash val="solid"/>
          </a:ln>
        </p:spPr>
      </p:sp>
      <p:sp>
        <p:nvSpPr>
          <p:cNvPr id="9" name="Shape 7"/>
          <p:cNvSpPr/>
          <p:nvPr/>
        </p:nvSpPr>
        <p:spPr>
          <a:xfrm>
            <a:off x="10561320" y="5074920"/>
            <a:ext cx="256032" cy="256032"/>
          </a:xfrm>
          <a:prstGeom prst="roundRect">
            <a:avLst>
              <a:gd name="adj" fmla="val 71429"/>
            </a:avLst>
          </a:prstGeom>
          <a:solidFill>
            <a:srgbClr val="222D3A"/>
          </a:solidFill>
          <a:ln w="12700">
            <a:solidFill>
              <a:srgbClr val="222D3A"/>
            </a:solidFill>
            <a:prstDash val="solid"/>
          </a:ln>
        </p:spPr>
      </p:sp>
      <p:sp>
        <p:nvSpPr>
          <p:cNvPr id="10" name="Shape 8"/>
          <p:cNvSpPr/>
          <p:nvPr/>
        </p:nvSpPr>
        <p:spPr>
          <a:xfrm>
            <a:off x="11018520" y="5074920"/>
            <a:ext cx="256032" cy="256032"/>
          </a:xfrm>
          <a:prstGeom prst="roundRect">
            <a:avLst>
              <a:gd name="adj" fmla="val 71429"/>
            </a:avLst>
          </a:prstGeom>
          <a:solidFill>
            <a:srgbClr val="F5A524"/>
          </a:solidFill>
          <a:ln w="12700">
            <a:solidFill>
              <a:srgbClr val="222D3A"/>
            </a:solidFill>
            <a:prstDash val="solid"/>
          </a:ln>
        </p:spPr>
      </p:sp>
      <p:sp>
        <p:nvSpPr>
          <p:cNvPr id="11" name="Shape 9"/>
          <p:cNvSpPr/>
          <p:nvPr/>
        </p:nvSpPr>
        <p:spPr>
          <a:xfrm>
            <a:off x="11475720" y="5074920"/>
            <a:ext cx="256032" cy="256032"/>
          </a:xfrm>
          <a:prstGeom prst="roundRect">
            <a:avLst>
              <a:gd name="adj" fmla="val 71429"/>
            </a:avLst>
          </a:prstGeom>
          <a:solidFill>
            <a:srgbClr val="222D3A"/>
          </a:solidFill>
          <a:ln w="12700">
            <a:solidFill>
              <a:srgbClr val="222D3A"/>
            </a:solidFill>
            <a:prstDash val="solid"/>
          </a:ln>
        </p:spPr>
      </p:sp>
      <p:sp>
        <p:nvSpPr>
          <p:cNvPr id="12" name="Shape 10"/>
          <p:cNvSpPr/>
          <p:nvPr/>
        </p:nvSpPr>
        <p:spPr>
          <a:xfrm>
            <a:off x="9646920" y="5532120"/>
            <a:ext cx="256032" cy="256032"/>
          </a:xfrm>
          <a:prstGeom prst="roundRect">
            <a:avLst>
              <a:gd name="adj" fmla="val 71429"/>
            </a:avLst>
          </a:prstGeom>
          <a:solidFill>
            <a:srgbClr val="222D3A"/>
          </a:solidFill>
          <a:ln w="12700">
            <a:solidFill>
              <a:srgbClr val="222D3A"/>
            </a:solidFill>
            <a:prstDash val="solid"/>
          </a:ln>
        </p:spPr>
      </p:sp>
      <p:sp>
        <p:nvSpPr>
          <p:cNvPr id="13" name="Shape 11"/>
          <p:cNvSpPr/>
          <p:nvPr/>
        </p:nvSpPr>
        <p:spPr>
          <a:xfrm>
            <a:off x="10104120" y="5532120"/>
            <a:ext cx="256032" cy="256032"/>
          </a:xfrm>
          <a:prstGeom prst="roundRect">
            <a:avLst>
              <a:gd name="adj" fmla="val 71429"/>
            </a:avLst>
          </a:prstGeom>
          <a:solidFill>
            <a:srgbClr val="222D3A"/>
          </a:solidFill>
          <a:ln w="12700">
            <a:solidFill>
              <a:srgbClr val="222D3A"/>
            </a:solidFill>
            <a:prstDash val="solid"/>
          </a:ln>
        </p:spPr>
      </p:sp>
      <p:sp>
        <p:nvSpPr>
          <p:cNvPr id="14" name="Shape 12"/>
          <p:cNvSpPr/>
          <p:nvPr/>
        </p:nvSpPr>
        <p:spPr>
          <a:xfrm>
            <a:off x="10561320" y="5532120"/>
            <a:ext cx="256032" cy="256032"/>
          </a:xfrm>
          <a:prstGeom prst="roundRect">
            <a:avLst>
              <a:gd name="adj" fmla="val 71429"/>
            </a:avLst>
          </a:prstGeom>
          <a:solidFill>
            <a:srgbClr val="F5A524"/>
          </a:solidFill>
          <a:ln w="12700">
            <a:solidFill>
              <a:srgbClr val="222D3A"/>
            </a:solidFill>
            <a:prstDash val="solid"/>
          </a:ln>
        </p:spPr>
      </p:sp>
      <p:sp>
        <p:nvSpPr>
          <p:cNvPr id="15" name="Shape 13"/>
          <p:cNvSpPr/>
          <p:nvPr/>
        </p:nvSpPr>
        <p:spPr>
          <a:xfrm>
            <a:off x="11018520" y="5532120"/>
            <a:ext cx="256032" cy="256032"/>
          </a:xfrm>
          <a:prstGeom prst="roundRect">
            <a:avLst>
              <a:gd name="adj" fmla="val 71429"/>
            </a:avLst>
          </a:prstGeom>
          <a:solidFill>
            <a:srgbClr val="222D3A"/>
          </a:solidFill>
          <a:ln w="12700">
            <a:solidFill>
              <a:srgbClr val="222D3A"/>
            </a:solidFill>
            <a:prstDash val="solid"/>
          </a:ln>
        </p:spPr>
      </p:sp>
      <p:sp>
        <p:nvSpPr>
          <p:cNvPr id="16" name="Shape 14"/>
          <p:cNvSpPr/>
          <p:nvPr/>
        </p:nvSpPr>
        <p:spPr>
          <a:xfrm>
            <a:off x="11475720" y="5532120"/>
            <a:ext cx="256032" cy="256032"/>
          </a:xfrm>
          <a:prstGeom prst="roundRect">
            <a:avLst>
              <a:gd name="adj" fmla="val 71429"/>
            </a:avLst>
          </a:prstGeom>
          <a:solidFill>
            <a:srgbClr val="222D3A"/>
          </a:solidFill>
          <a:ln w="12700">
            <a:solidFill>
              <a:srgbClr val="222D3A"/>
            </a:solidFill>
            <a:prstDash val="solid"/>
          </a:ln>
        </p:spPr>
      </p:sp>
      <p:sp>
        <p:nvSpPr>
          <p:cNvPr id="17" name="Text 15"/>
          <p:cNvSpPr txBox="1"/>
          <p:nvPr/>
        </p:nvSpPr>
        <p:spPr>
          <a:xfrm>
            <a:off x="566928" y="1188720"/>
            <a:ext cx="11057839" cy="274320"/>
          </a:xfrm>
          <a:prstGeom prst="rect">
            <a:avLst/>
          </a:prstGeom>
          <a:noFill/>
          <a:ln/>
        </p:spPr>
        <p:txBody>
          <a:bodyPr wrap="square" lIns="0" tIns="0" rIns="0" bIns="0" rtlCol="0" anchor="ctr"/>
          <a:lstStyle/>
          <a:p>
            <a:pPr indent="0" marL="0">
              <a:buNone/>
            </a:pPr>
            <a:r>
              <a:rPr lang="en-US" sz="1150" b="1" spc="260" kern="0" dirty="0">
                <a:solidFill>
                  <a:srgbClr val="F5A524"/>
                </a:solidFill>
                <a:latin typeface="Calibri" pitchFamily="34" charset="0"/>
                <a:ea typeface="Calibri" pitchFamily="34" charset="-122"/>
                <a:cs typeface="Calibri" pitchFamily="34" charset="-120"/>
              </a:rPr>
              <a:t>IN CLOSING</a:t>
            </a:r>
            <a:endParaRPr lang="en-US" sz="1150" dirty="0"/>
          </a:p>
        </p:txBody>
      </p:sp>
      <p:sp>
        <p:nvSpPr>
          <p:cNvPr id="18" name="Text 16"/>
          <p:cNvSpPr txBox="1"/>
          <p:nvPr/>
        </p:nvSpPr>
        <p:spPr>
          <a:xfrm>
            <a:off x="566928" y="1517904"/>
            <a:ext cx="9692640" cy="1463040"/>
          </a:xfrm>
          <a:prstGeom prst="rect">
            <a:avLst/>
          </a:prstGeom>
          <a:noFill/>
          <a:ln/>
        </p:spPr>
        <p:txBody>
          <a:bodyPr wrap="square" lIns="0" tIns="0" rIns="0" bIns="0" rtlCol="0" anchor="ctr"/>
          <a:lstStyle/>
          <a:p>
            <a:pPr indent="0" marL="0">
              <a:lnSpc>
                <a:spcPct val="100000"/>
              </a:lnSpc>
              <a:buNone/>
            </a:pPr>
            <a:r>
              <a:rPr lang="en-US" sz="3800" b="1" dirty="0">
                <a:solidFill>
                  <a:srgbClr val="FFFFFF"/>
                </a:solidFill>
                <a:latin typeface="Cambria" pitchFamily="34" charset="0"/>
                <a:ea typeface="Cambria" pitchFamily="34" charset="-122"/>
                <a:cs typeface="Cambria" pitchFamily="34" charset="-120"/>
              </a:rPr>
              <a:t>From a million log lines</a:t>
            </a:r>
            <a:endParaRPr lang="en-US" sz="3800" dirty="0"/>
          </a:p>
          <a:p>
            <a:pPr indent="0" marL="0">
              <a:lnSpc>
                <a:spcPct val="100000"/>
              </a:lnSpc>
              <a:buNone/>
            </a:pPr>
            <a:r>
              <a:rPr lang="en-US" sz="3800" b="1" dirty="0">
                <a:solidFill>
                  <a:srgbClr val="FFFFFF"/>
                </a:solidFill>
                <a:latin typeface="Cambria" pitchFamily="34" charset="0"/>
                <a:ea typeface="Cambria" pitchFamily="34" charset="-122"/>
                <a:cs typeface="Cambria" pitchFamily="34" charset="-120"/>
              </a:rPr>
              <a:t>to one recommended configuration</a:t>
            </a:r>
            <a:endParaRPr lang="en-US" sz="3800" dirty="0"/>
          </a:p>
        </p:txBody>
      </p:sp>
      <p:sp>
        <p:nvSpPr>
          <p:cNvPr id="19" name="Text 17"/>
          <p:cNvSpPr txBox="1"/>
          <p:nvPr/>
        </p:nvSpPr>
        <p:spPr>
          <a:xfrm>
            <a:off x="566928" y="3273552"/>
            <a:ext cx="2599868" cy="292608"/>
          </a:xfrm>
          <a:prstGeom prst="rect">
            <a:avLst/>
          </a:prstGeom>
          <a:noFill/>
          <a:ln/>
        </p:spPr>
        <p:txBody>
          <a:bodyPr wrap="square" lIns="0" tIns="0" rIns="0" bIns="0" rtlCol="0" anchor="ctr"/>
          <a:lstStyle/>
          <a:p>
            <a:pPr indent="0" marL="0">
              <a:buNone/>
            </a:pPr>
            <a:r>
              <a:rPr lang="en-US" sz="1600" b="1" dirty="0">
                <a:solidFill>
                  <a:srgbClr val="F5A524"/>
                </a:solidFill>
                <a:latin typeface="Cambria" pitchFamily="34" charset="0"/>
                <a:ea typeface="Cambria" pitchFamily="34" charset="-122"/>
                <a:cs typeface="Cambria" pitchFamily="34" charset="-120"/>
              </a:rPr>
              <a:t>Parsed</a:t>
            </a:r>
            <a:endParaRPr lang="en-US" sz="1600" dirty="0"/>
          </a:p>
        </p:txBody>
      </p:sp>
      <p:sp>
        <p:nvSpPr>
          <p:cNvPr id="20" name="Text 18"/>
          <p:cNvSpPr txBox="1"/>
          <p:nvPr/>
        </p:nvSpPr>
        <p:spPr>
          <a:xfrm>
            <a:off x="566928" y="3602736"/>
            <a:ext cx="2599868" cy="914400"/>
          </a:xfrm>
          <a:prstGeom prst="rect">
            <a:avLst/>
          </a:prstGeom>
          <a:noFill/>
          <a:ln/>
        </p:spPr>
        <p:txBody>
          <a:bodyPr wrap="square" lIns="0" tIns="0" rIns="0" bIns="0" rtlCol="0" anchor="ctr"/>
          <a:lstStyle/>
          <a:p>
            <a:pPr indent="0" marL="0">
              <a:lnSpc>
                <a:spcPct val="110000"/>
              </a:lnSpc>
              <a:buNone/>
            </a:pPr>
            <a:r>
              <a:rPr lang="en-US" sz="1100" dirty="0">
                <a:solidFill>
                  <a:srgbClr val="9AA7B4"/>
                </a:solidFill>
                <a:latin typeface="Calibri" pitchFamily="34" charset="0"/>
                <a:ea typeface="Calibri" pitchFamily="34" charset="-122"/>
                <a:cs typeface="Calibri" pitchFamily="34" charset="-120"/>
              </a:rPr>
              <a:t>1,015,872 lines in 2.0 s, zero malformed blocks — ingestion is not the bottleneck.</a:t>
            </a:r>
            <a:endParaRPr lang="en-US" sz="1100" dirty="0"/>
          </a:p>
        </p:txBody>
      </p:sp>
      <p:sp>
        <p:nvSpPr>
          <p:cNvPr id="21" name="Text 19"/>
          <p:cNvSpPr txBox="1"/>
          <p:nvPr/>
        </p:nvSpPr>
        <p:spPr>
          <a:xfrm>
            <a:off x="3386252" y="3273552"/>
            <a:ext cx="2599868" cy="292608"/>
          </a:xfrm>
          <a:prstGeom prst="rect">
            <a:avLst/>
          </a:prstGeom>
          <a:noFill/>
          <a:ln/>
        </p:spPr>
        <p:txBody>
          <a:bodyPr wrap="square" lIns="0" tIns="0" rIns="0" bIns="0" rtlCol="0" anchor="ctr"/>
          <a:lstStyle/>
          <a:p>
            <a:pPr indent="0" marL="0">
              <a:buNone/>
            </a:pPr>
            <a:r>
              <a:rPr lang="en-US" sz="1600" b="1" dirty="0">
                <a:solidFill>
                  <a:srgbClr val="F5A524"/>
                </a:solidFill>
                <a:latin typeface="Cambria" pitchFamily="34" charset="0"/>
                <a:ea typeface="Cambria" pitchFamily="34" charset="-122"/>
                <a:cs typeface="Cambria" pitchFamily="34" charset="-120"/>
              </a:rPr>
              <a:t>Explained</a:t>
            </a:r>
            <a:endParaRPr lang="en-US" sz="1600" dirty="0"/>
          </a:p>
        </p:txBody>
      </p:sp>
      <p:sp>
        <p:nvSpPr>
          <p:cNvPr id="22" name="Text 20"/>
          <p:cNvSpPr txBox="1"/>
          <p:nvPr/>
        </p:nvSpPr>
        <p:spPr>
          <a:xfrm>
            <a:off x="3386252" y="3602736"/>
            <a:ext cx="2599868" cy="914400"/>
          </a:xfrm>
          <a:prstGeom prst="rect">
            <a:avLst/>
          </a:prstGeom>
          <a:noFill/>
          <a:ln/>
        </p:spPr>
        <p:txBody>
          <a:bodyPr wrap="square" lIns="0" tIns="0" rIns="0" bIns="0" rtlCol="0" anchor="ctr"/>
          <a:lstStyle/>
          <a:p>
            <a:pPr indent="0" marL="0">
              <a:lnSpc>
                <a:spcPct val="110000"/>
              </a:lnSpc>
              <a:buNone/>
            </a:pPr>
            <a:r>
              <a:rPr lang="en-US" sz="1100" dirty="0">
                <a:solidFill>
                  <a:srgbClr val="9AA7B4"/>
                </a:solidFill>
                <a:latin typeface="Calibri" pitchFamily="34" charset="0"/>
                <a:ea typeface="Calibri" pitchFamily="34" charset="-122"/>
                <a:cs typeface="Calibri" pitchFamily="34" charset="-120"/>
              </a:rPr>
              <a:t>Leakage-controlled LightGBM with SHAP names the knobs, not just the symptoms.</a:t>
            </a:r>
            <a:endParaRPr lang="en-US" sz="1100" dirty="0"/>
          </a:p>
        </p:txBody>
      </p:sp>
      <p:sp>
        <p:nvSpPr>
          <p:cNvPr id="23" name="Text 21"/>
          <p:cNvSpPr txBox="1"/>
          <p:nvPr/>
        </p:nvSpPr>
        <p:spPr>
          <a:xfrm>
            <a:off x="6205576" y="3273552"/>
            <a:ext cx="2599868" cy="292608"/>
          </a:xfrm>
          <a:prstGeom prst="rect">
            <a:avLst/>
          </a:prstGeom>
          <a:noFill/>
          <a:ln/>
        </p:spPr>
        <p:txBody>
          <a:bodyPr wrap="square" lIns="0" tIns="0" rIns="0" bIns="0" rtlCol="0" anchor="ctr"/>
          <a:lstStyle/>
          <a:p>
            <a:pPr indent="0" marL="0">
              <a:buNone/>
            </a:pPr>
            <a:r>
              <a:rPr lang="en-US" sz="1600" b="1" dirty="0">
                <a:solidFill>
                  <a:srgbClr val="F5A524"/>
                </a:solidFill>
                <a:latin typeface="Cambria" pitchFamily="34" charset="0"/>
                <a:ea typeface="Cambria" pitchFamily="34" charset="-122"/>
                <a:cs typeface="Cambria" pitchFamily="34" charset="-120"/>
              </a:rPr>
              <a:t>Separated</a:t>
            </a:r>
            <a:endParaRPr lang="en-US" sz="1600" dirty="0"/>
          </a:p>
        </p:txBody>
      </p:sp>
      <p:sp>
        <p:nvSpPr>
          <p:cNvPr id="24" name="Text 22"/>
          <p:cNvSpPr txBox="1"/>
          <p:nvPr/>
        </p:nvSpPr>
        <p:spPr>
          <a:xfrm>
            <a:off x="6205576" y="3602736"/>
            <a:ext cx="2599868" cy="914400"/>
          </a:xfrm>
          <a:prstGeom prst="rect">
            <a:avLst/>
          </a:prstGeom>
          <a:noFill/>
          <a:ln/>
        </p:spPr>
        <p:txBody>
          <a:bodyPr wrap="square" lIns="0" tIns="0" rIns="0" bIns="0" rtlCol="0" anchor="ctr"/>
          <a:lstStyle/>
          <a:p>
            <a:pPr indent="0" marL="0">
              <a:lnSpc>
                <a:spcPct val="110000"/>
              </a:lnSpc>
              <a:buNone/>
            </a:pPr>
            <a:r>
              <a:rPr lang="en-US" sz="1100" dirty="0">
                <a:solidFill>
                  <a:srgbClr val="9AA7B4"/>
                </a:solidFill>
                <a:latin typeface="Calibri" pitchFamily="34" charset="0"/>
                <a:ea typeface="Calibri" pitchFamily="34" charset="-122"/>
                <a:cs typeface="Calibri" pitchFamily="34" charset="-120"/>
              </a:rPr>
              <a:t>A determinism score isolates a real RTL bug from 3,000 seed-dependent flakes.</a:t>
            </a:r>
            <a:endParaRPr lang="en-US" sz="1100" dirty="0"/>
          </a:p>
        </p:txBody>
      </p:sp>
      <p:sp>
        <p:nvSpPr>
          <p:cNvPr id="25" name="Text 23"/>
          <p:cNvSpPr txBox="1"/>
          <p:nvPr/>
        </p:nvSpPr>
        <p:spPr>
          <a:xfrm>
            <a:off x="9024899" y="3273552"/>
            <a:ext cx="2599868" cy="292608"/>
          </a:xfrm>
          <a:prstGeom prst="rect">
            <a:avLst/>
          </a:prstGeom>
          <a:noFill/>
          <a:ln/>
        </p:spPr>
        <p:txBody>
          <a:bodyPr wrap="square" lIns="0" tIns="0" rIns="0" bIns="0" rtlCol="0" anchor="ctr"/>
          <a:lstStyle/>
          <a:p>
            <a:pPr indent="0" marL="0">
              <a:buNone/>
            </a:pPr>
            <a:r>
              <a:rPr lang="en-US" sz="1600" b="1" dirty="0">
                <a:solidFill>
                  <a:srgbClr val="F5A524"/>
                </a:solidFill>
                <a:latin typeface="Cambria" pitchFamily="34" charset="0"/>
                <a:ea typeface="Cambria" pitchFamily="34" charset="-122"/>
                <a:cs typeface="Cambria" pitchFamily="34" charset="-120"/>
              </a:rPr>
              <a:t>Recommended</a:t>
            </a:r>
            <a:endParaRPr lang="en-US" sz="1600" dirty="0"/>
          </a:p>
        </p:txBody>
      </p:sp>
      <p:sp>
        <p:nvSpPr>
          <p:cNvPr id="26" name="Text 24"/>
          <p:cNvSpPr txBox="1"/>
          <p:nvPr/>
        </p:nvSpPr>
        <p:spPr>
          <a:xfrm>
            <a:off x="9024899" y="3602736"/>
            <a:ext cx="2599868" cy="914400"/>
          </a:xfrm>
          <a:prstGeom prst="rect">
            <a:avLst/>
          </a:prstGeom>
          <a:noFill/>
          <a:ln/>
        </p:spPr>
        <p:txBody>
          <a:bodyPr wrap="square" lIns="0" tIns="0" rIns="0" bIns="0" rtlCol="0" anchor="ctr"/>
          <a:lstStyle/>
          <a:p>
            <a:pPr indent="0" marL="0">
              <a:lnSpc>
                <a:spcPct val="110000"/>
              </a:lnSpc>
              <a:buNone/>
            </a:pPr>
            <a:r>
              <a:rPr lang="en-US" sz="1100" dirty="0">
                <a:solidFill>
                  <a:srgbClr val="9AA7B4"/>
                </a:solidFill>
                <a:latin typeface="Calibri" pitchFamily="34" charset="0"/>
                <a:ea typeface="Calibri" pitchFamily="34" charset="-122"/>
                <a:cs typeface="Calibri" pitchFamily="34" charset="-120"/>
              </a:rPr>
              <a:t>Optuna TPE returns the fastest configuration that still meets a 2 % risk ceiling.</a:t>
            </a:r>
            <a:endParaRPr lang="en-US" sz="1100" dirty="0"/>
          </a:p>
        </p:txBody>
      </p:sp>
      <p:sp>
        <p:nvSpPr>
          <p:cNvPr id="27" name="Text 25"/>
          <p:cNvSpPr txBox="1"/>
          <p:nvPr/>
        </p:nvSpPr>
        <p:spPr>
          <a:xfrm>
            <a:off x="566928" y="5138928"/>
            <a:ext cx="68580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Thank you  ·  Questions</a:t>
            </a:r>
            <a:endParaRPr lang="en-US" sz="2400" dirty="0"/>
          </a:p>
        </p:txBody>
      </p:sp>
      <p:sp>
        <p:nvSpPr>
          <p:cNvPr id="28" name="Text 26"/>
          <p:cNvSpPr txBox="1"/>
          <p:nvPr/>
        </p:nvSpPr>
        <p:spPr>
          <a:xfrm>
            <a:off x="566928" y="5614416"/>
            <a:ext cx="6858000" cy="274320"/>
          </a:xfrm>
          <a:prstGeom prst="rect">
            <a:avLst/>
          </a:prstGeom>
          <a:noFill/>
          <a:ln/>
        </p:spPr>
        <p:txBody>
          <a:bodyPr wrap="square" lIns="0" tIns="0" rIns="0" bIns="0" rtlCol="0" anchor="ctr"/>
          <a:lstStyle/>
          <a:p>
            <a:pPr indent="0" marL="0">
              <a:buNone/>
            </a:pPr>
            <a:r>
              <a:rPr lang="en-US" sz="1150" dirty="0">
                <a:solidFill>
                  <a:srgbClr val="6E7C89"/>
                </a:solidFill>
                <a:latin typeface="Calibri" pitchFamily="34" charset="0"/>
                <a:ea typeface="Calibri" pitchFamily="34" charset="-122"/>
                <a:cs typeface="Calibri" pitchFamily="34" charset="-120"/>
              </a:rPr>
              <a:t>Team Asterix  ·  SanDisk Hackathon 2026</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SanDisk Hackathon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UVM Configuration Intelligence</dc:title>
  <dc:subject>PptxGenJS Presentation</dc:subject>
  <dc:creator>Team Asterix</dc:creator>
  <cp:lastModifiedBy>Team Asterix</cp:lastModifiedBy>
  <cp:revision>1</cp:revision>
  <dcterms:created xsi:type="dcterms:W3CDTF">2026-09-10T06:48:50Z</dcterms:created>
  <dcterms:modified xsi:type="dcterms:W3CDTF">2026-09-10T06:48:50Z</dcterms:modified>
</cp:coreProperties>
</file>